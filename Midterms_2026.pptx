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1"/>
                </a:solidFill>
                <a:latin typeface="Arial"/>
              </a:defRPr>
            </a:pPr>
            <a:r>
              <a:rPr sz="1300" b="0" i="0" u="none" strike="noStrike">
                <a:solidFill>
                  <a:srgbClr val="1B2A41"/>
                </a:solidFill>
                <a:latin typeface="Arial"/>
              </a:rPr>
              <a:t>House seats lost by the president’s party</a:t>
            </a:r>
          </a:p>
        </c:rich>
      </c:tx>
      <c:layout/>
      <c:overlay val="0"/>
    </c:title>
    <c:autoTitleDeleted val="0"/>
    <c:plotArea>
      <c:layout/>
      <c:barChart>
        <c:barDir val="col"/>
        <c:grouping val="clustered"/>
        <c:varyColors val="0"/>
        <c:ser>
          <c:idx val="0"/>
          <c:order val="0"/>
          <c:tx>
            <c:strRef>
              <c:f>Sheet1!$B$1</c:f>
              <c:strCache>
                <c:ptCount val="1"/>
                <c:pt idx="0">
                  <c:v>House seats lost</c:v>
                </c:pt>
              </c:strCache>
            </c:strRef>
          </c:tx>
          <c:spPr>
            <a:solidFill>
              <a:srgbClr val="B23A3A"/>
            </a:solidFill>
            <a:effectLst/>
          </c:spPr>
          <c:invertIfNegative val="0"/>
          <c:dLbls>
            <c:numFmt formatCode="#,##0" sourceLinked="0"/>
            <c:txPr>
              <a:bodyPr/>
              <a:lstStyle/>
              <a:p>
                <a:pPr>
                  <a:defRPr b="1" i="0" strike="noStrike" sz="1200" u="none">
                    <a:solidFill>
                      <a:srgbClr val="1B2A41"/>
                    </a:solidFill>
                    <a:latin typeface="Arial"/>
                  </a:defRPr>
                </a:pPr>
              </a:p>
            </c:txPr>
            <c:showLegendKey val="0"/>
            <c:showVal val="1"/>
            <c:showCatName val="0"/>
            <c:showSerName val="0"/>
            <c:showPercent val="0"/>
            <c:showBubbleSize val="0"/>
            <c:showLeaderLines val="0"/>
          </c:dLbls>
          <c:cat>
            <c:multiLvlStrRef>
              <c:f>Sheet1!$A$2:$A$6</c:f>
              <c:multiLvlStrCache>
                <c:ptCount val="5"/>
                <c:lvl>
                  <c:pt idx="0">
                    <c:v>1994
Clinton</c:v>
                  </c:pt>
                  <c:pt idx="1">
                    <c:v>2006
Bush</c:v>
                  </c:pt>
                  <c:pt idx="2">
                    <c:v>2010
Obama</c:v>
                  </c:pt>
                  <c:pt idx="3">
                    <c:v>2018
Trump</c:v>
                  </c:pt>
                  <c:pt idx="4">
                    <c:v>2022
Biden</c:v>
                  </c:pt>
                </c:lvl>
              </c:multiLvlStrCache>
            </c:multiLvlStrRef>
          </c:cat>
          <c:val>
            <c:numRef>
              <c:f>Sheet1!$B$2:$B$6</c:f>
              <c:numCache>
                <c:formatCode>General</c:formatCode>
                <c:ptCount val="5"/>
                <c:pt idx="0">
                  <c:v>54</c:v>
                </c:pt>
                <c:pt idx="1">
                  <c:v>30</c:v>
                </c:pt>
                <c:pt idx="2">
                  <c:v>63</c:v>
                </c:pt>
                <c:pt idx="3">
                  <c:v>41</c:v>
                </c:pt>
                <c:pt idx="4">
                  <c:v>9</c:v>
                </c:pt>
              </c:numCache>
            </c:numRef>
          </c:val>
        </c:ser>
        <c:dLbls>
          <c:numFmt formatCode="#,##0" sourceLinked="0"/>
          <c:txPr>
            <a:bodyPr/>
            <a:lstStyle/>
            <a:p>
              <a:pPr>
                <a:defRPr b="1" i="0" strike="noStrike" sz="1200" u="none">
                  <a:solidFill>
                    <a:srgbClr val="1B2A41"/>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41"/>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A94A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A41"/>
                </a:solidFill>
                <a:latin typeface="Arial"/>
              </a:defRPr>
            </a:pPr>
            <a:r>
              <a:rPr sz="1100" b="0" i="0" u="none" strike="noStrike">
                <a:solidFill>
                  <a:srgbClr val="1B2A41"/>
                </a:solidFill>
                <a:latin typeface="Arial"/>
              </a:rPr>
              <a:t>Presidential approval before the midterms (%)</a:t>
            </a:r>
          </a:p>
        </c:rich>
      </c:tx>
      <c:layout/>
      <c:overlay val="0"/>
    </c:title>
    <c:autoTitleDeleted val="0"/>
    <c:plotArea>
      <c:layout/>
      <c:barChart>
        <c:barDir val="bar"/>
        <c:grouping val="clustered"/>
        <c:varyColors val="0"/>
        <c:ser>
          <c:idx val="0"/>
          <c:order val="0"/>
          <c:tx>
            <c:strRef>
              <c:f>Sheet1!$B$1</c:f>
              <c:strCache>
                <c:ptCount val="1"/>
                <c:pt idx="0">
                  <c:v>Approval</c:v>
                </c:pt>
              </c:strCache>
            </c:strRef>
          </c:tx>
          <c:spPr>
            <a:solidFill>
              <a:srgbClr val="8A94A6"/>
            </a:solidFill>
            <a:effectLst/>
          </c:spPr>
          <c:invertIfNegative val="0"/>
          <c:dLbls>
            <c:numFmt formatCode="#,##0" sourceLinked="0"/>
            <c:txPr>
              <a:bodyPr/>
              <a:lstStyle/>
              <a:p>
                <a:pPr>
                  <a:defRPr b="0" i="0" strike="noStrike" sz="1000" u="none">
                    <a:solidFill>
                      <a:srgbClr val="1B2A41"/>
                    </a:solidFill>
                    <a:latin typeface="Arial"/>
                  </a:defRPr>
                </a:pPr>
              </a:p>
            </c:txPr>
            <c:showLegendKey val="0"/>
            <c:showVal val="1"/>
            <c:showCatName val="0"/>
            <c:showSerName val="0"/>
            <c:showPercent val="0"/>
            <c:showBubbleSize val="0"/>
            <c:showLeaderLines val="0"/>
          </c:dLbls>
          <c:dPt>
            <c:idx val="0"/>
            <c:invertIfNegative val="0"/>
            <c:bubble3D val="0"/>
            <c:spPr>
              <a:solidFill>
                <a:srgbClr val="8A94A6"/>
              </a:solidFill>
              <a:effectLst/>
            </c:spPr>
          </c:dPt>
          <c:dPt>
            <c:idx val="1"/>
            <c:invertIfNegative val="0"/>
            <c:bubble3D val="0"/>
            <c:spPr>
              <a:solidFill>
                <a:srgbClr val="8A94A6"/>
              </a:solidFill>
              <a:effectLst/>
            </c:spPr>
          </c:dPt>
          <c:dPt>
            <c:idx val="2"/>
            <c:invertIfNegative val="0"/>
            <c:bubble3D val="0"/>
            <c:spPr>
              <a:solidFill>
                <a:srgbClr val="8A94A6"/>
              </a:solidFill>
              <a:effectLst/>
            </c:spPr>
          </c:dPt>
          <c:dPt>
            <c:idx val="3"/>
            <c:invertIfNegative val="0"/>
            <c:bubble3D val="0"/>
            <c:spPr>
              <a:solidFill>
                <a:srgbClr val="8A94A6"/>
              </a:solidFill>
              <a:effectLst/>
            </c:spPr>
          </c:dPt>
          <c:dPt>
            <c:idx val="4"/>
            <c:invertIfNegative val="0"/>
            <c:bubble3D val="0"/>
            <c:spPr>
              <a:solidFill>
                <a:srgbClr val="8A94A6"/>
              </a:solidFill>
              <a:effectLst/>
            </c:spPr>
          </c:dPt>
          <c:dPt>
            <c:idx val="5"/>
            <c:invertIfNegative val="0"/>
            <c:bubble3D val="0"/>
            <c:spPr>
              <a:solidFill>
                <a:srgbClr val="B23A3A"/>
              </a:solidFill>
              <a:effectLst/>
            </c:spPr>
          </c:dPt>
          <c:cat>
            <c:multiLvlStrRef>
              <c:f>Sheet1!$A$2:$A$7</c:f>
              <c:multiLvlStrCache>
                <c:ptCount val="6"/>
                <c:lvl>
                  <c:pt idx="0">
                    <c:v>Clinton 1994</c:v>
                  </c:pt>
                  <c:pt idx="1">
                    <c:v>Bush 2006</c:v>
                  </c:pt>
                  <c:pt idx="2">
                    <c:v>Obama 2010</c:v>
                  </c:pt>
                  <c:pt idx="3">
                    <c:v>Trump 2018</c:v>
                  </c:pt>
                  <c:pt idx="4">
                    <c:v>Biden 2022</c:v>
                  </c:pt>
                  <c:pt idx="5">
                    <c:v>Trump 2026</c:v>
                  </c:pt>
                </c:lvl>
              </c:multiLvlStrCache>
            </c:multiLvlStrRef>
          </c:cat>
          <c:val>
            <c:numRef>
              <c:f>Sheet1!$B$2:$B$7</c:f>
              <c:numCache>
                <c:formatCode>General</c:formatCode>
                <c:ptCount val="6"/>
                <c:pt idx="0">
                  <c:v>46</c:v>
                </c:pt>
                <c:pt idx="1">
                  <c:v>38</c:v>
                </c:pt>
                <c:pt idx="2">
                  <c:v>45</c:v>
                </c:pt>
                <c:pt idx="3">
                  <c:v>40</c:v>
                </c:pt>
                <c:pt idx="4">
                  <c:v>40</c:v>
                </c:pt>
                <c:pt idx="5">
                  <c:v>37</c:v>
                </c:pt>
              </c:numCache>
            </c:numRef>
          </c:val>
        </c:ser>
        <c:dLbls>
          <c:numFmt formatCode="#,##0" sourceLinked="0"/>
          <c:txPr>
            <a:bodyPr/>
            <a:lstStyle/>
            <a:p>
              <a:pPr>
                <a:defRPr b="0" i="0" strike="noStrike" sz="1000" u="none">
                  <a:solidFill>
                    <a:srgbClr val="1B2A41"/>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A41"/>
                </a:solidFill>
                <a:latin typeface="Arial"/>
              </a:defRPr>
            </a:pPr>
            <a:endParaRPr lang="en-US"/>
          </a:p>
        </c:txPr>
        <c:crossAx val="2094734552"/>
        <c:crosses val="autoZero"/>
        <c:auto val="1"/>
        <c:lblAlgn val="ctr"/>
        <c:noMultiLvlLbl val="1"/>
      </c:catAx>
      <c:valAx>
        <c:axId val="2094734552"/>
        <c:scaling>
          <c:orientation val="minMax"/>
          <c:max val="5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A94A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1"/>
                </a:solidFill>
                <a:latin typeface="Arial"/>
              </a:defRPr>
            </a:pPr>
            <a:r>
              <a:rPr sz="1300" b="0" i="0" u="none" strike="noStrike">
                <a:solidFill>
                  <a:srgbClr val="1B2A41"/>
                </a:solidFill>
                <a:latin typeface="Arial"/>
              </a:rPr>
              <a:t>Which party do you trust more on…? (%)</a:t>
            </a:r>
          </a:p>
        </c:rich>
      </c:tx>
      <c:layout/>
      <c:overlay val="0"/>
    </c:title>
    <c:autoTitleDeleted val="0"/>
    <c:plotArea>
      <c:layout/>
      <c:barChart>
        <c:barDir val="bar"/>
        <c:grouping val="clustered"/>
        <c:varyColors val="0"/>
        <c:ser>
          <c:idx val="0"/>
          <c:order val="0"/>
          <c:tx>
            <c:strRef>
              <c:f>Sheet1!$B$1</c:f>
              <c:strCache>
                <c:ptCount val="1"/>
                <c:pt idx="0">
                  <c:v>Democrats</c:v>
                </c:pt>
              </c:strCache>
            </c:strRef>
          </c:tx>
          <c:spPr>
            <a:solidFill>
              <a:srgbClr val="3C6EA8"/>
            </a:solidFill>
            <a:effectLst/>
          </c:spPr>
          <c:invertIfNegative val="0"/>
          <c:dLbls>
            <c:numFmt formatCode="#,##0" sourceLinked="0"/>
            <c:txPr>
              <a:bodyPr/>
              <a:lstStyle/>
              <a:p>
                <a:pPr>
                  <a:defRPr b="0" i="0" strike="noStrike" sz="1000" u="none">
                    <a:solidFill>
                      <a:srgbClr val="1B2A41"/>
                    </a:solidFill>
                    <a:latin typeface="Arial"/>
                  </a:defRPr>
                </a:pPr>
              </a:p>
            </c:txPr>
            <c:showLegendKey val="0"/>
            <c:showVal val="1"/>
            <c:showCatName val="0"/>
            <c:showSerName val="0"/>
            <c:showPercent val="0"/>
            <c:showBubbleSize val="0"/>
            <c:showLeaderLines val="0"/>
          </c:dLbls>
          <c:cat>
            <c:multiLvlStrRef>
              <c:f>Sheet1!$A$2:$A$6</c:f>
              <c:multiLvlStrCache>
                <c:ptCount val="5"/>
                <c:lvl>
                  <c:pt idx="0">
                    <c:v>Health care</c:v>
                  </c:pt>
                  <c:pt idx="1">
                    <c:v>Immigration</c:v>
                  </c:pt>
                  <c:pt idx="2">
                    <c:v>Economy</c:v>
                  </c:pt>
                  <c:pt idx="3">
                    <c:v>Cost of living</c:v>
                  </c:pt>
                  <c:pt idx="4">
                    <c:v>Foreign wars</c:v>
                  </c:pt>
                </c:lvl>
              </c:multiLvlStrCache>
            </c:multiLvlStrRef>
          </c:cat>
          <c:val>
            <c:numRef>
              <c:f>Sheet1!$B$2:$B$6</c:f>
              <c:numCache>
                <c:formatCode>General</c:formatCode>
                <c:ptCount val="5"/>
                <c:pt idx="0">
                  <c:v>60</c:v>
                </c:pt>
                <c:pt idx="1">
                  <c:v>52</c:v>
                </c:pt>
                <c:pt idx="2">
                  <c:v>51</c:v>
                </c:pt>
                <c:pt idx="3">
                  <c:v>51</c:v>
                </c:pt>
                <c:pt idx="4">
                  <c:v>50</c:v>
                </c:pt>
              </c:numCache>
            </c:numRef>
          </c:val>
        </c:ser>
        <c:ser>
          <c:idx val="1"/>
          <c:order val="1"/>
          <c:tx>
            <c:strRef>
              <c:f>Sheet1!$C$1</c:f>
              <c:strCache>
                <c:ptCount val="1"/>
                <c:pt idx="0">
                  <c:v>Republicans</c:v>
                </c:pt>
              </c:strCache>
            </c:strRef>
          </c:tx>
          <c:spPr>
            <a:solidFill>
              <a:srgbClr val="B23A3A"/>
            </a:solidFill>
            <a:effectLst/>
          </c:spPr>
          <c:invertIfNegative val="0"/>
          <c:dLbls>
            <c:numFmt formatCode="#,##0" sourceLinked="0"/>
            <c:txPr>
              <a:bodyPr/>
              <a:lstStyle/>
              <a:p>
                <a:pPr>
                  <a:defRPr b="0" i="0" strike="noStrike" sz="1000" u="none">
                    <a:solidFill>
                      <a:srgbClr val="1B2A41"/>
                    </a:solidFill>
                    <a:latin typeface="Arial"/>
                  </a:defRPr>
                </a:pPr>
              </a:p>
            </c:txPr>
            <c:showLegendKey val="0"/>
            <c:showVal val="1"/>
            <c:showCatName val="0"/>
            <c:showSerName val="0"/>
            <c:showPercent val="0"/>
            <c:showBubbleSize val="0"/>
            <c:showLeaderLines val="0"/>
          </c:dLbls>
          <c:cat>
            <c:multiLvlStrRef>
              <c:f>Sheet1!$A$2:$A$6</c:f>
              <c:multiLvlStrCache>
                <c:ptCount val="5"/>
                <c:lvl>
                  <c:pt idx="0">
                    <c:v>Health care</c:v>
                  </c:pt>
                  <c:pt idx="1">
                    <c:v>Immigration</c:v>
                  </c:pt>
                  <c:pt idx="2">
                    <c:v>Economy</c:v>
                  </c:pt>
                  <c:pt idx="3">
                    <c:v>Cost of living</c:v>
                  </c:pt>
                  <c:pt idx="4">
                    <c:v>Foreign wars</c:v>
                  </c:pt>
                </c:lvl>
              </c:multiLvlStrCache>
            </c:multiLvlStrRef>
          </c:cat>
          <c:val>
            <c:numRef>
              <c:f>Sheet1!$C$2:$C$6</c:f>
              <c:numCache>
                <c:formatCode>General</c:formatCode>
                <c:ptCount val="5"/>
                <c:pt idx="0">
                  <c:v>36</c:v>
                </c:pt>
                <c:pt idx="1">
                  <c:v>45</c:v>
                </c:pt>
                <c:pt idx="2">
                  <c:v>45</c:v>
                </c:pt>
                <c:pt idx="3">
                  <c:v>43</c:v>
                </c:pt>
                <c:pt idx="4">
                  <c:v>43</c:v>
                </c:pt>
              </c:numCache>
            </c:numRef>
          </c:val>
        </c:ser>
        <c:dLbls>
          <c:numFmt formatCode="#,##0" sourceLinked="0"/>
          <c:txPr>
            <a:bodyPr/>
            <a:lstStyle/>
            <a:p>
              <a:pPr>
                <a:defRPr b="0" i="0" strike="noStrike" sz="1000" u="none">
                  <a:solidFill>
                    <a:srgbClr val="1B2A41"/>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41"/>
                </a:solidFill>
                <a:latin typeface="Arial"/>
              </a:defRPr>
            </a:pPr>
            <a:endParaRPr lang="en-US"/>
          </a:p>
        </c:txPr>
        <c:crossAx val="2094734552"/>
        <c:crosses val="autoZero"/>
        <c:auto val="1"/>
        <c:lblAlgn val="ctr"/>
        <c:noMultiLvlLbl val="1"/>
      </c:catAx>
      <c:valAx>
        <c:axId val="2094734552"/>
        <c:scaling>
          <c:orientation val="minMax"/>
          <c:max val="7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A94A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2A41"/>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Prices: US Energy Information Administration weekly national averages. Conversion: $/gal ÷ 3.785 ÷ EUR/USD rate (ECB reference rates, 14 Oct 2024 and 14 Oct 2026). Diesel hit a record $6.53 on Sept 22, 2026 (AAA). Driver: the war with Iran and the closure of the Strait of Hormuz.
Why are European prices still higher? Mostly taxes: Austria adds mineral oil tax (MÖSt), CO2 pricing and 20% VAT; US federal + state fuel taxes are far lower. Austrian prices topped €2/L this summer (ÖAMTC). Americans also drive much more and have fewer public transport options, so price rises hit harder.
Follow-up: Who do you think voters blame when gas prices go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Election Day: Tuesday, November 3, 2026. All 435 House seats and about a third of the Senate are on the ballot.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Mike Johnson (Republican, Louisiana) has been Speaker since October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 Thune (Republican, South Dakota) became Majority Leader in January 2025. Republicans hold 53 of 100 seats. The filibuster: 60 votes are needed to end debate (cloture) on most bills.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Thermostatic: like a thermostat, voters push back against whatever direction the government is moving. The president’s party has lost House seats in almost every midterm since the Civil War.
1994: Republicans won the House for the first time in 40 years (Newt Gingrich). 2010: backlash against Obama and the Affordable Care Act. 2018: Democrats won the House back in Trump’s first term.
Exceptions: 1998 (backlash against Clinton’s impeachment) and 2002 (rally-around-the-flag after 9/11).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Approval: Gallup’s last readings before each midterm (Clinton 46, Bush 38, Obama 45, Trump 40, Biden 40). Trump 2026 ≈ 37% in polling averages (Silver Bulletin net approval −22.4 on Oct 14); Pew has him at just 30%, his second-term low.
Odds (Kalshi prediction market, Oct 1): about 91% Democrats win the House; about 63% Democrats win the Senate. Republicans hold the Senate 53–47, so Democrats need a net gain of 4 seats — key races: Maine, North Carolina, Michigan, Alaska, Ohio, Texas.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the US and Israel began strikes on Iran in February 2026; Iran closed the Strait of Hormuz, a key oil route, which drove up gas prices. Pew (early Oct): only about a third of Americans approve of Trump’s handling of the conflict.
NYT/Siena (Sept 2026): Democrats lead on every issue polled except AI (Republicans 42, Democrats 40). Immigration used to be one of the Republicans’ strongest issues.
Discussion: Which issue would matter most to you as a voter?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 comes from Governor Elbridge Gerry (1812), whose district looked like a salamander.
Texas redrew its map in August 2025 at Trump’s urging to gain about five seats. California voters answered with Proposition 50 (Nov 2025), targeting five Republican seats. Others followed: Missouri, North Carolina, Ohio, Florida (+R); Utah (court-ordered, +D). After the Supreme Court’s Louisiana v. Callais ruling (April 2026) weakened the Voting Rights Act, Southern states such as Tennessee, Alabama and Louisiana redrew too. Virginia’s Democratic redraw was struck down by its Supreme Court; Indiana’s Republicans refused to redraw.
Estimated net effect: roughly +10 seats for Republicans on paper — but in a strong Democratic year, gerrymanders can backfire ("dummymander").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Maine is one of the most expensive Senate races ever: more than $137 million in TV ads since late July (AdImpact, via Bangor Daily News). Collins is the last Republican senator from New England; Democrats need this seat to win the Senate.
Fun fact: a pro-Collins super PAC accidentally bought attack ads in Portland, Oregon instead of Portland, Maine (Oct 2026).
Activity questions: Who is the ad for? Is it positive or negative? What emotions does it use? What image of the candidate does it create?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Paxton beat incumbent Senator John Cornyn in the Republican primary runoff in May 2026. Talarico is a former teacher and seminary student who became famous through viral videos about faith and politics.
“Waking Up” went viral partly because critics noticed Talarico was driving a rented Dodge Ram, not his own truck. “King James” shows an AI-generated Talarico; the disclaimer appears in small print about 20 seconds in (FactCheck.org) — a good discussion point about AI in political ads.
Activity questions: Who is the ad for? Is it positive or negative? What emotions does it use? What image of the candidate does it create?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6-1.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www.youtube.com/watch?v=MREc651JMj4" TargetMode="External"/><Relationship Id="rId2" Type="http://schemas.openxmlformats.org/officeDocument/2006/relationships/hyperlink" Target="https://www.youtube.com/watch?v=HAGIqQX30Oo" TargetMode="External"/><Relationship Id="rId3" Type="http://schemas.openxmlformats.org/officeDocument/2006/relationships/hyperlink" Target="https://www.youtube.com/watch?v=14qZH1J1SKU" TargetMode="External"/><Relationship Id="rId4" Type="http://schemas.openxmlformats.org/officeDocument/2006/relationships/hyperlink" Target="https://youtu.be/AHtGUmHP51g" TargetMode="External"/><Relationship Id="rId5" Type="http://schemas.openxmlformats.org/officeDocument/2006/relationships/hyperlink" Target="https://twitter.com/i/web/status/2021214862152499378" TargetMode="External"/><Relationship Id="rId6" Type="http://schemas.openxmlformats.org/officeDocument/2006/relationships/hyperlink" Target="https://www.foxnews.com/video/6405921399112" TargetMode="External"/><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www.youtube.com/watch?v=rgPbUgv-Iqg" TargetMode="External"/><Relationship Id="rId2" Type="http://schemas.openxmlformats.org/officeDocument/2006/relationships/hyperlink" Target="https://www.youtube.com/watch?v=Xvl584-Uj_Q" TargetMode="External"/><Relationship Id="rId3" Type="http://schemas.openxmlformats.org/officeDocument/2006/relationships/hyperlink" Target="https://www.youtube.com/watch?v=p3xRLG-_MOc" TargetMode="External"/><Relationship Id="rId4" Type="http://schemas.openxmlformats.org/officeDocument/2006/relationships/hyperlink" Target="https://www.youtube.com/watch?v=SpGBdkDKi-Q" TargetMode="External"/><Relationship Id="rId5" Type="http://schemas.openxmlformats.org/officeDocument/2006/relationships/hyperlink" Target="https://x.com/jamestalarico/status/2059442627393597577" TargetMode="External"/><Relationship Id="rId6" Type="http://schemas.openxmlformats.org/officeDocument/2006/relationships/hyperlink" Target="https://x.com/KenPaxtonTX/status/2059660775552061754" TargetMode="External"/><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502920" y="365760"/>
            <a:ext cx="4389120" cy="731520"/>
          </a:xfrm>
          <a:prstGeom prst="rect">
            <a:avLst/>
          </a:prstGeom>
          <a:noFill/>
          <a:ln/>
        </p:spPr>
        <p:txBody>
          <a:bodyPr wrap="square" lIns="0" tIns="0" rIns="0" bIns="0" rtlCol="0" anchor="t"/>
          <a:lstStyle/>
          <a:p>
            <a:pPr indent="0" marL="0">
              <a:buNone/>
            </a:pPr>
            <a:r>
              <a:rPr lang="en-US" sz="2800" b="1" dirty="0">
                <a:solidFill>
                  <a:schemeClr val="tx1"/>
                </a:solidFill>
                <a:latin typeface="Georgia" pitchFamily="34" charset="0"/>
                <a:ea typeface="Georgia" pitchFamily="34" charset="-122"/>
                <a:cs typeface="Georgia" pitchFamily="34" charset="-120"/>
              </a:rPr>
              <a:t>Pain at the Pump</a:t>
            </a:r>
            <a:endParaRPr lang="en-US" sz="2800" dirty="0"/>
          </a:p>
        </p:txBody>
      </p:sp>
      <p:graphicFrame>
        <p:nvGraphicFramePr>
          <p:cNvPr id="2" name="Price table"/>
          <p:cNvGraphicFramePr>
            <a:graphicFrameLocks noGrp="1"/>
          </p:cNvGraphicFramePr>
          <p:nvPr>
            <p:extLst>
              <p:ext uri="{D42A27DB-BD31-4B8C-83A1-F6EECF244321}">
                <p14:modId xmlns:p14="http://schemas.microsoft.com/office/powerpoint/2010/main" val="1579011935"/>
              </p:ext>
            </p:extLst>
          </p:nvPr>
        </p:nvGraphicFramePr>
        <p:xfrm>
          <a:off x="502920" y="1234440"/>
          <a:ext cx="4297680" cy="914400"/>
        </p:xfrm>
        <a:graphic>
          <a:graphicData uri="http://schemas.openxmlformats.org/drawingml/2006/table">
            <a:tbl>
              <a:tblPr/>
              <a:tblGrid>
                <a:gridCol w="1005840"/>
                <a:gridCol w="1645920"/>
                <a:gridCol w="1645920"/>
              </a:tblGrid>
              <a:tr h="365760">
                <a:tc>
                  <a:txBody>
                    <a:bodyPr/>
                    <a:lstStyle/>
                    <a:p>
                      <a:pPr indent="0" marL="0">
                        <a:buNone/>
                      </a:pPr>
                      <a:endParaRPr lang="en-US" sz="1200" dirty="0">
                        <a:latin typeface="Arial" charset="0"/>
                        <a:ea typeface="Arial" charset="0"/>
                        <a:cs typeface="Arial" charset="0"/>
                      </a:endParaRPr>
                    </a:p>
                  </a:txBody>
                  <a:tcPr marL="54864" marR="54864" marT="54864" marB="54864">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F1F6"/>
                    </a:solidFill>
                  </a:tcPr>
                </a:tc>
                <a:tc>
                  <a:txBody>
                    <a:bodyPr/>
                    <a:lstStyle/>
                    <a:p>
                      <a:pPr algn="ctr" indent="0" marL="0">
                        <a:buNone/>
                      </a:pPr>
                      <a:r>
                        <a:rPr lang="en-US" sz="1200" b="1" dirty="0">
                          <a:solidFill>
                            <a:srgbClr val="1B2A41"/>
                          </a:solidFill>
                          <a:latin typeface="Arial" pitchFamily="34" charset="0"/>
                          <a:ea typeface="Arial" pitchFamily="34" charset="-122"/>
                          <a:cs typeface="Arial" pitchFamily="34" charset="-120"/>
                        </a:rPr>
                        <a:t>Oct 2024</a:t>
                      </a:r>
                      <a:endParaRPr lang="en-US" sz="1200" dirty="0">
                        <a:latin typeface="Arial" charset="0"/>
                        <a:ea typeface="Arial" charset="0"/>
                        <a:cs typeface="Arial" charset="0"/>
                      </a:endParaRPr>
                    </a:p>
                  </a:txBody>
                  <a:tcPr marL="54864" marR="54864" marT="54864" marB="54864"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F1F6"/>
                    </a:solidFill>
                  </a:tcPr>
                </a:tc>
                <a:tc>
                  <a:txBody>
                    <a:bodyPr/>
                    <a:lstStyle/>
                    <a:p>
                      <a:pPr algn="ctr" indent="0" marL="0">
                        <a:buNone/>
                      </a:pPr>
                      <a:r>
                        <a:rPr lang="en-US" sz="1200" b="1" dirty="0">
                          <a:solidFill>
                            <a:srgbClr val="1B2A41"/>
                          </a:solidFill>
                          <a:latin typeface="Arial" pitchFamily="34" charset="0"/>
                          <a:ea typeface="Arial" pitchFamily="34" charset="-122"/>
                          <a:cs typeface="Arial" pitchFamily="34" charset="-120"/>
                        </a:rPr>
                        <a:t>Oct 2026</a:t>
                      </a:r>
                      <a:endParaRPr lang="en-US" sz="1200" dirty="0">
                        <a:latin typeface="Arial" charset="0"/>
                        <a:ea typeface="Arial" charset="0"/>
                        <a:cs typeface="Arial" charset="0"/>
                      </a:endParaRPr>
                    </a:p>
                  </a:txBody>
                  <a:tcPr marL="54864" marR="54864" marT="54864" marB="54864"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EEF1F6"/>
                    </a:solidFill>
                  </a:tcPr>
                </a:tc>
              </a:tr>
              <a:tr h="685800">
                <a:tc>
                  <a:txBody>
                    <a:bodyPr/>
                    <a:lstStyle/>
                    <a:p>
                      <a:pPr indent="0" marL="0">
                        <a:buNone/>
                      </a:pPr>
                      <a:r>
                        <a:rPr lang="en-US" sz="1300" b="1" dirty="0">
                          <a:solidFill>
                            <a:srgbClr val="1B2A41"/>
                          </a:solidFill>
                          <a:latin typeface="Arial" pitchFamily="34" charset="0"/>
                          <a:ea typeface="Arial" pitchFamily="34" charset="-122"/>
                          <a:cs typeface="Arial" pitchFamily="34" charset="-120"/>
                        </a:rPr>
                        <a:t>Regular</a:t>
                      </a:r>
                      <a:endParaRPr lang="en-US" sz="1300" dirty="0">
                        <a:latin typeface="Arial" charset="0"/>
                        <a:ea typeface="Arial" charset="0"/>
                        <a:cs typeface="Arial" charset="0"/>
                      </a:endParaRPr>
                    </a:p>
                  </a:txBody>
                  <a:tcPr marL="54864" marR="54864" marT="54864" marB="54864"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300" b="1" dirty="0">
                          <a:solidFill>
                            <a:srgbClr val="1B2A41"/>
                          </a:solidFill>
                          <a:latin typeface="Arial" pitchFamily="34" charset="0"/>
                          <a:ea typeface="Arial" pitchFamily="34" charset="-122"/>
                          <a:cs typeface="Arial" pitchFamily="34" charset="-120"/>
                        </a:rPr>
                        <a:t>$3.17 / gal</a:t>
                      </a:r>
                      <a:endParaRPr lang="en-US" sz="1200" dirty="0">
                        <a:latin typeface="Arial" charset="0"/>
                        <a:ea typeface="Arial" charset="0"/>
                        <a:cs typeface="Arial" charset="0"/>
                      </a:endParaRPr>
                    </a:p>
                    <a:p>
                      <a:pPr algn="ctr" indent="0" marL="0">
                        <a:buNone/>
                      </a:pPr>
                      <a:r>
                        <a:rPr lang="en-US" sz="1300" dirty="0">
                          <a:solidFill>
                            <a:srgbClr val="1B2A41"/>
                          </a:solidFill>
                          <a:latin typeface="Arial" pitchFamily="34" charset="0"/>
                          <a:ea typeface="Arial" pitchFamily="34" charset="-122"/>
                          <a:cs typeface="Arial" pitchFamily="34" charset="-120"/>
                        </a:rPr>
                        <a:t>≈ €0.77 / L</a:t>
                      </a:r>
                      <a:endParaRPr lang="en-US" sz="1200" dirty="0">
                        <a:latin typeface="Arial" charset="0"/>
                        <a:ea typeface="Arial" charset="0"/>
                        <a:cs typeface="Arial" charset="0"/>
                      </a:endParaRPr>
                    </a:p>
                  </a:txBody>
                  <a:tcPr marL="54864" marR="54864" marT="54864" marB="54864"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500" b="1" dirty="0">
                          <a:solidFill>
                            <a:srgbClr val="B23A3A"/>
                          </a:solidFill>
                          <a:latin typeface="Arial" pitchFamily="34" charset="0"/>
                          <a:ea typeface="Arial" pitchFamily="34" charset="-122"/>
                          <a:cs typeface="Arial" pitchFamily="34" charset="-120"/>
                        </a:rPr>
                        <a:t>$4.33 / gal</a:t>
                      </a:r>
                      <a:endParaRPr lang="en-US" sz="1200" dirty="0">
                        <a:latin typeface="Arial" charset="0"/>
                        <a:ea typeface="Arial" charset="0"/>
                        <a:cs typeface="Arial" charset="0"/>
                      </a:endParaRPr>
                    </a:p>
                    <a:p>
                      <a:pPr algn="ctr" indent="0" marL="0">
                        <a:buNone/>
                      </a:pPr>
                      <a:r>
                        <a:rPr lang="en-US" sz="1300" dirty="0">
                          <a:solidFill>
                            <a:srgbClr val="1B2A41"/>
                          </a:solidFill>
                          <a:latin typeface="Arial" pitchFamily="34" charset="0"/>
                          <a:ea typeface="Arial" pitchFamily="34" charset="-122"/>
                          <a:cs typeface="Arial" pitchFamily="34" charset="-120"/>
                        </a:rPr>
                        <a:t>≈ €1.02 / L</a:t>
                      </a:r>
                      <a:endParaRPr lang="en-US" sz="1200" dirty="0">
                        <a:latin typeface="Arial" charset="0"/>
                        <a:ea typeface="Arial" charset="0"/>
                        <a:cs typeface="Arial" charset="0"/>
                      </a:endParaRPr>
                    </a:p>
                  </a:txBody>
                  <a:tcPr marL="54864" marR="54864" marT="54864" marB="54864"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r h="685800">
                <a:tc>
                  <a:txBody>
                    <a:bodyPr/>
                    <a:lstStyle/>
                    <a:p>
                      <a:pPr indent="0" marL="0">
                        <a:buNone/>
                      </a:pPr>
                      <a:r>
                        <a:rPr lang="en-US" sz="1300" b="1" dirty="0">
                          <a:solidFill>
                            <a:srgbClr val="1B2A41"/>
                          </a:solidFill>
                          <a:latin typeface="Arial" pitchFamily="34" charset="0"/>
                          <a:ea typeface="Arial" pitchFamily="34" charset="-122"/>
                          <a:cs typeface="Arial" pitchFamily="34" charset="-120"/>
                        </a:rPr>
                        <a:t>Diesel</a:t>
                      </a:r>
                      <a:endParaRPr lang="en-US" sz="1300" dirty="0">
                        <a:latin typeface="Arial" charset="0"/>
                        <a:ea typeface="Arial" charset="0"/>
                        <a:cs typeface="Arial" charset="0"/>
                      </a:endParaRPr>
                    </a:p>
                  </a:txBody>
                  <a:tcPr marL="54864" marR="54864" marT="54864" marB="54864"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300" b="1" dirty="0">
                          <a:solidFill>
                            <a:srgbClr val="1B2A41"/>
                          </a:solidFill>
                          <a:latin typeface="Arial" pitchFamily="34" charset="0"/>
                          <a:ea typeface="Arial" pitchFamily="34" charset="-122"/>
                          <a:cs typeface="Arial" pitchFamily="34" charset="-120"/>
                        </a:rPr>
                        <a:t>$3.63 / gal</a:t>
                      </a:r>
                      <a:endParaRPr lang="en-US" sz="1200" dirty="0">
                        <a:latin typeface="Arial" charset="0"/>
                        <a:ea typeface="Arial" charset="0"/>
                        <a:cs typeface="Arial" charset="0"/>
                      </a:endParaRPr>
                    </a:p>
                    <a:p>
                      <a:pPr algn="ctr" indent="0" marL="0">
                        <a:buNone/>
                      </a:pPr>
                      <a:r>
                        <a:rPr lang="en-US" sz="1300" dirty="0">
                          <a:solidFill>
                            <a:srgbClr val="1B2A41"/>
                          </a:solidFill>
                          <a:latin typeface="Arial" pitchFamily="34" charset="0"/>
                          <a:ea typeface="Arial" pitchFamily="34" charset="-122"/>
                          <a:cs typeface="Arial" pitchFamily="34" charset="-120"/>
                        </a:rPr>
                        <a:t>≈ €0.88 / L</a:t>
                      </a:r>
                      <a:endParaRPr lang="en-US" sz="1200" dirty="0">
                        <a:latin typeface="Arial" charset="0"/>
                        <a:ea typeface="Arial" charset="0"/>
                        <a:cs typeface="Arial" charset="0"/>
                      </a:endParaRPr>
                    </a:p>
                  </a:txBody>
                  <a:tcPr marL="54864" marR="54864" marT="54864" marB="54864"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algn="ctr" indent="0" marL="0">
                        <a:buNone/>
                      </a:pPr>
                      <a:r>
                        <a:rPr lang="en-US" sz="1500" b="1" dirty="0">
                          <a:solidFill>
                            <a:srgbClr val="B23A3A"/>
                          </a:solidFill>
                          <a:latin typeface="Arial" pitchFamily="34" charset="0"/>
                          <a:ea typeface="Arial" pitchFamily="34" charset="-122"/>
                          <a:cs typeface="Arial" pitchFamily="34" charset="-120"/>
                        </a:rPr>
                        <a:t>$6.18 / gal</a:t>
                      </a:r>
                      <a:endParaRPr lang="en-US" sz="1200" dirty="0">
                        <a:latin typeface="Arial" charset="0"/>
                        <a:ea typeface="Arial" charset="0"/>
                        <a:cs typeface="Arial" charset="0"/>
                      </a:endParaRPr>
                    </a:p>
                    <a:p>
                      <a:pPr algn="ctr" indent="0" marL="0">
                        <a:buNone/>
                      </a:pPr>
                      <a:r>
                        <a:rPr lang="en-US" sz="1300" dirty="0">
                          <a:solidFill>
                            <a:srgbClr val="1B2A41"/>
                          </a:solidFill>
                          <a:latin typeface="Arial" pitchFamily="34" charset="0"/>
                          <a:ea typeface="Arial" pitchFamily="34" charset="-122"/>
                          <a:cs typeface="Arial" pitchFamily="34" charset="-120"/>
                        </a:rPr>
                        <a:t>≈ €1.46 / L</a:t>
                      </a:r>
                      <a:endParaRPr lang="en-US" sz="1200" dirty="0">
                        <a:latin typeface="Arial" charset="0"/>
                        <a:ea typeface="Arial" charset="0"/>
                        <a:cs typeface="Arial" charset="0"/>
                      </a:endParaRPr>
                    </a:p>
                  </a:txBody>
                  <a:tcPr marL="54864" marR="54864" marT="54864" marB="54864"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r>
            </a:tbl>
          </a:graphicData>
        </a:graphic>
      </p:graphicFrame>
      <p:sp>
        <p:nvSpPr>
          <p:cNvPr id="4" name="Bullets"/>
          <p:cNvSpPr txBox="1"/>
          <p:nvPr/>
        </p:nvSpPr>
        <p:spPr>
          <a:xfrm>
            <a:off x="502920" y="3291840"/>
            <a:ext cx="4297680" cy="118872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Gas +37%, diesel +70% in two years</a:t>
            </a:r>
            <a:endParaRPr lang="en-US" sz="1700" dirty="0"/>
          </a:p>
          <a:p>
            <a:pPr marL="228600" indent="-228600">
              <a:spcAft>
                <a:spcPts val="800"/>
              </a:spcAft>
              <a:buSzPct val="100000"/>
              <a:buChar char="•"/>
            </a:pPr>
            <a:r>
              <a:rPr lang="en-US" sz="1700" dirty="0">
                <a:solidFill>
                  <a:schemeClr val="tx1"/>
                </a:solidFill>
              </a:rPr>
              <a:t>Warm-up: How would you feel about this?</a:t>
            </a:r>
            <a:endParaRPr lang="en-US" sz="1700" dirty="0"/>
          </a:p>
        </p:txBody>
      </p:sp>
      <p:sp>
        <p:nvSpPr>
          <p:cNvPr id="5" name="Source"/>
          <p:cNvSpPr txBox="1"/>
          <p:nvPr/>
        </p:nvSpPr>
        <p:spPr>
          <a:xfrm>
            <a:off x="502920" y="4572000"/>
            <a:ext cx="4389120" cy="365760"/>
          </a:xfrm>
          <a:prstGeom prst="rect">
            <a:avLst/>
          </a:prstGeom>
          <a:noFill/>
          <a:ln/>
        </p:spPr>
        <p:txBody>
          <a:bodyPr wrap="square" lIns="0" tIns="0" rIns="0" bIns="0" rtlCol="0" anchor="b"/>
          <a:lstStyle/>
          <a:p>
            <a:pPr indent="0" marL="0">
              <a:buNone/>
            </a:pPr>
            <a:r>
              <a:rPr lang="en-US" sz="900" dirty="0">
                <a:solidFill>
                  <a:schemeClr val="accent5"/>
                </a:solidFill>
              </a:rPr>
              <a:t>EIA weekly US averages (14 Oct 2024; 12 Oct 2026) · 1 gallon = 3.785 L · €1 = $1.0915 (Oct 2024), $1.1195 (Oct 2026)</a:t>
            </a:r>
            <a:endParaRPr lang="en-US" sz="900" dirty="0"/>
          </a:p>
        </p:txBody>
      </p:sp>
      <p:pic>
        <p:nvPicPr>
          <p:cNvPr id="6" name="Photo" descr="US gas station price sign">    </p:cNvPr>
          <p:cNvPicPr>
            <a:picLocks noChangeAspect="1"/>
          </p:cNvPicPr>
          <p:nvPr/>
        </p:nvPicPr>
        <p:blipFill>
          <a:blip r:embed="rId1"/>
          <a:srcRect l="0" r="0" t="0" b="0"/>
          <a:stretch/>
        </p:blipFill>
        <p:spPr>
          <a:xfrm>
            <a:off x="5074920" y="0"/>
            <a:ext cx="406908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502920" y="365760"/>
            <a:ext cx="4389120" cy="731520"/>
          </a:xfrm>
          <a:prstGeom prst="rect">
            <a:avLst/>
          </a:prstGeom>
          <a:noFill/>
          <a:ln/>
        </p:spPr>
        <p:txBody>
          <a:bodyPr wrap="square" lIns="0" tIns="0" rIns="0" bIns="0" rtlCol="0" anchor="t"/>
          <a:lstStyle/>
          <a:p>
            <a:pPr indent="0" marL="0">
              <a:buNone/>
            </a:pPr>
            <a:r>
              <a:rPr lang="en-US" sz="2800" b="1" dirty="0">
                <a:solidFill>
                  <a:schemeClr val="tx1"/>
                </a:solidFill>
                <a:latin typeface="Georgia" pitchFamily="34" charset="0"/>
                <a:ea typeface="Georgia" pitchFamily="34" charset="-122"/>
                <a:cs typeface="Georgia" pitchFamily="34" charset="-120"/>
              </a:rPr>
              <a:t>What Is a Midterm?</a:t>
            </a:r>
            <a:endParaRPr lang="en-US" sz="2800" dirty="0"/>
          </a:p>
        </p:txBody>
      </p:sp>
      <p:sp>
        <p:nvSpPr>
          <p:cNvPr id="3" name="Bullets"/>
          <p:cNvSpPr txBox="1"/>
          <p:nvPr/>
        </p:nvSpPr>
        <p:spPr>
          <a:xfrm>
            <a:off x="502920" y="1325880"/>
            <a:ext cx="4297680" cy="320040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The President serves four-year terms</a:t>
            </a:r>
            <a:endParaRPr lang="en-US" sz="1700" dirty="0"/>
          </a:p>
          <a:p>
            <a:pPr marL="228600" indent="-228600">
              <a:spcAft>
                <a:spcPts val="800"/>
              </a:spcAft>
              <a:buSzPct val="100000"/>
              <a:buChar char="•"/>
            </a:pPr>
            <a:r>
              <a:rPr lang="en-US" sz="1700" dirty="0">
                <a:solidFill>
                  <a:schemeClr val="tx1"/>
                </a:solidFill>
              </a:rPr>
              <a:t>Members of Congress serve either two- or six-year terms</a:t>
            </a:r>
            <a:endParaRPr lang="en-US" sz="1700" dirty="0"/>
          </a:p>
          <a:p>
            <a:pPr marL="228600" indent="-228600">
              <a:spcAft>
                <a:spcPts val="800"/>
              </a:spcAft>
              <a:buSzPct val="100000"/>
              <a:buChar char="•"/>
            </a:pPr>
            <a:r>
              <a:rPr lang="en-US" sz="1700" dirty="0">
                <a:solidFill>
                  <a:schemeClr val="tx1"/>
                </a:solidFill>
              </a:rPr>
              <a:t>Midterms are the congressional elections that happen halfway through the President’s term</a:t>
            </a:r>
            <a:endParaRPr lang="en-US" sz="1700" dirty="0"/>
          </a:p>
        </p:txBody>
      </p:sp>
      <p:pic>
        <p:nvPicPr>
          <p:cNvPr id="4" name="Photo" descr="“I Voted” stickers / polling station">    </p:cNvPr>
          <p:cNvPicPr>
            <a:picLocks noChangeAspect="1"/>
          </p:cNvPicPr>
          <p:nvPr/>
        </p:nvPicPr>
        <p:blipFill>
          <a:blip r:embed="rId1"/>
          <a:srcRect l="0" r="0" t="0" b="0"/>
          <a:stretch/>
        </p:blipFill>
        <p:spPr>
          <a:xfrm>
            <a:off x="5074920" y="0"/>
            <a:ext cx="406908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502920" y="365760"/>
            <a:ext cx="4389120" cy="731520"/>
          </a:xfrm>
          <a:prstGeom prst="rect">
            <a:avLst/>
          </a:prstGeom>
          <a:noFill/>
          <a:ln/>
        </p:spPr>
        <p:txBody>
          <a:bodyPr wrap="square" lIns="0" tIns="0" rIns="0" bIns="0" rtlCol="0" anchor="t"/>
          <a:lstStyle/>
          <a:p>
            <a:pPr indent="0" marL="0">
              <a:buNone/>
            </a:pPr>
            <a:r>
              <a:rPr lang="en-US" sz="2800" b="1" dirty="0">
                <a:solidFill>
                  <a:schemeClr val="tx1"/>
                </a:solidFill>
                <a:latin typeface="Georgia" pitchFamily="34" charset="0"/>
                <a:ea typeface="Georgia" pitchFamily="34" charset="-122"/>
                <a:cs typeface="Georgia" pitchFamily="34" charset="-120"/>
              </a:rPr>
              <a:t>Representatives</a:t>
            </a:r>
            <a:endParaRPr lang="en-US" sz="2800" dirty="0"/>
          </a:p>
        </p:txBody>
      </p:sp>
      <p:sp>
        <p:nvSpPr>
          <p:cNvPr id="3" name="Bullets"/>
          <p:cNvSpPr txBox="1"/>
          <p:nvPr/>
        </p:nvSpPr>
        <p:spPr>
          <a:xfrm>
            <a:off x="502920" y="1325880"/>
            <a:ext cx="4297680" cy="320040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“The House” is the lower chamber of the US Congress</a:t>
            </a:r>
            <a:endParaRPr lang="en-US" sz="1700" dirty="0"/>
          </a:p>
          <a:p>
            <a:pPr marL="228600" indent="-228600">
              <a:spcAft>
                <a:spcPts val="800"/>
              </a:spcAft>
              <a:buSzPct val="100000"/>
              <a:buChar char="•"/>
            </a:pPr>
            <a:r>
              <a:rPr lang="en-US" sz="1700" dirty="0">
                <a:solidFill>
                  <a:schemeClr val="tx1"/>
                </a:solidFill>
              </a:rPr>
              <a:t>435 members serve two-year terms</a:t>
            </a:r>
            <a:endParaRPr lang="en-US" sz="1700" dirty="0"/>
          </a:p>
          <a:p>
            <a:pPr marL="228600" indent="-228600">
              <a:spcAft>
                <a:spcPts val="800"/>
              </a:spcAft>
              <a:buSzPct val="100000"/>
              <a:buChar char="•"/>
            </a:pPr>
            <a:r>
              <a:rPr lang="en-US" sz="1700" dirty="0">
                <a:solidFill>
                  <a:schemeClr val="tx1"/>
                </a:solidFill>
              </a:rPr>
              <a:t>Current Speaker: Mike Johnson</a:t>
            </a:r>
            <a:endParaRPr lang="en-US" sz="1700" dirty="0"/>
          </a:p>
        </p:txBody>
      </p:sp>
      <p:pic>
        <p:nvPicPr>
          <p:cNvPr id="4" name="Photo" descr="House chamber or Speaker Mike Johnson">    </p:cNvPr>
          <p:cNvPicPr>
            <a:picLocks noChangeAspect="1"/>
          </p:cNvPicPr>
          <p:nvPr/>
        </p:nvPicPr>
        <p:blipFill>
          <a:blip r:embed="rId1"/>
          <a:srcRect l="0" r="0" t="0" b="0"/>
          <a:stretch/>
        </p:blipFill>
        <p:spPr>
          <a:xfrm>
            <a:off x="5074920" y="0"/>
            <a:ext cx="406908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502920" y="365760"/>
            <a:ext cx="4389120" cy="731520"/>
          </a:xfrm>
          <a:prstGeom prst="rect">
            <a:avLst/>
          </a:prstGeom>
          <a:noFill/>
          <a:ln/>
        </p:spPr>
        <p:txBody>
          <a:bodyPr wrap="square" lIns="0" tIns="0" rIns="0" bIns="0" rtlCol="0" anchor="t"/>
          <a:lstStyle/>
          <a:p>
            <a:pPr indent="0" marL="0">
              <a:buNone/>
            </a:pPr>
            <a:r>
              <a:rPr lang="en-US" sz="2800" b="1" dirty="0">
                <a:solidFill>
                  <a:schemeClr val="tx1"/>
                </a:solidFill>
                <a:latin typeface="Georgia" pitchFamily="34" charset="0"/>
                <a:ea typeface="Georgia" pitchFamily="34" charset="-122"/>
                <a:cs typeface="Georgia" pitchFamily="34" charset="-120"/>
              </a:rPr>
              <a:t>Senators</a:t>
            </a:r>
            <a:endParaRPr lang="en-US" sz="2800" dirty="0"/>
          </a:p>
        </p:txBody>
      </p:sp>
      <p:sp>
        <p:nvSpPr>
          <p:cNvPr id="3" name="Bullets"/>
          <p:cNvSpPr txBox="1"/>
          <p:nvPr/>
        </p:nvSpPr>
        <p:spPr>
          <a:xfrm>
            <a:off x="502920" y="1325880"/>
            <a:ext cx="4297680" cy="320040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The Senate is the upper chamber of the US Congress</a:t>
            </a:r>
            <a:endParaRPr lang="en-US" sz="1700" dirty="0"/>
          </a:p>
          <a:p>
            <a:pPr marL="228600" indent="-228600">
              <a:spcAft>
                <a:spcPts val="800"/>
              </a:spcAft>
              <a:buSzPct val="100000"/>
              <a:buChar char="•"/>
            </a:pPr>
            <a:r>
              <a:rPr lang="en-US" sz="1700" dirty="0">
                <a:solidFill>
                  <a:schemeClr val="tx1"/>
                </a:solidFill>
              </a:rPr>
              <a:t>100 members, two per state</a:t>
            </a:r>
            <a:endParaRPr lang="en-US" sz="1700" dirty="0"/>
          </a:p>
          <a:p>
            <a:pPr marL="228600" indent="-228600">
              <a:spcAft>
                <a:spcPts val="800"/>
              </a:spcAft>
              <a:buSzPct val="100000"/>
              <a:buChar char="•"/>
            </a:pPr>
            <a:r>
              <a:rPr lang="en-US" sz="1700" dirty="0">
                <a:solidFill>
                  <a:schemeClr val="tx1"/>
                </a:solidFill>
              </a:rPr>
              <a:t>Senators serve six-year terms</a:t>
            </a:r>
            <a:endParaRPr lang="en-US" sz="1700" dirty="0"/>
          </a:p>
          <a:p>
            <a:pPr marL="228600" indent="-228600">
              <a:spcAft>
                <a:spcPts val="800"/>
              </a:spcAft>
              <a:buSzPct val="100000"/>
              <a:buChar char="•"/>
            </a:pPr>
            <a:r>
              <a:rPr lang="en-US" sz="1700" dirty="0">
                <a:solidFill>
                  <a:schemeClr val="tx1"/>
                </a:solidFill>
              </a:rPr>
              <a:t>Current Majority Leader: John Thune</a:t>
            </a:r>
            <a:endParaRPr lang="en-US" sz="1700" dirty="0"/>
          </a:p>
          <a:p>
            <a:pPr marL="228600" indent="-228600">
              <a:spcAft>
                <a:spcPts val="800"/>
              </a:spcAft>
              <a:buSzPct val="100000"/>
              <a:buChar char="•"/>
            </a:pPr>
            <a:r>
              <a:rPr lang="en-US" sz="1700" dirty="0">
                <a:solidFill>
                  <a:schemeClr val="tx1"/>
                </a:solidFill>
              </a:rPr>
              <a:t>Filibuster: major legislation needs 60 votes</a:t>
            </a:r>
            <a:endParaRPr lang="en-US" sz="1700" dirty="0"/>
          </a:p>
        </p:txBody>
      </p:sp>
      <p:pic>
        <p:nvPicPr>
          <p:cNvPr id="4" name="Photo" descr="Senate chamber or Leader John Thune">    </p:cNvPr>
          <p:cNvPicPr>
            <a:picLocks noChangeAspect="1"/>
          </p:cNvPicPr>
          <p:nvPr/>
        </p:nvPicPr>
        <p:blipFill>
          <a:blip r:embed="rId1"/>
          <a:srcRect l="0" r="0" t="0" b="0"/>
          <a:stretch/>
        </p:blipFill>
        <p:spPr>
          <a:xfrm>
            <a:off x="5074920" y="0"/>
            <a:ext cx="406908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502920" y="365760"/>
            <a:ext cx="4389120" cy="731520"/>
          </a:xfrm>
          <a:prstGeom prst="rect">
            <a:avLst/>
          </a:prstGeom>
          <a:noFill/>
          <a:ln/>
        </p:spPr>
        <p:txBody>
          <a:bodyPr wrap="square" lIns="0" tIns="0" rIns="0" bIns="0" rtlCol="0" anchor="t"/>
          <a:lstStyle/>
          <a:p>
            <a:pPr indent="0" marL="0">
              <a:buNone/>
            </a:pPr>
            <a:r>
              <a:rPr lang="en-US" sz="2800" b="1" dirty="0">
                <a:solidFill>
                  <a:schemeClr val="tx1"/>
                </a:solidFill>
                <a:latin typeface="Georgia" pitchFamily="34" charset="0"/>
                <a:ea typeface="Georgia" pitchFamily="34" charset="-122"/>
                <a:cs typeface="Georgia" pitchFamily="34" charset="-120"/>
              </a:rPr>
              <a:t>What Usually Happens in a Midterm?</a:t>
            </a:r>
            <a:endParaRPr lang="en-US" sz="2800" dirty="0"/>
          </a:p>
        </p:txBody>
      </p:sp>
      <p:sp>
        <p:nvSpPr>
          <p:cNvPr id="3" name="Bullets"/>
          <p:cNvSpPr txBox="1"/>
          <p:nvPr/>
        </p:nvSpPr>
        <p:spPr>
          <a:xfrm>
            <a:off x="502920" y="1783080"/>
            <a:ext cx="4297680" cy="274320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Public opinion is “thermostatic”: it shifts against the party in power</a:t>
            </a:r>
            <a:endParaRPr lang="en-US" sz="1700" dirty="0"/>
          </a:p>
          <a:p>
            <a:pPr marL="228600" indent="-228600">
              <a:spcAft>
                <a:spcPts val="800"/>
              </a:spcAft>
              <a:buSzPct val="100000"/>
              <a:buChar char="•"/>
            </a:pPr>
            <a:r>
              <a:rPr lang="en-US" sz="1700" dirty="0">
                <a:solidFill>
                  <a:schemeClr val="tx1"/>
                </a:solidFill>
              </a:rPr>
              <a:t>Wave elections:</a:t>
            </a:r>
            <a:endParaRPr lang="en-US" sz="1700" dirty="0"/>
          </a:p>
          <a:p>
            <a:pPr lvl="1" marL="457200" indent="-228600">
              <a:spcAft>
                <a:spcPts val="1000"/>
              </a:spcAft>
              <a:buSzPct val="100000"/>
              <a:buChar char="•"/>
            </a:pPr>
            <a:r>
              <a:rPr lang="en-US" sz="1400" dirty="0">
                <a:solidFill>
                  <a:schemeClr val="accent5"/>
                </a:solidFill>
              </a:rPr>
              <a:t>1994 – “Republican Revolution”</a:t>
            </a:r>
            <a:endParaRPr lang="en-US" sz="1700" dirty="0"/>
          </a:p>
          <a:p>
            <a:pPr lvl="1" marL="457200" indent="-228600">
              <a:spcAft>
                <a:spcPts val="1000"/>
              </a:spcAft>
              <a:buSzPct val="100000"/>
              <a:buChar char="•"/>
            </a:pPr>
            <a:r>
              <a:rPr lang="en-US" sz="1400" dirty="0">
                <a:solidFill>
                  <a:schemeClr val="accent5"/>
                </a:solidFill>
              </a:rPr>
              <a:t>2010 – Tea Party wave</a:t>
            </a:r>
            <a:endParaRPr lang="en-US" sz="1700" dirty="0"/>
          </a:p>
          <a:p>
            <a:pPr lvl="1" marL="457200" indent="-228600">
              <a:spcAft>
                <a:spcPts val="1000"/>
              </a:spcAft>
              <a:buSzPct val="100000"/>
              <a:buChar char="•"/>
            </a:pPr>
            <a:r>
              <a:rPr lang="en-US" sz="1400" dirty="0">
                <a:solidFill>
                  <a:schemeClr val="accent5"/>
                </a:solidFill>
              </a:rPr>
              <a:t>2018 – “Blue wave” against Trump</a:t>
            </a:r>
            <a:endParaRPr lang="en-US" sz="1700" dirty="0"/>
          </a:p>
          <a:p>
            <a:pPr marL="228600" indent="-228600">
              <a:spcAft>
                <a:spcPts val="800"/>
              </a:spcAft>
              <a:buSzPct val="100000"/>
              <a:buChar char="•"/>
            </a:pPr>
            <a:r>
              <a:rPr lang="en-US" sz="1700" dirty="0">
                <a:solidFill>
                  <a:schemeClr val="tx1"/>
                </a:solidFill>
              </a:rPr>
              <a:t>Rare exceptions: 1998, 2002</a:t>
            </a:r>
            <a:endParaRPr lang="en-US" sz="1700" dirty="0"/>
          </a:p>
        </p:txBody>
      </p:sp>
      <p:sp>
        <p:nvSpPr>
          <p:cNvPr id="4" name="Chart panel"/>
          <p:cNvSpPr/>
          <p:nvPr/>
        </p:nvSpPr>
        <p:spPr>
          <a:xfrm>
            <a:off x="5074920" y="0"/>
            <a:ext cx="4069080" cy="5143500"/>
          </a:xfrm>
          <a:prstGeom prst="rect">
            <a:avLst/>
          </a:prstGeom>
          <a:solidFill>
            <a:schemeClr val="bg2"/>
          </a:solidFill>
          <a:ln w="12700">
            <a:solidFill>
              <a:schemeClr val="bg2"/>
            </a:solidFill>
            <a:prstDash val="solid"/>
          </a:ln>
        </p:spPr>
      </p:sp>
      <p:graphicFrame>
        <p:nvGraphicFramePr>
          <p:cNvPr id="5" name="Seat loss chart" descr=""/>
          <p:cNvGraphicFramePr/>
          <p:nvPr/>
        </p:nvGraphicFramePr>
        <p:xfrm>
          <a:off x="5303520" y="411480"/>
          <a:ext cx="3611880" cy="4343400"/>
        </p:xfrm>
        <a:graphic xmlns:a="http://schemas.openxmlformats.org/drawingml/2006/main">
          <a:graphicData uri="http://schemas.openxmlformats.org/drawingml/2006/chart">
            <c:chart xmlns:c="http://schemas.openxmlformats.org/drawingml/2006/chart" r:id="rId1"/>
          </a:graphicData>
        </a:graphic>
      </p:graphicFrame>
      <p:sp>
        <p:nvSpPr>
          <p:cNvPr id="6" name="Source"/>
          <p:cNvSpPr txBox="1"/>
          <p:nvPr/>
        </p:nvSpPr>
        <p:spPr>
          <a:xfrm>
            <a:off x="502920" y="4572000"/>
            <a:ext cx="4389120" cy="365760"/>
          </a:xfrm>
          <a:prstGeom prst="rect">
            <a:avLst/>
          </a:prstGeom>
          <a:noFill/>
          <a:ln/>
        </p:spPr>
        <p:txBody>
          <a:bodyPr wrap="square" lIns="0" tIns="0" rIns="0" bIns="0" rtlCol="0" anchor="b"/>
          <a:lstStyle/>
          <a:p>
            <a:pPr indent="0" marL="0">
              <a:buNone/>
            </a:pPr>
            <a:r>
              <a:rPr lang="en-US" sz="900" dirty="0">
                <a:solidFill>
                  <a:schemeClr val="accent5"/>
                </a:solidFill>
              </a:rPr>
              <a:t>Source: American Presidency Project (UCSB)</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502920" y="365760"/>
            <a:ext cx="5120640" cy="731520"/>
          </a:xfrm>
          <a:prstGeom prst="rect">
            <a:avLst/>
          </a:prstGeom>
          <a:noFill/>
          <a:ln/>
        </p:spPr>
        <p:txBody>
          <a:bodyPr wrap="square" lIns="0" tIns="0" rIns="0" bIns="0" rtlCol="0" anchor="t"/>
          <a:lstStyle/>
          <a:p>
            <a:pPr indent="0" marL="0">
              <a:buNone/>
            </a:pPr>
            <a:r>
              <a:rPr lang="en-US" sz="2800" b="1" dirty="0">
                <a:solidFill>
                  <a:schemeClr val="tx1"/>
                </a:solidFill>
                <a:latin typeface="Georgia" pitchFamily="34" charset="0"/>
                <a:ea typeface="Georgia" pitchFamily="34" charset="-122"/>
                <a:cs typeface="Georgia" pitchFamily="34" charset="-120"/>
              </a:rPr>
              <a:t>What Will Happen This Year?</a:t>
            </a:r>
            <a:endParaRPr lang="en-US" sz="2800" dirty="0"/>
          </a:p>
        </p:txBody>
      </p:sp>
      <p:sp>
        <p:nvSpPr>
          <p:cNvPr id="3" name="Bullets"/>
          <p:cNvSpPr txBox="1"/>
          <p:nvPr/>
        </p:nvSpPr>
        <p:spPr>
          <a:xfrm>
            <a:off x="502920" y="1325880"/>
            <a:ext cx="5486400" cy="13258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Trump is very unpopular this term (~37%)</a:t>
            </a:r>
            <a:endParaRPr lang="en-US" sz="1600" dirty="0"/>
          </a:p>
          <a:p>
            <a:pPr marL="228600" indent="-228600">
              <a:spcAft>
                <a:spcPts val="800"/>
              </a:spcAft>
              <a:buSzPct val="100000"/>
              <a:buChar char="•"/>
            </a:pPr>
            <a:r>
              <a:rPr lang="en-US" sz="1600" dirty="0">
                <a:solidFill>
                  <a:schemeClr val="tx1"/>
                </a:solidFill>
              </a:rPr>
              <a:t>Democrats very likely to retake the House</a:t>
            </a:r>
            <a:endParaRPr lang="en-US" sz="1600" dirty="0"/>
          </a:p>
          <a:p>
            <a:pPr marL="228600" indent="-228600">
              <a:spcAft>
                <a:spcPts val="800"/>
              </a:spcAft>
              <a:buSzPct val="100000"/>
              <a:buChar char="•"/>
            </a:pPr>
            <a:r>
              <a:rPr lang="en-US" sz="1600" dirty="0">
                <a:solidFill>
                  <a:schemeClr val="tx1"/>
                </a:solidFill>
              </a:rPr>
              <a:t>Democrats favored, but less likely, to take the Senate</a:t>
            </a:r>
            <a:endParaRPr lang="en-US" sz="1600" dirty="0"/>
          </a:p>
        </p:txBody>
      </p:sp>
      <p:graphicFrame>
        <p:nvGraphicFramePr>
          <p:cNvPr id="4" name="Approval chart" descr=""/>
          <p:cNvGraphicFramePr/>
          <p:nvPr/>
        </p:nvGraphicFramePr>
        <p:xfrm>
          <a:off x="411480" y="2651760"/>
          <a:ext cx="5577840" cy="1920240"/>
        </p:xfrm>
        <a:graphic xmlns:a="http://schemas.openxmlformats.org/drawingml/2006/main">
          <a:graphicData uri="http://schemas.openxmlformats.org/drawingml/2006/chart">
            <c:chart xmlns:c="http://schemas.openxmlformats.org/drawingml/2006/chart" r:id="rId1"/>
          </a:graphicData>
        </a:graphic>
      </p:graphicFrame>
      <p:sp>
        <p:nvSpPr>
          <p:cNvPr id="5" name="Source"/>
          <p:cNvSpPr txBox="1"/>
          <p:nvPr/>
        </p:nvSpPr>
        <p:spPr>
          <a:xfrm>
            <a:off x="502920" y="4572000"/>
            <a:ext cx="5486400" cy="365760"/>
          </a:xfrm>
          <a:prstGeom prst="rect">
            <a:avLst/>
          </a:prstGeom>
          <a:noFill/>
          <a:ln/>
        </p:spPr>
        <p:txBody>
          <a:bodyPr wrap="square" lIns="0" tIns="0" rIns="0" bIns="0" rtlCol="0" anchor="b"/>
          <a:lstStyle/>
          <a:p>
            <a:pPr indent="0" marL="0">
              <a:buNone/>
            </a:pPr>
            <a:r>
              <a:rPr lang="en-US" sz="900" dirty="0">
                <a:solidFill>
                  <a:schemeClr val="accent5"/>
                </a:solidFill>
              </a:rPr>
              <a:t>Gallup (1994–2022); 2026: polling averages, mid-Oct · Odds: Kalshi, 1 Oct 2026</a:t>
            </a:r>
            <a:endParaRPr lang="en-US" sz="900" dirty="0"/>
          </a:p>
        </p:txBody>
      </p:sp>
      <p:pic>
        <p:nvPicPr>
          <p:cNvPr id="6" name="Photo" descr="Donald Trump (official portrait)">    </p:cNvPr>
          <p:cNvPicPr>
            <a:picLocks noChangeAspect="1"/>
          </p:cNvPicPr>
          <p:nvPr/>
        </p:nvPicPr>
        <p:blipFill>
          <a:blip r:embed="rId2"/>
          <a:srcRect l="0" r="0" t="0" b="0"/>
          <a:stretch/>
        </p:blipFill>
        <p:spPr>
          <a:xfrm>
            <a:off x="6263640" y="0"/>
            <a:ext cx="288036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502920" y="365760"/>
            <a:ext cx="4389120" cy="731520"/>
          </a:xfrm>
          <a:prstGeom prst="rect">
            <a:avLst/>
          </a:prstGeom>
          <a:noFill/>
          <a:ln/>
        </p:spPr>
        <p:txBody>
          <a:bodyPr wrap="square" lIns="0" tIns="0" rIns="0" bIns="0" rtlCol="0" anchor="t"/>
          <a:lstStyle/>
          <a:p>
            <a:pPr indent="0" marL="0">
              <a:buNone/>
            </a:pPr>
            <a:r>
              <a:rPr lang="en-US" sz="2800" b="1" dirty="0">
                <a:solidFill>
                  <a:schemeClr val="tx1"/>
                </a:solidFill>
                <a:latin typeface="Georgia" pitchFamily="34" charset="0"/>
                <a:ea typeface="Georgia" pitchFamily="34" charset="-122"/>
                <a:cs typeface="Georgia" pitchFamily="34" charset="-120"/>
              </a:rPr>
              <a:t>Issues This Cycle</a:t>
            </a:r>
            <a:endParaRPr lang="en-US" sz="2800" dirty="0"/>
          </a:p>
        </p:txBody>
      </p:sp>
      <p:sp>
        <p:nvSpPr>
          <p:cNvPr id="3" name="Bullets"/>
          <p:cNvSpPr txBox="1"/>
          <p:nvPr/>
        </p:nvSpPr>
        <p:spPr>
          <a:xfrm>
            <a:off x="502920" y="1325880"/>
            <a:ext cx="4297680" cy="292608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War with Iran and the Strait of Hormuz</a:t>
            </a:r>
            <a:endParaRPr lang="en-US" sz="1700" dirty="0"/>
          </a:p>
          <a:p>
            <a:pPr marL="228600" indent="-228600">
              <a:spcAft>
                <a:spcPts val="800"/>
              </a:spcAft>
              <a:buSzPct val="100000"/>
              <a:buChar char="•"/>
            </a:pPr>
            <a:r>
              <a:rPr lang="en-US" sz="1700" dirty="0">
                <a:solidFill>
                  <a:schemeClr val="tx1"/>
                </a:solidFill>
              </a:rPr>
              <a:t>Economy and cost of living</a:t>
            </a:r>
            <a:endParaRPr lang="en-US" sz="1700" dirty="0"/>
          </a:p>
          <a:p>
            <a:pPr marL="228600" indent="-228600">
              <a:spcAft>
                <a:spcPts val="800"/>
              </a:spcAft>
              <a:buSzPct val="100000"/>
              <a:buChar char="•"/>
            </a:pPr>
            <a:r>
              <a:rPr lang="en-US" sz="1700" dirty="0">
                <a:solidFill>
                  <a:schemeClr val="tx1"/>
                </a:solidFill>
              </a:rPr>
              <a:t>Gas prices</a:t>
            </a:r>
            <a:endParaRPr lang="en-US" sz="1700" dirty="0"/>
          </a:p>
          <a:p>
            <a:pPr marL="228600" indent="-228600">
              <a:spcAft>
                <a:spcPts val="800"/>
              </a:spcAft>
              <a:buSzPct val="100000"/>
              <a:buChar char="•"/>
            </a:pPr>
            <a:r>
              <a:rPr lang="en-US" sz="1700" dirty="0">
                <a:solidFill>
                  <a:schemeClr val="tx1"/>
                </a:solidFill>
              </a:rPr>
              <a:t>Immigration</a:t>
            </a:r>
            <a:endParaRPr lang="en-US" sz="1700" dirty="0"/>
          </a:p>
          <a:p>
            <a:pPr marL="228600" indent="-228600">
              <a:spcAft>
                <a:spcPts val="800"/>
              </a:spcAft>
              <a:buSzPct val="100000"/>
              <a:buChar char="•"/>
            </a:pPr>
            <a:r>
              <a:rPr lang="en-US" sz="1700" dirty="0">
                <a:solidFill>
                  <a:schemeClr val="tx1"/>
                </a:solidFill>
              </a:rPr>
              <a:t>Health care</a:t>
            </a:r>
            <a:endParaRPr lang="en-US" sz="1700" dirty="0"/>
          </a:p>
        </p:txBody>
      </p:sp>
      <p:sp>
        <p:nvSpPr>
          <p:cNvPr id="4" name="Chart panel"/>
          <p:cNvSpPr/>
          <p:nvPr/>
        </p:nvSpPr>
        <p:spPr>
          <a:xfrm>
            <a:off x="5074920" y="0"/>
            <a:ext cx="4069080" cy="5143500"/>
          </a:xfrm>
          <a:prstGeom prst="rect">
            <a:avLst/>
          </a:prstGeom>
          <a:solidFill>
            <a:schemeClr val="bg2"/>
          </a:solidFill>
          <a:ln w="12700">
            <a:solidFill>
              <a:schemeClr val="bg2"/>
            </a:solidFill>
            <a:prstDash val="solid"/>
          </a:ln>
        </p:spPr>
      </p:sp>
      <p:graphicFrame>
        <p:nvGraphicFramePr>
          <p:cNvPr id="5" name="Issue trust chart" descr=""/>
          <p:cNvGraphicFramePr/>
          <p:nvPr/>
        </p:nvGraphicFramePr>
        <p:xfrm>
          <a:off x="5257800" y="365760"/>
          <a:ext cx="3703320" cy="4434840"/>
        </p:xfrm>
        <a:graphic xmlns:a="http://schemas.openxmlformats.org/drawingml/2006/main">
          <a:graphicData uri="http://schemas.openxmlformats.org/drawingml/2006/chart">
            <c:chart xmlns:c="http://schemas.openxmlformats.org/drawingml/2006/chart" r:id="rId1"/>
          </a:graphicData>
        </a:graphic>
      </p:graphicFrame>
      <p:sp>
        <p:nvSpPr>
          <p:cNvPr id="6" name="Source"/>
          <p:cNvSpPr txBox="1"/>
          <p:nvPr/>
        </p:nvSpPr>
        <p:spPr>
          <a:xfrm>
            <a:off x="502920" y="4572000"/>
            <a:ext cx="4389120" cy="365760"/>
          </a:xfrm>
          <a:prstGeom prst="rect">
            <a:avLst/>
          </a:prstGeom>
          <a:noFill/>
          <a:ln/>
        </p:spPr>
        <p:txBody>
          <a:bodyPr wrap="square" lIns="0" tIns="0" rIns="0" bIns="0" rtlCol="0" anchor="b"/>
          <a:lstStyle/>
          <a:p>
            <a:pPr indent="0" marL="0">
              <a:buNone/>
            </a:pPr>
            <a:r>
              <a:rPr lang="en-US" sz="900" dirty="0">
                <a:solidFill>
                  <a:schemeClr val="accent5"/>
                </a:solidFill>
              </a:rPr>
              <a:t>Source: NYT/Siena poll of likely voters, 8–13 Sept 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502920" y="365760"/>
            <a:ext cx="4389120" cy="731520"/>
          </a:xfrm>
          <a:prstGeom prst="rect">
            <a:avLst/>
          </a:prstGeom>
          <a:noFill/>
          <a:ln/>
        </p:spPr>
        <p:txBody>
          <a:bodyPr wrap="square" lIns="0" tIns="0" rIns="0" bIns="0" rtlCol="0" anchor="t"/>
          <a:lstStyle/>
          <a:p>
            <a:pPr indent="0" marL="0">
              <a:buNone/>
            </a:pPr>
            <a:r>
              <a:rPr lang="en-US" sz="2800" b="1" dirty="0">
                <a:solidFill>
                  <a:schemeClr val="tx1"/>
                </a:solidFill>
                <a:latin typeface="Georgia" pitchFamily="34" charset="0"/>
                <a:ea typeface="Georgia" pitchFamily="34" charset="-122"/>
                <a:cs typeface="Georgia" pitchFamily="34" charset="-120"/>
              </a:rPr>
              <a:t>Redistricting</a:t>
            </a:r>
            <a:endParaRPr lang="en-US" sz="2800" dirty="0"/>
          </a:p>
        </p:txBody>
      </p:sp>
      <p:sp>
        <p:nvSpPr>
          <p:cNvPr id="3" name="Bullets"/>
          <p:cNvSpPr txBox="1"/>
          <p:nvPr/>
        </p:nvSpPr>
        <p:spPr>
          <a:xfrm>
            <a:off x="502920" y="1325880"/>
            <a:ext cx="4297680" cy="32918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Redistricting: redrawing House district lines, normally once a decade after the census</a:t>
            </a:r>
            <a:endParaRPr lang="en-US" sz="1600" dirty="0"/>
          </a:p>
          <a:p>
            <a:pPr marL="228600" indent="-228600">
              <a:spcAft>
                <a:spcPts val="800"/>
              </a:spcAft>
              <a:buSzPct val="100000"/>
              <a:buChar char="•"/>
            </a:pPr>
            <a:r>
              <a:rPr lang="en-US" sz="1600" dirty="0">
                <a:solidFill>
                  <a:schemeClr val="tx1"/>
                </a:solidFill>
              </a:rPr>
              <a:t>Gerrymandering: drawing the lines to help one party</a:t>
            </a:r>
            <a:endParaRPr lang="en-US" sz="1600" dirty="0"/>
          </a:p>
          <a:p>
            <a:pPr marL="228600" indent="-228600">
              <a:spcAft>
                <a:spcPts val="800"/>
              </a:spcAft>
              <a:buSzPct val="100000"/>
              <a:buChar char="•"/>
            </a:pPr>
            <a:r>
              <a:rPr lang="en-US" sz="1600" dirty="0">
                <a:solidFill>
                  <a:schemeClr val="tx1"/>
                </a:solidFill>
              </a:rPr>
              <a:t>2025–26: unprecedented mid-decade redraws</a:t>
            </a:r>
            <a:endParaRPr lang="en-US" sz="1600" dirty="0"/>
          </a:p>
          <a:p>
            <a:pPr lvl="1" marL="457200" indent="-228600">
              <a:spcAft>
                <a:spcPts val="1000"/>
              </a:spcAft>
              <a:buSzPct val="100000"/>
              <a:buChar char="•"/>
            </a:pPr>
            <a:r>
              <a:rPr lang="en-US" sz="1300" dirty="0">
                <a:solidFill>
                  <a:schemeClr val="accent5"/>
                </a:solidFill>
              </a:rPr>
              <a:t>Texas (+5 R), urged by Trump</a:t>
            </a:r>
            <a:endParaRPr lang="en-US" sz="1600" dirty="0"/>
          </a:p>
          <a:p>
            <a:pPr lvl="1" marL="457200" indent="-228600">
              <a:spcAft>
                <a:spcPts val="1000"/>
              </a:spcAft>
              <a:buSzPct val="100000"/>
              <a:buChar char="•"/>
            </a:pPr>
            <a:r>
              <a:rPr lang="en-US" sz="1300" dirty="0">
                <a:solidFill>
                  <a:schemeClr val="accent5"/>
                </a:solidFill>
              </a:rPr>
              <a:t>California fights back (+5 D)</a:t>
            </a:r>
            <a:endParaRPr lang="en-US" sz="1600" dirty="0"/>
          </a:p>
          <a:p>
            <a:pPr lvl="1" marL="457200" indent="-228600">
              <a:spcAft>
                <a:spcPts val="1000"/>
              </a:spcAft>
              <a:buSzPct val="100000"/>
              <a:buChar char="•"/>
            </a:pPr>
            <a:r>
              <a:rPr lang="en-US" sz="1300" dirty="0">
                <a:solidFill>
                  <a:schemeClr val="accent5"/>
                </a:solidFill>
              </a:rPr>
              <a:t>A dozen states join in: net ≈ +10 R on paper</a:t>
            </a:r>
            <a:endParaRPr lang="en-US" sz="1600" dirty="0"/>
          </a:p>
        </p:txBody>
      </p:sp>
      <p:sp>
        <p:nvSpPr>
          <p:cNvPr id="4" name="Source"/>
          <p:cNvSpPr txBox="1"/>
          <p:nvPr/>
        </p:nvSpPr>
        <p:spPr>
          <a:xfrm>
            <a:off x="502920" y="4572000"/>
            <a:ext cx="4389120" cy="365760"/>
          </a:xfrm>
          <a:prstGeom prst="rect">
            <a:avLst/>
          </a:prstGeom>
          <a:noFill/>
          <a:ln/>
        </p:spPr>
        <p:txBody>
          <a:bodyPr wrap="square" lIns="0" tIns="0" rIns="0" bIns="0" rtlCol="0" anchor="b"/>
          <a:lstStyle/>
          <a:p>
            <a:pPr indent="0" marL="0">
              <a:buNone/>
            </a:pPr>
            <a:r>
              <a:rPr lang="en-US" sz="900" dirty="0">
                <a:solidFill>
                  <a:schemeClr val="accent5"/>
                </a:solidFill>
              </a:rPr>
              <a:t>Sources: Wikipedia; Voting Rights Lab (Aug 2026)</a:t>
            </a:r>
            <a:endParaRPr lang="en-US" sz="900" dirty="0"/>
          </a:p>
        </p:txBody>
      </p:sp>
      <p:pic>
        <p:nvPicPr>
          <p:cNvPr id="5" name="District map" descr="Map of Pennsylvania congressional districts">    </p:cNvPr>
          <p:cNvPicPr>
            <a:picLocks noChangeAspect="1"/>
          </p:cNvPicPr>
          <p:nvPr/>
        </p:nvPicPr>
        <p:blipFill>
          <a:blip r:embed="rId1"/>
          <a:stretch>
            <a:fillRect/>
          </a:stretch>
        </p:blipFill>
        <p:spPr>
          <a:xfrm>
            <a:off x="4983480" y="1097280"/>
            <a:ext cx="3931920" cy="2676898"/>
          </a:xfrm>
          <a:prstGeom prst="rect">
            <a:avLst/>
          </a:prstGeom>
        </p:spPr>
      </p:pic>
      <p:sp>
        <p:nvSpPr>
          <p:cNvPr id="6" name="Map caption"/>
          <p:cNvSpPr txBox="1"/>
          <p:nvPr/>
        </p:nvSpPr>
        <p:spPr>
          <a:xfrm>
            <a:off x="4983480" y="3886200"/>
            <a:ext cx="3931920" cy="320040"/>
          </a:xfrm>
          <a:prstGeom prst="rect">
            <a:avLst/>
          </a:prstGeom>
          <a:noFill/>
          <a:ln/>
        </p:spPr>
        <p:txBody>
          <a:bodyPr wrap="square" lIns="0" tIns="0" rIns="0" bIns="0" rtlCol="0" anchor="ctr"/>
          <a:lstStyle/>
          <a:p>
            <a:pPr algn="ctr" indent="0" marL="0">
              <a:buNone/>
            </a:pPr>
            <a:r>
              <a:rPr lang="en-US" sz="1100" i="1" dirty="0">
                <a:solidFill>
                  <a:schemeClr val="accent5"/>
                </a:solidFill>
              </a:rPr>
              <a:t>Each colour = one House district (Pennsylvania)</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502920" y="365760"/>
            <a:ext cx="8229600" cy="731520"/>
          </a:xfrm>
          <a:prstGeom prst="rect">
            <a:avLst/>
          </a:prstGeom>
          <a:noFill/>
          <a:ln/>
        </p:spPr>
        <p:txBody>
          <a:bodyPr wrap="square" lIns="0" tIns="0" rIns="0" bIns="0" rtlCol="0" anchor="t"/>
          <a:lstStyle/>
          <a:p>
            <a:pPr indent="0" marL="0">
              <a:buNone/>
            </a:pPr>
            <a:r>
              <a:rPr lang="en-US" sz="2800" b="1" dirty="0">
                <a:solidFill>
                  <a:schemeClr val="tx1"/>
                </a:solidFill>
                <a:latin typeface="Georgia" pitchFamily="34" charset="0"/>
                <a:ea typeface="Georgia" pitchFamily="34" charset="-122"/>
                <a:cs typeface="Georgia" pitchFamily="34" charset="-120"/>
              </a:rPr>
              <a:t>Political Ads: Maine</a:t>
            </a:r>
            <a:endParaRPr lang="en-US" sz="2800" dirty="0"/>
          </a:p>
        </p:txBody>
      </p:sp>
      <p:sp>
        <p:nvSpPr>
          <p:cNvPr id="3" name="Race context"/>
          <p:cNvSpPr txBox="1"/>
          <p:nvPr/>
        </p:nvSpPr>
        <p:spPr>
          <a:xfrm>
            <a:off x="502920" y="960120"/>
            <a:ext cx="8138160" cy="320040"/>
          </a:xfrm>
          <a:prstGeom prst="rect">
            <a:avLst/>
          </a:prstGeom>
          <a:noFill/>
          <a:ln/>
        </p:spPr>
        <p:txBody>
          <a:bodyPr wrap="square" lIns="0" tIns="0" rIns="0" bIns="0" rtlCol="0" anchor="ctr"/>
          <a:lstStyle/>
          <a:p>
            <a:pPr indent="0" marL="0">
              <a:buNone/>
            </a:pPr>
            <a:r>
              <a:rPr lang="en-US" sz="1300" dirty="0">
                <a:solidFill>
                  <a:schemeClr val="accent5"/>
                </a:solidFill>
              </a:rPr>
              <a:t>Sen. Susan Collins (R, in office since 1997) vs. Troy Jackson (D, former Maine Senate President)</a:t>
            </a:r>
            <a:endParaRPr lang="en-US" sz="1300" dirty="0"/>
          </a:p>
        </p:txBody>
      </p:sp>
      <p:sp>
        <p:nvSpPr>
          <p:cNvPr id="4" name="TV ads"/>
          <p:cNvSpPr txBox="1"/>
          <p:nvPr/>
        </p:nvSpPr>
        <p:spPr>
          <a:xfrm>
            <a:off x="502920" y="1417320"/>
            <a:ext cx="3931920" cy="320040"/>
          </a:xfrm>
          <a:prstGeom prst="rect">
            <a:avLst/>
          </a:prstGeom>
          <a:noFill/>
          <a:ln/>
        </p:spPr>
        <p:txBody>
          <a:bodyPr wrap="square" lIns="0" tIns="0" rIns="0" bIns="0" rtlCol="0" anchor="ctr"/>
          <a:lstStyle/>
          <a:p>
            <a:pPr indent="0" marL="0">
              <a:buNone/>
            </a:pPr>
            <a:r>
              <a:rPr lang="en-US" sz="1400" b="1" dirty="0">
                <a:solidFill>
                  <a:schemeClr val="tx2"/>
                </a:solidFill>
              </a:rPr>
              <a:t>TV ads</a:t>
            </a:r>
            <a:endParaRPr lang="en-US" sz="1400" dirty="0"/>
          </a:p>
        </p:txBody>
      </p:sp>
      <p:sp>
        <p:nvSpPr>
          <p:cNvPr id="5" name="Ad card"/>
          <p:cNvSpPr/>
          <p:nvPr/>
        </p:nvSpPr>
        <p:spPr>
          <a:xfrm>
            <a:off x="502920" y="1828800"/>
            <a:ext cx="3931920" cy="621792"/>
          </a:xfrm>
          <a:prstGeom prst="roundRect">
            <a:avLst>
              <a:gd name="adj" fmla="val 11765"/>
            </a:avLst>
          </a:prstGeom>
          <a:solidFill>
            <a:schemeClr val="bg2"/>
          </a:solidFill>
          <a:ln w="12700">
            <a:solidFill>
              <a:schemeClr val="bg2"/>
            </a:solidFill>
            <a:prstDash val="solid"/>
          </a:ln>
        </p:spPr>
      </p:sp>
      <p:sp>
        <p:nvSpPr>
          <p:cNvPr id="6" name="Play icon"/>
          <p:cNvSpPr/>
          <p:nvPr/>
        </p:nvSpPr>
        <p:spPr>
          <a:xfrm>
            <a:off x="640080" y="1984248"/>
            <a:ext cx="310896" cy="310896"/>
          </a:xfrm>
          <a:prstGeom prst="ellipse">
            <a:avLst/>
          </a:prstGeom>
          <a:solidFill>
            <a:srgbClr val="3C6EA8"/>
          </a:solidFill>
          <a:ln w="12700">
            <a:solidFill>
              <a:srgbClr val="3C6EA8"/>
            </a:solidFill>
            <a:prstDash val="solid"/>
          </a:ln>
        </p:spPr>
      </p:sp>
      <p:sp>
        <p:nvSpPr>
          <p:cNvPr id="7" name="Play triangle"/>
          <p:cNvSpPr/>
          <p:nvPr/>
        </p:nvSpPr>
        <p:spPr>
          <a:xfrm rot="5400000">
            <a:off x="749808" y="2066544"/>
            <a:ext cx="128016" cy="146304"/>
          </a:xfrm>
          <a:prstGeom prst="triangle">
            <a:avLst/>
          </a:prstGeom>
          <a:solidFill>
            <a:srgbClr val="FFFFFF"/>
          </a:solidFill>
          <a:ln w="12700">
            <a:solidFill>
              <a:srgbClr val="FFFFFF"/>
            </a:solidFill>
            <a:prstDash val="solid"/>
          </a:ln>
        </p:spPr>
      </p:sp>
      <p:sp>
        <p:nvSpPr>
          <p:cNvPr id="8" name="Ad link"/>
          <p:cNvSpPr txBox="1"/>
          <p:nvPr/>
        </p:nvSpPr>
        <p:spPr>
          <a:xfrm>
            <a:off x="1069848" y="1874520"/>
            <a:ext cx="3291840" cy="530352"/>
          </a:xfrm>
          <a:prstGeom prst="rect">
            <a:avLst/>
          </a:prstGeom>
          <a:noFill/>
          <a:ln/>
        </p:spPr>
        <p:txBody>
          <a:bodyPr wrap="square" lIns="0" tIns="0" rIns="0" bIns="0" rtlCol="0" anchor="ctr"/>
          <a:lstStyle/>
          <a:p>
            <a:pPr indent="0" marL="0">
              <a:buNone/>
            </a:pPr>
            <a:r>
              <a:rPr lang="en-US" sz="1400" b="1" u="sng" dirty="0">
                <a:solidFill>
                  <a:srgbClr val="3C6EA8"/>
                </a:solidFill>
                <a:hlinkClick r:id="rId1" invalidUrl="" action="" tgtFrame="" tooltip="“Fifth”" history="1" highlightClick="0" endSnd="0">
                  <a:extLst>
                    <a:ext uri="{A12FA001-AC4F-418D-AE19-62706E023703}">
                      <ahyp:hlinkClr xmlns:ahyp="http://schemas.microsoft.com/office/drawing/2018/hyperlinkcolor" val="tx"/>
                    </a:ext>
                  </a:extLst>
                </a:hlinkClick>
              </a:rPr>
              <a:t>“Fifth”</a:t>
            </a:r>
            <a:endParaRPr lang="en-US" sz="1400" dirty="0"/>
          </a:p>
          <a:p>
            <a:pPr indent="0" marL="0">
              <a:buNone/>
            </a:pPr>
            <a:r>
              <a:rPr lang="en-US" sz="1100" dirty="0">
                <a:solidFill>
                  <a:srgbClr val="8A94A6"/>
                </a:solidFill>
              </a:rPr>
              <a:t>Jackson · the “fifth-generation logger” intro</a:t>
            </a:r>
            <a:endParaRPr lang="en-US" sz="1400" dirty="0"/>
          </a:p>
        </p:txBody>
      </p:sp>
      <p:sp>
        <p:nvSpPr>
          <p:cNvPr id="9" name="Ad card"/>
          <p:cNvSpPr/>
          <p:nvPr/>
        </p:nvSpPr>
        <p:spPr>
          <a:xfrm>
            <a:off x="502920" y="2560320"/>
            <a:ext cx="3931920" cy="621792"/>
          </a:xfrm>
          <a:prstGeom prst="roundRect">
            <a:avLst>
              <a:gd name="adj" fmla="val 11765"/>
            </a:avLst>
          </a:prstGeom>
          <a:solidFill>
            <a:schemeClr val="bg2"/>
          </a:solidFill>
          <a:ln w="12700">
            <a:solidFill>
              <a:schemeClr val="bg2"/>
            </a:solidFill>
            <a:prstDash val="solid"/>
          </a:ln>
        </p:spPr>
      </p:sp>
      <p:sp>
        <p:nvSpPr>
          <p:cNvPr id="10" name="Play icon"/>
          <p:cNvSpPr/>
          <p:nvPr/>
        </p:nvSpPr>
        <p:spPr>
          <a:xfrm>
            <a:off x="640080" y="2715768"/>
            <a:ext cx="310896" cy="310896"/>
          </a:xfrm>
          <a:prstGeom prst="ellipse">
            <a:avLst/>
          </a:prstGeom>
          <a:solidFill>
            <a:srgbClr val="3C6EA8"/>
          </a:solidFill>
          <a:ln w="12700">
            <a:solidFill>
              <a:srgbClr val="3C6EA8"/>
            </a:solidFill>
            <a:prstDash val="solid"/>
          </a:ln>
        </p:spPr>
      </p:sp>
      <p:sp>
        <p:nvSpPr>
          <p:cNvPr id="11" name="Play triangle"/>
          <p:cNvSpPr/>
          <p:nvPr/>
        </p:nvSpPr>
        <p:spPr>
          <a:xfrm rot="5400000">
            <a:off x="749808" y="2798064"/>
            <a:ext cx="128016" cy="146304"/>
          </a:xfrm>
          <a:prstGeom prst="triangle">
            <a:avLst/>
          </a:prstGeom>
          <a:solidFill>
            <a:srgbClr val="FFFFFF"/>
          </a:solidFill>
          <a:ln w="12700">
            <a:solidFill>
              <a:srgbClr val="FFFFFF"/>
            </a:solidFill>
            <a:prstDash val="solid"/>
          </a:ln>
        </p:spPr>
      </p:sp>
      <p:sp>
        <p:nvSpPr>
          <p:cNvPr id="12" name="Ad link"/>
          <p:cNvSpPr txBox="1"/>
          <p:nvPr/>
        </p:nvSpPr>
        <p:spPr>
          <a:xfrm>
            <a:off x="1069848" y="2606040"/>
            <a:ext cx="3291840" cy="530352"/>
          </a:xfrm>
          <a:prstGeom prst="rect">
            <a:avLst/>
          </a:prstGeom>
          <a:noFill/>
          <a:ln/>
        </p:spPr>
        <p:txBody>
          <a:bodyPr wrap="square" lIns="0" tIns="0" rIns="0" bIns="0" rtlCol="0" anchor="ctr"/>
          <a:lstStyle/>
          <a:p>
            <a:pPr indent="0" marL="0">
              <a:buNone/>
            </a:pPr>
            <a:r>
              <a:rPr lang="en-US" sz="1400" b="1" u="sng" dirty="0">
                <a:solidFill>
                  <a:srgbClr val="3C6EA8"/>
                </a:solidFill>
                <a:hlinkClick r:id="rId2" invalidUrl="" action="" tgtFrame="" tooltip="“Grocery Store”" history="1" highlightClick="0" endSnd="0">
                  <a:extLst>
                    <a:ext uri="{A12FA001-AC4F-418D-AE19-62706E023703}">
                      <ahyp:hlinkClr xmlns:ahyp="http://schemas.microsoft.com/office/drawing/2018/hyperlinkcolor" val="tx"/>
                    </a:ext>
                  </a:extLst>
                </a:hlinkClick>
              </a:rPr>
              <a:t>“Grocery Store”</a:t>
            </a:r>
            <a:endParaRPr lang="en-US" sz="1400" dirty="0"/>
          </a:p>
          <a:p>
            <a:pPr indent="0" marL="0">
              <a:buNone/>
            </a:pPr>
            <a:r>
              <a:rPr lang="en-US" sz="1100" dirty="0">
                <a:solidFill>
                  <a:srgbClr val="8A94A6"/>
                </a:solidFill>
              </a:rPr>
              <a:t>Jackson · his mother tells his story</a:t>
            </a:r>
            <a:endParaRPr lang="en-US" sz="1400" dirty="0"/>
          </a:p>
        </p:txBody>
      </p:sp>
      <p:sp>
        <p:nvSpPr>
          <p:cNvPr id="13" name="Ad card"/>
          <p:cNvSpPr/>
          <p:nvPr/>
        </p:nvSpPr>
        <p:spPr>
          <a:xfrm>
            <a:off x="502920" y="3291840"/>
            <a:ext cx="3931920" cy="621792"/>
          </a:xfrm>
          <a:prstGeom prst="roundRect">
            <a:avLst>
              <a:gd name="adj" fmla="val 11765"/>
            </a:avLst>
          </a:prstGeom>
          <a:solidFill>
            <a:schemeClr val="bg2"/>
          </a:solidFill>
          <a:ln w="12700">
            <a:solidFill>
              <a:schemeClr val="bg2"/>
            </a:solidFill>
            <a:prstDash val="solid"/>
          </a:ln>
        </p:spPr>
      </p:sp>
      <p:sp>
        <p:nvSpPr>
          <p:cNvPr id="14" name="Play icon"/>
          <p:cNvSpPr/>
          <p:nvPr/>
        </p:nvSpPr>
        <p:spPr>
          <a:xfrm>
            <a:off x="640080" y="3447288"/>
            <a:ext cx="310896" cy="310896"/>
          </a:xfrm>
          <a:prstGeom prst="ellipse">
            <a:avLst/>
          </a:prstGeom>
          <a:solidFill>
            <a:srgbClr val="B23A3A"/>
          </a:solidFill>
          <a:ln w="12700">
            <a:solidFill>
              <a:srgbClr val="B23A3A"/>
            </a:solidFill>
            <a:prstDash val="solid"/>
          </a:ln>
        </p:spPr>
      </p:sp>
      <p:sp>
        <p:nvSpPr>
          <p:cNvPr id="15" name="Play triangle"/>
          <p:cNvSpPr/>
          <p:nvPr/>
        </p:nvSpPr>
        <p:spPr>
          <a:xfrm rot="5400000">
            <a:off x="749808" y="3529584"/>
            <a:ext cx="128016" cy="146304"/>
          </a:xfrm>
          <a:prstGeom prst="triangle">
            <a:avLst/>
          </a:prstGeom>
          <a:solidFill>
            <a:srgbClr val="FFFFFF"/>
          </a:solidFill>
          <a:ln w="12700">
            <a:solidFill>
              <a:srgbClr val="FFFFFF"/>
            </a:solidFill>
            <a:prstDash val="solid"/>
          </a:ln>
        </p:spPr>
      </p:sp>
      <p:sp>
        <p:nvSpPr>
          <p:cNvPr id="16" name="Ad link"/>
          <p:cNvSpPr txBox="1"/>
          <p:nvPr/>
        </p:nvSpPr>
        <p:spPr>
          <a:xfrm>
            <a:off x="1069848" y="3337560"/>
            <a:ext cx="3291840" cy="530352"/>
          </a:xfrm>
          <a:prstGeom prst="rect">
            <a:avLst/>
          </a:prstGeom>
          <a:noFill/>
          <a:ln/>
        </p:spPr>
        <p:txBody>
          <a:bodyPr wrap="square" lIns="0" tIns="0" rIns="0" bIns="0" rtlCol="0" anchor="ctr"/>
          <a:lstStyle/>
          <a:p>
            <a:pPr indent="0" marL="0">
              <a:buNone/>
            </a:pPr>
            <a:r>
              <a:rPr lang="en-US" sz="1400" b="1" u="sng" dirty="0">
                <a:solidFill>
                  <a:srgbClr val="3C6EA8"/>
                </a:solidFill>
                <a:hlinkClick r:id="rId3" invalidUrl="" action="" tgtFrame="" tooltip="“Frustrating Times”" history="1" highlightClick="0" endSnd="0">
                  <a:extLst>
                    <a:ext uri="{A12FA001-AC4F-418D-AE19-62706E023703}">
                      <ahyp:hlinkClr xmlns:ahyp="http://schemas.microsoft.com/office/drawing/2018/hyperlinkcolor" val="tx"/>
                    </a:ext>
                  </a:extLst>
                </a:hlinkClick>
              </a:rPr>
              <a:t>“Frustrating Times”</a:t>
            </a:r>
            <a:endParaRPr lang="en-US" sz="1400" dirty="0"/>
          </a:p>
          <a:p>
            <a:pPr indent="0" marL="0">
              <a:buNone/>
            </a:pPr>
            <a:r>
              <a:rPr lang="en-US" sz="1100" dirty="0">
                <a:solidFill>
                  <a:srgbClr val="8A94A6"/>
                </a:solidFill>
              </a:rPr>
              <a:t>Collins · sportscaster Bill Green vouches for her</a:t>
            </a:r>
            <a:endParaRPr lang="en-US" sz="1400" dirty="0"/>
          </a:p>
        </p:txBody>
      </p:sp>
      <p:sp>
        <p:nvSpPr>
          <p:cNvPr id="17" name="Ad card"/>
          <p:cNvSpPr/>
          <p:nvPr/>
        </p:nvSpPr>
        <p:spPr>
          <a:xfrm>
            <a:off x="502920" y="4023360"/>
            <a:ext cx="3931920" cy="621792"/>
          </a:xfrm>
          <a:prstGeom prst="roundRect">
            <a:avLst>
              <a:gd name="adj" fmla="val 11765"/>
            </a:avLst>
          </a:prstGeom>
          <a:solidFill>
            <a:schemeClr val="bg2"/>
          </a:solidFill>
          <a:ln w="12700">
            <a:solidFill>
              <a:schemeClr val="bg2"/>
            </a:solidFill>
            <a:prstDash val="solid"/>
          </a:ln>
        </p:spPr>
      </p:sp>
      <p:sp>
        <p:nvSpPr>
          <p:cNvPr id="18" name="Play icon"/>
          <p:cNvSpPr/>
          <p:nvPr/>
        </p:nvSpPr>
        <p:spPr>
          <a:xfrm>
            <a:off x="640080" y="4178808"/>
            <a:ext cx="310896" cy="310896"/>
          </a:xfrm>
          <a:prstGeom prst="ellipse">
            <a:avLst/>
          </a:prstGeom>
          <a:solidFill>
            <a:srgbClr val="B23A3A"/>
          </a:solidFill>
          <a:ln w="12700">
            <a:solidFill>
              <a:srgbClr val="B23A3A"/>
            </a:solidFill>
            <a:prstDash val="solid"/>
          </a:ln>
        </p:spPr>
      </p:sp>
      <p:sp>
        <p:nvSpPr>
          <p:cNvPr id="19" name="Play triangle"/>
          <p:cNvSpPr/>
          <p:nvPr/>
        </p:nvSpPr>
        <p:spPr>
          <a:xfrm rot="5400000">
            <a:off x="749808" y="4261104"/>
            <a:ext cx="128016" cy="146304"/>
          </a:xfrm>
          <a:prstGeom prst="triangle">
            <a:avLst/>
          </a:prstGeom>
          <a:solidFill>
            <a:srgbClr val="FFFFFF"/>
          </a:solidFill>
          <a:ln w="12700">
            <a:solidFill>
              <a:srgbClr val="FFFFFF"/>
            </a:solidFill>
            <a:prstDash val="solid"/>
          </a:ln>
        </p:spPr>
      </p:sp>
      <p:sp>
        <p:nvSpPr>
          <p:cNvPr id="20" name="Ad link"/>
          <p:cNvSpPr txBox="1"/>
          <p:nvPr/>
        </p:nvSpPr>
        <p:spPr>
          <a:xfrm>
            <a:off x="1069848" y="4069080"/>
            <a:ext cx="3291840" cy="530352"/>
          </a:xfrm>
          <a:prstGeom prst="rect">
            <a:avLst/>
          </a:prstGeom>
          <a:noFill/>
          <a:ln/>
        </p:spPr>
        <p:txBody>
          <a:bodyPr wrap="square" lIns="0" tIns="0" rIns="0" bIns="0" rtlCol="0" anchor="ctr"/>
          <a:lstStyle/>
          <a:p>
            <a:pPr indent="0" marL="0">
              <a:buNone/>
            </a:pPr>
            <a:r>
              <a:rPr lang="en-US" sz="1400" b="1" u="sng" dirty="0">
                <a:solidFill>
                  <a:srgbClr val="3C6EA8"/>
                </a:solidFill>
                <a:hlinkClick r:id="rId4" invalidUrl="" action="" tgtFrame="" tooltip="“Family Got Paid, We Got Played”" history="1" highlightClick="0" endSnd="0">
                  <a:extLst>
                    <a:ext uri="{A12FA001-AC4F-418D-AE19-62706E023703}">
                      <ahyp:hlinkClr xmlns:ahyp="http://schemas.microsoft.com/office/drawing/2018/hyperlinkcolor" val="tx"/>
                    </a:ext>
                  </a:extLst>
                </a:hlinkClick>
              </a:rPr>
              <a:t>“Family Got Paid, We Got Played”</a:t>
            </a:r>
            <a:endParaRPr lang="en-US" sz="1400" dirty="0"/>
          </a:p>
          <a:p>
            <a:pPr indent="0" marL="0">
              <a:buNone/>
            </a:pPr>
            <a:r>
              <a:rPr lang="en-US" sz="1100" dirty="0">
                <a:solidFill>
                  <a:srgbClr val="8A94A6"/>
                </a:solidFill>
              </a:rPr>
              <a:t>Super PAC attack ad on Jackson</a:t>
            </a:r>
            <a:endParaRPr lang="en-US" sz="1400" dirty="0"/>
          </a:p>
        </p:txBody>
      </p:sp>
      <p:sp>
        <p:nvSpPr>
          <p:cNvPr id="21" name="Social media"/>
          <p:cNvSpPr txBox="1"/>
          <p:nvPr/>
        </p:nvSpPr>
        <p:spPr>
          <a:xfrm>
            <a:off x="4663440" y="1417320"/>
            <a:ext cx="3931920" cy="320040"/>
          </a:xfrm>
          <a:prstGeom prst="rect">
            <a:avLst/>
          </a:prstGeom>
          <a:noFill/>
          <a:ln/>
        </p:spPr>
        <p:txBody>
          <a:bodyPr wrap="square" lIns="0" tIns="0" rIns="0" bIns="0" rtlCol="0" anchor="ctr"/>
          <a:lstStyle/>
          <a:p>
            <a:pPr indent="0" marL="0">
              <a:buNone/>
            </a:pPr>
            <a:r>
              <a:rPr lang="en-US" sz="1400" b="1" dirty="0">
                <a:solidFill>
                  <a:schemeClr val="tx2"/>
                </a:solidFill>
              </a:rPr>
              <a:t>Social media</a:t>
            </a:r>
            <a:endParaRPr lang="en-US" sz="1400" dirty="0"/>
          </a:p>
        </p:txBody>
      </p:sp>
      <p:sp>
        <p:nvSpPr>
          <p:cNvPr id="22" name="Ad card"/>
          <p:cNvSpPr/>
          <p:nvPr/>
        </p:nvSpPr>
        <p:spPr>
          <a:xfrm>
            <a:off x="4663440" y="1828800"/>
            <a:ext cx="3931920" cy="621792"/>
          </a:xfrm>
          <a:prstGeom prst="roundRect">
            <a:avLst>
              <a:gd name="adj" fmla="val 11765"/>
            </a:avLst>
          </a:prstGeom>
          <a:solidFill>
            <a:schemeClr val="bg2"/>
          </a:solidFill>
          <a:ln w="12700">
            <a:solidFill>
              <a:schemeClr val="bg2"/>
            </a:solidFill>
            <a:prstDash val="solid"/>
          </a:ln>
        </p:spPr>
      </p:sp>
      <p:sp>
        <p:nvSpPr>
          <p:cNvPr id="23" name="Play icon"/>
          <p:cNvSpPr/>
          <p:nvPr/>
        </p:nvSpPr>
        <p:spPr>
          <a:xfrm>
            <a:off x="4800600" y="1984248"/>
            <a:ext cx="310896" cy="310896"/>
          </a:xfrm>
          <a:prstGeom prst="ellipse">
            <a:avLst/>
          </a:prstGeom>
          <a:solidFill>
            <a:srgbClr val="B23A3A"/>
          </a:solidFill>
          <a:ln w="12700">
            <a:solidFill>
              <a:srgbClr val="B23A3A"/>
            </a:solidFill>
            <a:prstDash val="solid"/>
          </a:ln>
        </p:spPr>
      </p:sp>
      <p:sp>
        <p:nvSpPr>
          <p:cNvPr id="24" name="Play triangle"/>
          <p:cNvSpPr/>
          <p:nvPr/>
        </p:nvSpPr>
        <p:spPr>
          <a:xfrm rot="5400000">
            <a:off x="4910328" y="2066544"/>
            <a:ext cx="128016" cy="146304"/>
          </a:xfrm>
          <a:prstGeom prst="triangle">
            <a:avLst/>
          </a:prstGeom>
          <a:solidFill>
            <a:srgbClr val="FFFFFF"/>
          </a:solidFill>
          <a:ln w="12700">
            <a:solidFill>
              <a:srgbClr val="FFFFFF"/>
            </a:solidFill>
            <a:prstDash val="solid"/>
          </a:ln>
        </p:spPr>
      </p:sp>
      <p:sp>
        <p:nvSpPr>
          <p:cNvPr id="25" name="Ad link"/>
          <p:cNvSpPr txBox="1"/>
          <p:nvPr/>
        </p:nvSpPr>
        <p:spPr>
          <a:xfrm>
            <a:off x="5230368" y="1874520"/>
            <a:ext cx="3291840" cy="530352"/>
          </a:xfrm>
          <a:prstGeom prst="rect">
            <a:avLst/>
          </a:prstGeom>
          <a:noFill/>
          <a:ln/>
        </p:spPr>
        <p:txBody>
          <a:bodyPr wrap="square" lIns="0" tIns="0" rIns="0" bIns="0" rtlCol="0" anchor="ctr"/>
          <a:lstStyle/>
          <a:p>
            <a:pPr indent="0" marL="0">
              <a:buNone/>
            </a:pPr>
            <a:r>
              <a:rPr lang="en-US" sz="1400" b="1" u="sng" dirty="0">
                <a:solidFill>
                  <a:srgbClr val="3C6EA8"/>
                </a:solidFill>
                <a:hlinkClick r:id="rId5" invalidUrl="" action="" tgtFrame="" tooltip="“I’m running”" history="1" highlightClick="0" endSnd="0">
                  <a:extLst>
                    <a:ext uri="{A12FA001-AC4F-418D-AE19-62706E023703}">
                      <ahyp:hlinkClr xmlns:ahyp="http://schemas.microsoft.com/office/drawing/2018/hyperlinkcolor" val="tx"/>
                    </a:ext>
                  </a:extLst>
                </a:hlinkClick>
              </a:rPr>
              <a:t>“I’m running”</a:t>
            </a:r>
            <a:endParaRPr lang="en-US" sz="1400" dirty="0"/>
          </a:p>
          <a:p>
            <a:pPr indent="0" marL="0">
              <a:buNone/>
            </a:pPr>
            <a:r>
              <a:rPr lang="en-US" sz="1100" dirty="0">
                <a:solidFill>
                  <a:srgbClr val="8A94A6"/>
                </a:solidFill>
              </a:rPr>
              <a:t>Collins · launch video with new running shoes (X)</a:t>
            </a:r>
            <a:endParaRPr lang="en-US" sz="1400" dirty="0"/>
          </a:p>
        </p:txBody>
      </p:sp>
      <p:sp>
        <p:nvSpPr>
          <p:cNvPr id="26" name="Ad card"/>
          <p:cNvSpPr/>
          <p:nvPr/>
        </p:nvSpPr>
        <p:spPr>
          <a:xfrm>
            <a:off x="4663440" y="2560320"/>
            <a:ext cx="3931920" cy="621792"/>
          </a:xfrm>
          <a:prstGeom prst="roundRect">
            <a:avLst>
              <a:gd name="adj" fmla="val 11765"/>
            </a:avLst>
          </a:prstGeom>
          <a:solidFill>
            <a:schemeClr val="bg2"/>
          </a:solidFill>
          <a:ln w="12700">
            <a:solidFill>
              <a:schemeClr val="bg2"/>
            </a:solidFill>
            <a:prstDash val="solid"/>
          </a:ln>
        </p:spPr>
      </p:sp>
      <p:sp>
        <p:nvSpPr>
          <p:cNvPr id="27" name="Play icon"/>
          <p:cNvSpPr/>
          <p:nvPr/>
        </p:nvSpPr>
        <p:spPr>
          <a:xfrm>
            <a:off x="4800600" y="2715768"/>
            <a:ext cx="310896" cy="310896"/>
          </a:xfrm>
          <a:prstGeom prst="ellipse">
            <a:avLst/>
          </a:prstGeom>
          <a:solidFill>
            <a:srgbClr val="3C6EA8"/>
          </a:solidFill>
          <a:ln w="12700">
            <a:solidFill>
              <a:srgbClr val="3C6EA8"/>
            </a:solidFill>
            <a:prstDash val="solid"/>
          </a:ln>
        </p:spPr>
      </p:sp>
      <p:sp>
        <p:nvSpPr>
          <p:cNvPr id="28" name="Play triangle"/>
          <p:cNvSpPr/>
          <p:nvPr/>
        </p:nvSpPr>
        <p:spPr>
          <a:xfrm rot="5400000">
            <a:off x="4910328" y="2798064"/>
            <a:ext cx="128016" cy="146304"/>
          </a:xfrm>
          <a:prstGeom prst="triangle">
            <a:avLst/>
          </a:prstGeom>
          <a:solidFill>
            <a:srgbClr val="FFFFFF"/>
          </a:solidFill>
          <a:ln w="12700">
            <a:solidFill>
              <a:srgbClr val="FFFFFF"/>
            </a:solidFill>
            <a:prstDash val="solid"/>
          </a:ln>
        </p:spPr>
      </p:sp>
      <p:sp>
        <p:nvSpPr>
          <p:cNvPr id="29" name="Ad link"/>
          <p:cNvSpPr txBox="1"/>
          <p:nvPr/>
        </p:nvSpPr>
        <p:spPr>
          <a:xfrm>
            <a:off x="5230368" y="2606040"/>
            <a:ext cx="3291840" cy="530352"/>
          </a:xfrm>
          <a:prstGeom prst="rect">
            <a:avLst/>
          </a:prstGeom>
          <a:noFill/>
          <a:ln/>
        </p:spPr>
        <p:txBody>
          <a:bodyPr wrap="square" lIns="0" tIns="0" rIns="0" bIns="0" rtlCol="0" anchor="ctr"/>
          <a:lstStyle/>
          <a:p>
            <a:pPr indent="0" marL="0">
              <a:buNone/>
            </a:pPr>
            <a:r>
              <a:rPr lang="en-US" sz="1400" b="1" u="sng" dirty="0">
                <a:solidFill>
                  <a:srgbClr val="3C6EA8"/>
                </a:solidFill>
                <a:hlinkClick r:id="rId6" invalidUrl="" action="" tgtFrame="" tooltip="Boba tea video" history="1" highlightClick="0" endSnd="0">
                  <a:extLst>
                    <a:ext uri="{A12FA001-AC4F-418D-AE19-62706E023703}">
                      <ahyp:hlinkClr xmlns:ahyp="http://schemas.microsoft.com/office/drawing/2018/hyperlinkcolor" val="tx"/>
                    </a:ext>
                  </a:extLst>
                </a:hlinkClick>
              </a:rPr>
              <a:t>Boba tea video</a:t>
            </a:r>
            <a:endParaRPr lang="en-US" sz="1400" dirty="0"/>
          </a:p>
          <a:p>
            <a:pPr indent="0" marL="0">
              <a:buNone/>
            </a:pPr>
            <a:r>
              <a:rPr lang="en-US" sz="1100" dirty="0">
                <a:solidFill>
                  <a:srgbClr val="8A94A6"/>
                </a:solidFill>
              </a:rPr>
              <a:t>Jackson mocks GOP ad spending (X; Fox News clip)</a:t>
            </a:r>
            <a:endParaRPr lang="en-US" sz="1400" dirty="0"/>
          </a:p>
        </p:txBody>
      </p:sp>
      <p:sp>
        <p:nvSpPr>
          <p:cNvPr id="30" name="Legend"/>
          <p:cNvSpPr txBox="1"/>
          <p:nvPr/>
        </p:nvSpPr>
        <p:spPr>
          <a:xfrm>
            <a:off x="502920" y="4754880"/>
            <a:ext cx="8138160" cy="228600"/>
          </a:xfrm>
          <a:prstGeom prst="rect">
            <a:avLst/>
          </a:prstGeom>
          <a:noFill/>
          <a:ln/>
        </p:spPr>
        <p:txBody>
          <a:bodyPr wrap="square" lIns="0" tIns="0" rIns="0" bIns="0" rtlCol="0" anchor="ctr"/>
          <a:lstStyle/>
          <a:p>
            <a:pPr indent="0" marL="0">
              <a:buNone/>
            </a:pPr>
            <a:r>
              <a:rPr lang="en-US" sz="900" b="1" dirty="0">
                <a:solidFill>
                  <a:srgbClr val="3C6EA8"/>
                </a:solidFill>
              </a:rPr>
              <a:t>Blue</a:t>
            </a:r>
            <a:pPr indent="0" marL="0">
              <a:buNone/>
            </a:pPr>
            <a:r>
              <a:rPr lang="en-US" sz="900" dirty="0">
                <a:solidFill>
                  <a:schemeClr val="accent5"/>
                </a:solidFill>
              </a:rPr>
              <a:t> = Democratic side   </a:t>
            </a:r>
            <a:pPr indent="0" marL="0">
              <a:buNone/>
            </a:pPr>
            <a:r>
              <a:rPr lang="en-US" sz="900" b="1" dirty="0">
                <a:solidFill>
                  <a:srgbClr val="B23A3A"/>
                </a:solidFill>
              </a:rPr>
              <a:t>Red</a:t>
            </a:r>
            <a:pPr indent="0" marL="0">
              <a:buNone/>
            </a:pPr>
            <a:r>
              <a:rPr lang="en-US" sz="900" dirty="0">
                <a:solidFill>
                  <a:schemeClr val="accent5"/>
                </a:solidFill>
              </a:rPr>
              <a:t> = Republican side   ·   Click a title to open the ad</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502920" y="365760"/>
            <a:ext cx="8229600" cy="731520"/>
          </a:xfrm>
          <a:prstGeom prst="rect">
            <a:avLst/>
          </a:prstGeom>
          <a:noFill/>
          <a:ln/>
        </p:spPr>
        <p:txBody>
          <a:bodyPr wrap="square" lIns="0" tIns="0" rIns="0" bIns="0" rtlCol="0" anchor="t"/>
          <a:lstStyle/>
          <a:p>
            <a:pPr indent="0" marL="0">
              <a:buNone/>
            </a:pPr>
            <a:r>
              <a:rPr lang="en-US" sz="2800" b="1" dirty="0">
                <a:solidFill>
                  <a:schemeClr val="tx1"/>
                </a:solidFill>
                <a:latin typeface="Georgia" pitchFamily="34" charset="0"/>
                <a:ea typeface="Georgia" pitchFamily="34" charset="-122"/>
                <a:cs typeface="Georgia" pitchFamily="34" charset="-120"/>
              </a:rPr>
              <a:t>Political Ads: Texas</a:t>
            </a:r>
            <a:endParaRPr lang="en-US" sz="2800" dirty="0"/>
          </a:p>
        </p:txBody>
      </p:sp>
      <p:sp>
        <p:nvSpPr>
          <p:cNvPr id="3" name="Race context"/>
          <p:cNvSpPr txBox="1"/>
          <p:nvPr/>
        </p:nvSpPr>
        <p:spPr>
          <a:xfrm>
            <a:off x="502920" y="960120"/>
            <a:ext cx="8138160" cy="320040"/>
          </a:xfrm>
          <a:prstGeom prst="rect">
            <a:avLst/>
          </a:prstGeom>
          <a:noFill/>
          <a:ln/>
        </p:spPr>
        <p:txBody>
          <a:bodyPr wrap="square" lIns="0" tIns="0" rIns="0" bIns="0" rtlCol="0" anchor="ctr"/>
          <a:lstStyle/>
          <a:p>
            <a:pPr indent="0" marL="0">
              <a:buNone/>
            </a:pPr>
            <a:r>
              <a:rPr lang="en-US" sz="1300" dirty="0">
                <a:solidFill>
                  <a:schemeClr val="accent5"/>
                </a:solidFill>
              </a:rPr>
              <a:t>Ken Paxton (R, Texas Attorney General) vs. James Talarico (D, state representative)</a:t>
            </a:r>
            <a:endParaRPr lang="en-US" sz="1300" dirty="0"/>
          </a:p>
        </p:txBody>
      </p:sp>
      <p:sp>
        <p:nvSpPr>
          <p:cNvPr id="4" name="TV ads"/>
          <p:cNvSpPr txBox="1"/>
          <p:nvPr/>
        </p:nvSpPr>
        <p:spPr>
          <a:xfrm>
            <a:off x="502920" y="1417320"/>
            <a:ext cx="3931920" cy="320040"/>
          </a:xfrm>
          <a:prstGeom prst="rect">
            <a:avLst/>
          </a:prstGeom>
          <a:noFill/>
          <a:ln/>
        </p:spPr>
        <p:txBody>
          <a:bodyPr wrap="square" lIns="0" tIns="0" rIns="0" bIns="0" rtlCol="0" anchor="ctr"/>
          <a:lstStyle/>
          <a:p>
            <a:pPr indent="0" marL="0">
              <a:buNone/>
            </a:pPr>
            <a:r>
              <a:rPr lang="en-US" sz="1400" b="1" dirty="0">
                <a:solidFill>
                  <a:schemeClr val="tx2"/>
                </a:solidFill>
              </a:rPr>
              <a:t>TV ads</a:t>
            </a:r>
            <a:endParaRPr lang="en-US" sz="1400" dirty="0"/>
          </a:p>
        </p:txBody>
      </p:sp>
      <p:sp>
        <p:nvSpPr>
          <p:cNvPr id="5" name="Ad card"/>
          <p:cNvSpPr/>
          <p:nvPr/>
        </p:nvSpPr>
        <p:spPr>
          <a:xfrm>
            <a:off x="502920" y="1828800"/>
            <a:ext cx="3931920" cy="621792"/>
          </a:xfrm>
          <a:prstGeom prst="roundRect">
            <a:avLst>
              <a:gd name="adj" fmla="val 11765"/>
            </a:avLst>
          </a:prstGeom>
          <a:solidFill>
            <a:schemeClr val="bg2"/>
          </a:solidFill>
          <a:ln w="12700">
            <a:solidFill>
              <a:schemeClr val="bg2"/>
            </a:solidFill>
            <a:prstDash val="solid"/>
          </a:ln>
        </p:spPr>
      </p:sp>
      <p:sp>
        <p:nvSpPr>
          <p:cNvPr id="6" name="Play icon"/>
          <p:cNvSpPr/>
          <p:nvPr/>
        </p:nvSpPr>
        <p:spPr>
          <a:xfrm>
            <a:off x="640080" y="1984248"/>
            <a:ext cx="310896" cy="310896"/>
          </a:xfrm>
          <a:prstGeom prst="ellipse">
            <a:avLst/>
          </a:prstGeom>
          <a:solidFill>
            <a:srgbClr val="3C6EA8"/>
          </a:solidFill>
          <a:ln w="12700">
            <a:solidFill>
              <a:srgbClr val="3C6EA8"/>
            </a:solidFill>
            <a:prstDash val="solid"/>
          </a:ln>
        </p:spPr>
      </p:sp>
      <p:sp>
        <p:nvSpPr>
          <p:cNvPr id="7" name="Play triangle"/>
          <p:cNvSpPr/>
          <p:nvPr/>
        </p:nvSpPr>
        <p:spPr>
          <a:xfrm rot="5400000">
            <a:off x="749808" y="2066544"/>
            <a:ext cx="128016" cy="146304"/>
          </a:xfrm>
          <a:prstGeom prst="triangle">
            <a:avLst/>
          </a:prstGeom>
          <a:solidFill>
            <a:srgbClr val="FFFFFF"/>
          </a:solidFill>
          <a:ln w="12700">
            <a:solidFill>
              <a:srgbClr val="FFFFFF"/>
            </a:solidFill>
            <a:prstDash val="solid"/>
          </a:ln>
        </p:spPr>
      </p:sp>
      <p:sp>
        <p:nvSpPr>
          <p:cNvPr id="8" name="Ad link"/>
          <p:cNvSpPr txBox="1"/>
          <p:nvPr/>
        </p:nvSpPr>
        <p:spPr>
          <a:xfrm>
            <a:off x="1069848" y="1874520"/>
            <a:ext cx="3291840" cy="530352"/>
          </a:xfrm>
          <a:prstGeom prst="rect">
            <a:avLst/>
          </a:prstGeom>
          <a:noFill/>
          <a:ln/>
        </p:spPr>
        <p:txBody>
          <a:bodyPr wrap="square" lIns="0" tIns="0" rIns="0" bIns="0" rtlCol="0" anchor="ctr"/>
          <a:lstStyle/>
          <a:p>
            <a:pPr indent="0" marL="0">
              <a:buNone/>
            </a:pPr>
            <a:r>
              <a:rPr lang="en-US" sz="1400" b="1" u="sng" dirty="0">
                <a:solidFill>
                  <a:srgbClr val="3C6EA8"/>
                </a:solidFill>
                <a:hlinkClick r:id="rId1" invalidUrl="" action="" tgtFrame="" tooltip="“Waking Up”" history="1" highlightClick="0" endSnd="0">
                  <a:extLst>
                    <a:ext uri="{A12FA001-AC4F-418D-AE19-62706E023703}">
                      <ahyp:hlinkClr xmlns:ahyp="http://schemas.microsoft.com/office/drawing/2018/hyperlinkcolor" val="tx"/>
                    </a:ext>
                  </a:extLst>
                </a:hlinkClick>
              </a:rPr>
              <a:t>“Waking Up”</a:t>
            </a:r>
            <a:endParaRPr lang="en-US" sz="1400" dirty="0"/>
          </a:p>
          <a:p>
            <a:pPr indent="0" marL="0">
              <a:buNone/>
            </a:pPr>
            <a:r>
              <a:rPr lang="en-US" sz="1100" dirty="0">
                <a:solidFill>
                  <a:srgbClr val="8A94A6"/>
                </a:solidFill>
              </a:rPr>
              <a:t>Talarico · positive bio ad in a pickup truck</a:t>
            </a:r>
            <a:endParaRPr lang="en-US" sz="1400" dirty="0"/>
          </a:p>
        </p:txBody>
      </p:sp>
      <p:sp>
        <p:nvSpPr>
          <p:cNvPr id="9" name="Ad card"/>
          <p:cNvSpPr/>
          <p:nvPr/>
        </p:nvSpPr>
        <p:spPr>
          <a:xfrm>
            <a:off x="502920" y="2560320"/>
            <a:ext cx="3931920" cy="621792"/>
          </a:xfrm>
          <a:prstGeom prst="roundRect">
            <a:avLst>
              <a:gd name="adj" fmla="val 11765"/>
            </a:avLst>
          </a:prstGeom>
          <a:solidFill>
            <a:schemeClr val="bg2"/>
          </a:solidFill>
          <a:ln w="12700">
            <a:solidFill>
              <a:schemeClr val="bg2"/>
            </a:solidFill>
            <a:prstDash val="solid"/>
          </a:ln>
        </p:spPr>
      </p:sp>
      <p:sp>
        <p:nvSpPr>
          <p:cNvPr id="10" name="Play icon"/>
          <p:cNvSpPr/>
          <p:nvPr/>
        </p:nvSpPr>
        <p:spPr>
          <a:xfrm>
            <a:off x="640080" y="2715768"/>
            <a:ext cx="310896" cy="310896"/>
          </a:xfrm>
          <a:prstGeom prst="ellipse">
            <a:avLst/>
          </a:prstGeom>
          <a:solidFill>
            <a:srgbClr val="3C6EA8"/>
          </a:solidFill>
          <a:ln w="12700">
            <a:solidFill>
              <a:srgbClr val="3C6EA8"/>
            </a:solidFill>
            <a:prstDash val="solid"/>
          </a:ln>
        </p:spPr>
      </p:sp>
      <p:sp>
        <p:nvSpPr>
          <p:cNvPr id="11" name="Play triangle"/>
          <p:cNvSpPr/>
          <p:nvPr/>
        </p:nvSpPr>
        <p:spPr>
          <a:xfrm rot="5400000">
            <a:off x="749808" y="2798064"/>
            <a:ext cx="128016" cy="146304"/>
          </a:xfrm>
          <a:prstGeom prst="triangle">
            <a:avLst/>
          </a:prstGeom>
          <a:solidFill>
            <a:srgbClr val="FFFFFF"/>
          </a:solidFill>
          <a:ln w="12700">
            <a:solidFill>
              <a:srgbClr val="FFFFFF"/>
            </a:solidFill>
            <a:prstDash val="solid"/>
          </a:ln>
        </p:spPr>
      </p:sp>
      <p:sp>
        <p:nvSpPr>
          <p:cNvPr id="12" name="Ad link"/>
          <p:cNvSpPr txBox="1"/>
          <p:nvPr/>
        </p:nvSpPr>
        <p:spPr>
          <a:xfrm>
            <a:off x="1069848" y="2606040"/>
            <a:ext cx="3291840" cy="530352"/>
          </a:xfrm>
          <a:prstGeom prst="rect">
            <a:avLst/>
          </a:prstGeom>
          <a:noFill/>
          <a:ln/>
        </p:spPr>
        <p:txBody>
          <a:bodyPr wrap="square" lIns="0" tIns="0" rIns="0" bIns="0" rtlCol="0" anchor="ctr"/>
          <a:lstStyle/>
          <a:p>
            <a:pPr indent="0" marL="0">
              <a:buNone/>
            </a:pPr>
            <a:r>
              <a:rPr lang="en-US" sz="1400" b="1" u="sng" dirty="0">
                <a:solidFill>
                  <a:srgbClr val="3C6EA8"/>
                </a:solidFill>
                <a:hlinkClick r:id="rId2" invalidUrl="" action="" tgtFrame="" tooltip="“Most Corrupt”" history="1" highlightClick="0" endSnd="0">
                  <a:extLst>
                    <a:ext uri="{A12FA001-AC4F-418D-AE19-62706E023703}">
                      <ahyp:hlinkClr xmlns:ahyp="http://schemas.microsoft.com/office/drawing/2018/hyperlinkcolor" val="tx"/>
                    </a:ext>
                  </a:extLst>
                </a:hlinkClick>
              </a:rPr>
              <a:t>“Most Corrupt”</a:t>
            </a:r>
            <a:endParaRPr lang="en-US" sz="1400" dirty="0"/>
          </a:p>
          <a:p>
            <a:pPr indent="0" marL="0">
              <a:buNone/>
            </a:pPr>
            <a:r>
              <a:rPr lang="en-US" sz="1100" dirty="0">
                <a:solidFill>
                  <a:srgbClr val="8A94A6"/>
                </a:solidFill>
              </a:rPr>
              <a:t>Talarico · his first negative TV ad</a:t>
            </a:r>
            <a:endParaRPr lang="en-US" sz="1400" dirty="0"/>
          </a:p>
        </p:txBody>
      </p:sp>
      <p:sp>
        <p:nvSpPr>
          <p:cNvPr id="13" name="Ad card"/>
          <p:cNvSpPr/>
          <p:nvPr/>
        </p:nvSpPr>
        <p:spPr>
          <a:xfrm>
            <a:off x="502920" y="3291840"/>
            <a:ext cx="3931920" cy="621792"/>
          </a:xfrm>
          <a:prstGeom prst="roundRect">
            <a:avLst>
              <a:gd name="adj" fmla="val 11765"/>
            </a:avLst>
          </a:prstGeom>
          <a:solidFill>
            <a:schemeClr val="bg2"/>
          </a:solidFill>
          <a:ln w="12700">
            <a:solidFill>
              <a:schemeClr val="bg2"/>
            </a:solidFill>
            <a:prstDash val="solid"/>
          </a:ln>
        </p:spPr>
      </p:sp>
      <p:sp>
        <p:nvSpPr>
          <p:cNvPr id="14" name="Play icon"/>
          <p:cNvSpPr/>
          <p:nvPr/>
        </p:nvSpPr>
        <p:spPr>
          <a:xfrm>
            <a:off x="640080" y="3447288"/>
            <a:ext cx="310896" cy="310896"/>
          </a:xfrm>
          <a:prstGeom prst="ellipse">
            <a:avLst/>
          </a:prstGeom>
          <a:solidFill>
            <a:srgbClr val="B23A3A"/>
          </a:solidFill>
          <a:ln w="12700">
            <a:solidFill>
              <a:srgbClr val="B23A3A"/>
            </a:solidFill>
            <a:prstDash val="solid"/>
          </a:ln>
        </p:spPr>
      </p:sp>
      <p:sp>
        <p:nvSpPr>
          <p:cNvPr id="15" name="Play triangle"/>
          <p:cNvSpPr/>
          <p:nvPr/>
        </p:nvSpPr>
        <p:spPr>
          <a:xfrm rot="5400000">
            <a:off x="749808" y="3529584"/>
            <a:ext cx="128016" cy="146304"/>
          </a:xfrm>
          <a:prstGeom prst="triangle">
            <a:avLst/>
          </a:prstGeom>
          <a:solidFill>
            <a:srgbClr val="FFFFFF"/>
          </a:solidFill>
          <a:ln w="12700">
            <a:solidFill>
              <a:srgbClr val="FFFFFF"/>
            </a:solidFill>
            <a:prstDash val="solid"/>
          </a:ln>
        </p:spPr>
      </p:sp>
      <p:sp>
        <p:nvSpPr>
          <p:cNvPr id="16" name="Ad link"/>
          <p:cNvSpPr txBox="1"/>
          <p:nvPr/>
        </p:nvSpPr>
        <p:spPr>
          <a:xfrm>
            <a:off x="1069848" y="3337560"/>
            <a:ext cx="3291840" cy="530352"/>
          </a:xfrm>
          <a:prstGeom prst="rect">
            <a:avLst/>
          </a:prstGeom>
          <a:noFill/>
          <a:ln/>
        </p:spPr>
        <p:txBody>
          <a:bodyPr wrap="square" lIns="0" tIns="0" rIns="0" bIns="0" rtlCol="0" anchor="ctr"/>
          <a:lstStyle/>
          <a:p>
            <a:pPr indent="0" marL="0">
              <a:buNone/>
            </a:pPr>
            <a:r>
              <a:rPr lang="en-US" sz="1400" b="1" u="sng" dirty="0">
                <a:solidFill>
                  <a:srgbClr val="3C6EA8"/>
                </a:solidFill>
                <a:hlinkClick r:id="rId3" invalidUrl="" action="" tgtFrame="" tooltip="“King James”" history="1" highlightClick="0" endSnd="0">
                  <a:extLst>
                    <a:ext uri="{A12FA001-AC4F-418D-AE19-62706E023703}">
                      <ahyp:hlinkClr xmlns:ahyp="http://schemas.microsoft.com/office/drawing/2018/hyperlinkcolor" val="tx"/>
                    </a:ext>
                  </a:extLst>
                </a:hlinkClick>
              </a:rPr>
              <a:t>“King James”</a:t>
            </a:r>
            <a:endParaRPr lang="en-US" sz="1400" dirty="0"/>
          </a:p>
          <a:p>
            <a:pPr indent="0" marL="0">
              <a:buNone/>
            </a:pPr>
            <a:r>
              <a:rPr lang="en-US" sz="1100" dirty="0">
                <a:solidFill>
                  <a:srgbClr val="8A94A6"/>
                </a:solidFill>
              </a:rPr>
              <a:t>Paxton · uses an AI-generated Talarico</a:t>
            </a:r>
            <a:endParaRPr lang="en-US" sz="1400" dirty="0"/>
          </a:p>
        </p:txBody>
      </p:sp>
      <p:sp>
        <p:nvSpPr>
          <p:cNvPr id="17" name="Social media"/>
          <p:cNvSpPr txBox="1"/>
          <p:nvPr/>
        </p:nvSpPr>
        <p:spPr>
          <a:xfrm>
            <a:off x="4663440" y="1417320"/>
            <a:ext cx="3931920" cy="320040"/>
          </a:xfrm>
          <a:prstGeom prst="rect">
            <a:avLst/>
          </a:prstGeom>
          <a:noFill/>
          <a:ln/>
        </p:spPr>
        <p:txBody>
          <a:bodyPr wrap="square" lIns="0" tIns="0" rIns="0" bIns="0" rtlCol="0" anchor="ctr"/>
          <a:lstStyle/>
          <a:p>
            <a:pPr indent="0" marL="0">
              <a:buNone/>
            </a:pPr>
            <a:r>
              <a:rPr lang="en-US" sz="1400" b="1" dirty="0">
                <a:solidFill>
                  <a:schemeClr val="tx2"/>
                </a:solidFill>
              </a:rPr>
              <a:t>Social media</a:t>
            </a:r>
            <a:endParaRPr lang="en-US" sz="1400" dirty="0"/>
          </a:p>
        </p:txBody>
      </p:sp>
      <p:sp>
        <p:nvSpPr>
          <p:cNvPr id="18" name="Ad card"/>
          <p:cNvSpPr/>
          <p:nvPr/>
        </p:nvSpPr>
        <p:spPr>
          <a:xfrm>
            <a:off x="4663440" y="1828800"/>
            <a:ext cx="3931920" cy="621792"/>
          </a:xfrm>
          <a:prstGeom prst="roundRect">
            <a:avLst>
              <a:gd name="adj" fmla="val 11765"/>
            </a:avLst>
          </a:prstGeom>
          <a:solidFill>
            <a:schemeClr val="bg2"/>
          </a:solidFill>
          <a:ln w="12700">
            <a:solidFill>
              <a:schemeClr val="bg2"/>
            </a:solidFill>
            <a:prstDash val="solid"/>
          </a:ln>
        </p:spPr>
      </p:sp>
      <p:sp>
        <p:nvSpPr>
          <p:cNvPr id="19" name="Play icon"/>
          <p:cNvSpPr/>
          <p:nvPr/>
        </p:nvSpPr>
        <p:spPr>
          <a:xfrm>
            <a:off x="4800600" y="1984248"/>
            <a:ext cx="310896" cy="310896"/>
          </a:xfrm>
          <a:prstGeom prst="ellipse">
            <a:avLst/>
          </a:prstGeom>
          <a:solidFill>
            <a:srgbClr val="3C6EA8"/>
          </a:solidFill>
          <a:ln w="12700">
            <a:solidFill>
              <a:srgbClr val="3C6EA8"/>
            </a:solidFill>
            <a:prstDash val="solid"/>
          </a:ln>
        </p:spPr>
      </p:sp>
      <p:sp>
        <p:nvSpPr>
          <p:cNvPr id="20" name="Play triangle"/>
          <p:cNvSpPr/>
          <p:nvPr/>
        </p:nvSpPr>
        <p:spPr>
          <a:xfrm rot="5400000">
            <a:off x="4910328" y="2066544"/>
            <a:ext cx="128016" cy="146304"/>
          </a:xfrm>
          <a:prstGeom prst="triangle">
            <a:avLst/>
          </a:prstGeom>
          <a:solidFill>
            <a:srgbClr val="FFFFFF"/>
          </a:solidFill>
          <a:ln w="12700">
            <a:solidFill>
              <a:srgbClr val="FFFFFF"/>
            </a:solidFill>
            <a:prstDash val="solid"/>
          </a:ln>
        </p:spPr>
      </p:sp>
      <p:sp>
        <p:nvSpPr>
          <p:cNvPr id="21" name="Ad link"/>
          <p:cNvSpPr txBox="1"/>
          <p:nvPr/>
        </p:nvSpPr>
        <p:spPr>
          <a:xfrm>
            <a:off x="5230368" y="1874520"/>
            <a:ext cx="3291840" cy="530352"/>
          </a:xfrm>
          <a:prstGeom prst="rect">
            <a:avLst/>
          </a:prstGeom>
          <a:noFill/>
          <a:ln/>
        </p:spPr>
        <p:txBody>
          <a:bodyPr wrap="square" lIns="0" tIns="0" rIns="0" bIns="0" rtlCol="0" anchor="ctr"/>
          <a:lstStyle/>
          <a:p>
            <a:pPr indent="0" marL="0">
              <a:buNone/>
            </a:pPr>
            <a:r>
              <a:rPr lang="en-US" sz="1400" b="1" u="sng" dirty="0">
                <a:solidFill>
                  <a:srgbClr val="3C6EA8"/>
                </a:solidFill>
                <a:hlinkClick r:id="rId4" invalidUrl="" action="" tgtFrame="" tooltip="“Meet Ken Paxton”" history="1" highlightClick="0" endSnd="0">
                  <a:extLst>
                    <a:ext uri="{A12FA001-AC4F-418D-AE19-62706E023703}">
                      <ahyp:hlinkClr xmlns:ahyp="http://schemas.microsoft.com/office/drawing/2018/hyperlinkcolor" val="tx"/>
                    </a:ext>
                  </a:extLst>
                </a:hlinkClick>
              </a:rPr>
              <a:t>“Meet Ken Paxton”</a:t>
            </a:r>
            <a:endParaRPr lang="en-US" sz="1400" dirty="0"/>
          </a:p>
          <a:p>
            <a:pPr indent="0" marL="0">
              <a:buNone/>
            </a:pPr>
            <a:r>
              <a:rPr lang="en-US" sz="1100" dirty="0">
                <a:solidFill>
                  <a:srgbClr val="8A94A6"/>
                </a:solidFill>
              </a:rPr>
              <a:t>Talarico · online ad on Paxton’s scandals</a:t>
            </a:r>
            <a:endParaRPr lang="en-US" sz="1400" dirty="0"/>
          </a:p>
        </p:txBody>
      </p:sp>
      <p:sp>
        <p:nvSpPr>
          <p:cNvPr id="22" name="Ad card"/>
          <p:cNvSpPr/>
          <p:nvPr/>
        </p:nvSpPr>
        <p:spPr>
          <a:xfrm>
            <a:off x="4663440" y="2560320"/>
            <a:ext cx="3931920" cy="621792"/>
          </a:xfrm>
          <a:prstGeom prst="roundRect">
            <a:avLst>
              <a:gd name="adj" fmla="val 11765"/>
            </a:avLst>
          </a:prstGeom>
          <a:solidFill>
            <a:schemeClr val="bg2"/>
          </a:solidFill>
          <a:ln w="12700">
            <a:solidFill>
              <a:schemeClr val="bg2"/>
            </a:solidFill>
            <a:prstDash val="solid"/>
          </a:ln>
        </p:spPr>
      </p:sp>
      <p:sp>
        <p:nvSpPr>
          <p:cNvPr id="23" name="Play icon"/>
          <p:cNvSpPr/>
          <p:nvPr/>
        </p:nvSpPr>
        <p:spPr>
          <a:xfrm>
            <a:off x="4800600" y="2715768"/>
            <a:ext cx="310896" cy="310896"/>
          </a:xfrm>
          <a:prstGeom prst="ellipse">
            <a:avLst/>
          </a:prstGeom>
          <a:solidFill>
            <a:srgbClr val="3C6EA8"/>
          </a:solidFill>
          <a:ln w="12700">
            <a:solidFill>
              <a:srgbClr val="3C6EA8"/>
            </a:solidFill>
            <a:prstDash val="solid"/>
          </a:ln>
        </p:spPr>
      </p:sp>
      <p:sp>
        <p:nvSpPr>
          <p:cNvPr id="24" name="Play triangle"/>
          <p:cNvSpPr/>
          <p:nvPr/>
        </p:nvSpPr>
        <p:spPr>
          <a:xfrm rot="5400000">
            <a:off x="4910328" y="2798064"/>
            <a:ext cx="128016" cy="146304"/>
          </a:xfrm>
          <a:prstGeom prst="triangle">
            <a:avLst/>
          </a:prstGeom>
          <a:solidFill>
            <a:srgbClr val="FFFFFF"/>
          </a:solidFill>
          <a:ln w="12700">
            <a:solidFill>
              <a:srgbClr val="FFFFFF"/>
            </a:solidFill>
            <a:prstDash val="solid"/>
          </a:ln>
        </p:spPr>
      </p:sp>
      <p:sp>
        <p:nvSpPr>
          <p:cNvPr id="25" name="Ad link"/>
          <p:cNvSpPr txBox="1"/>
          <p:nvPr/>
        </p:nvSpPr>
        <p:spPr>
          <a:xfrm>
            <a:off x="5230368" y="2606040"/>
            <a:ext cx="3291840" cy="530352"/>
          </a:xfrm>
          <a:prstGeom prst="rect">
            <a:avLst/>
          </a:prstGeom>
          <a:noFill/>
          <a:ln/>
        </p:spPr>
        <p:txBody>
          <a:bodyPr wrap="square" lIns="0" tIns="0" rIns="0" bIns="0" rtlCol="0" anchor="ctr"/>
          <a:lstStyle/>
          <a:p>
            <a:pPr indent="0" marL="0">
              <a:buNone/>
            </a:pPr>
            <a:r>
              <a:rPr lang="en-US" sz="1400" b="1" u="sng" dirty="0">
                <a:solidFill>
                  <a:srgbClr val="3C6EA8"/>
                </a:solidFill>
                <a:hlinkClick r:id="rId5" invalidUrl="" action="" tgtFrame="" tooltip="“The People vs. Ken Paxton”" history="1" highlightClick="0" endSnd="0">
                  <a:extLst>
                    <a:ext uri="{A12FA001-AC4F-418D-AE19-62706E023703}">
                      <ahyp:hlinkClr xmlns:ahyp="http://schemas.microsoft.com/office/drawing/2018/hyperlinkcolor" val="tx"/>
                    </a:ext>
                  </a:extLst>
                </a:hlinkClick>
              </a:rPr>
              <a:t>“The People vs. Ken Paxton”</a:t>
            </a:r>
            <a:endParaRPr lang="en-US" sz="1400" dirty="0"/>
          </a:p>
          <a:p>
            <a:pPr indent="0" marL="0">
              <a:buNone/>
            </a:pPr>
            <a:r>
              <a:rPr lang="en-US" sz="1100" dirty="0">
                <a:solidFill>
                  <a:srgbClr val="8A94A6"/>
                </a:solidFill>
              </a:rPr>
              <a:t>Talarico · posted on X</a:t>
            </a:r>
            <a:endParaRPr lang="en-US" sz="1400" dirty="0"/>
          </a:p>
        </p:txBody>
      </p:sp>
      <p:sp>
        <p:nvSpPr>
          <p:cNvPr id="26" name="Ad card"/>
          <p:cNvSpPr/>
          <p:nvPr/>
        </p:nvSpPr>
        <p:spPr>
          <a:xfrm>
            <a:off x="4663440" y="3291840"/>
            <a:ext cx="3931920" cy="621792"/>
          </a:xfrm>
          <a:prstGeom prst="roundRect">
            <a:avLst>
              <a:gd name="adj" fmla="val 11765"/>
            </a:avLst>
          </a:prstGeom>
          <a:solidFill>
            <a:schemeClr val="bg2"/>
          </a:solidFill>
          <a:ln w="12700">
            <a:solidFill>
              <a:schemeClr val="bg2"/>
            </a:solidFill>
            <a:prstDash val="solid"/>
          </a:ln>
        </p:spPr>
      </p:sp>
      <p:sp>
        <p:nvSpPr>
          <p:cNvPr id="27" name="Play icon"/>
          <p:cNvSpPr/>
          <p:nvPr/>
        </p:nvSpPr>
        <p:spPr>
          <a:xfrm>
            <a:off x="4800600" y="3447288"/>
            <a:ext cx="310896" cy="310896"/>
          </a:xfrm>
          <a:prstGeom prst="ellipse">
            <a:avLst/>
          </a:prstGeom>
          <a:solidFill>
            <a:srgbClr val="B23A3A"/>
          </a:solidFill>
          <a:ln w="12700">
            <a:solidFill>
              <a:srgbClr val="B23A3A"/>
            </a:solidFill>
            <a:prstDash val="solid"/>
          </a:ln>
        </p:spPr>
      </p:sp>
      <p:sp>
        <p:nvSpPr>
          <p:cNvPr id="28" name="Play triangle"/>
          <p:cNvSpPr/>
          <p:nvPr/>
        </p:nvSpPr>
        <p:spPr>
          <a:xfrm rot="5400000">
            <a:off x="4910328" y="3529584"/>
            <a:ext cx="128016" cy="146304"/>
          </a:xfrm>
          <a:prstGeom prst="triangle">
            <a:avLst/>
          </a:prstGeom>
          <a:solidFill>
            <a:srgbClr val="FFFFFF"/>
          </a:solidFill>
          <a:ln w="12700">
            <a:solidFill>
              <a:srgbClr val="FFFFFF"/>
            </a:solidFill>
            <a:prstDash val="solid"/>
          </a:ln>
        </p:spPr>
      </p:sp>
      <p:sp>
        <p:nvSpPr>
          <p:cNvPr id="29" name="Ad link"/>
          <p:cNvSpPr txBox="1"/>
          <p:nvPr/>
        </p:nvSpPr>
        <p:spPr>
          <a:xfrm>
            <a:off x="5230368" y="3337560"/>
            <a:ext cx="3291840" cy="530352"/>
          </a:xfrm>
          <a:prstGeom prst="rect">
            <a:avLst/>
          </a:prstGeom>
          <a:noFill/>
          <a:ln/>
        </p:spPr>
        <p:txBody>
          <a:bodyPr wrap="square" lIns="0" tIns="0" rIns="0" bIns="0" rtlCol="0" anchor="ctr"/>
          <a:lstStyle/>
          <a:p>
            <a:pPr indent="0" marL="0">
              <a:buNone/>
            </a:pPr>
            <a:r>
              <a:rPr lang="en-US" sz="1400" b="1" u="sng" dirty="0">
                <a:solidFill>
                  <a:srgbClr val="3C6EA8"/>
                </a:solidFill>
                <a:hlinkClick r:id="rId6" invalidUrl="" action="" tgtFrame="" tooltip="Paxton’s first general-election ad" history="1" highlightClick="0" endSnd="0">
                  <a:extLst>
                    <a:ext uri="{A12FA001-AC4F-418D-AE19-62706E023703}">
                      <ahyp:hlinkClr xmlns:ahyp="http://schemas.microsoft.com/office/drawing/2018/hyperlinkcolor" val="tx"/>
                    </a:ext>
                  </a:extLst>
                </a:hlinkClick>
              </a:rPr>
              <a:t>Paxton’s first general-election ad</a:t>
            </a:r>
            <a:endParaRPr lang="en-US" sz="1400" dirty="0"/>
          </a:p>
          <a:p>
            <a:pPr indent="0" marL="0">
              <a:buNone/>
            </a:pPr>
            <a:r>
              <a:rPr lang="en-US" sz="1100" dirty="0">
                <a:solidFill>
                  <a:srgbClr val="8A94A6"/>
                </a:solidFill>
              </a:rPr>
              <a:t>Paxton · attacks Talarico’s views (X)</a:t>
            </a:r>
            <a:endParaRPr lang="en-US" sz="1400" dirty="0"/>
          </a:p>
        </p:txBody>
      </p:sp>
      <p:sp>
        <p:nvSpPr>
          <p:cNvPr id="30" name="Legend"/>
          <p:cNvSpPr txBox="1"/>
          <p:nvPr/>
        </p:nvSpPr>
        <p:spPr>
          <a:xfrm>
            <a:off x="502920" y="4754880"/>
            <a:ext cx="8138160" cy="228600"/>
          </a:xfrm>
          <a:prstGeom prst="rect">
            <a:avLst/>
          </a:prstGeom>
          <a:noFill/>
          <a:ln/>
        </p:spPr>
        <p:txBody>
          <a:bodyPr wrap="square" lIns="0" tIns="0" rIns="0" bIns="0" rtlCol="0" anchor="ctr"/>
          <a:lstStyle/>
          <a:p>
            <a:pPr indent="0" marL="0">
              <a:buNone/>
            </a:pPr>
            <a:r>
              <a:rPr lang="en-US" sz="900" b="1" dirty="0">
                <a:solidFill>
                  <a:srgbClr val="3C6EA8"/>
                </a:solidFill>
              </a:rPr>
              <a:t>Blue</a:t>
            </a:r>
            <a:pPr indent="0" marL="0">
              <a:buNone/>
            </a:pPr>
            <a:r>
              <a:rPr lang="en-US" sz="900" dirty="0">
                <a:solidFill>
                  <a:schemeClr val="accent5"/>
                </a:solidFill>
              </a:rPr>
              <a:t> = Democratic side   </a:t>
            </a:r>
            <a:pPr indent="0" marL="0">
              <a:buNone/>
            </a:pPr>
            <a:r>
              <a:rPr lang="en-US" sz="900" b="1" dirty="0">
                <a:solidFill>
                  <a:srgbClr val="B23A3A"/>
                </a:solidFill>
              </a:rPr>
              <a:t>Red</a:t>
            </a:r>
            <a:pPr indent="0" marL="0">
              <a:buNone/>
            </a:pPr>
            <a:r>
              <a:rPr lang="en-US" sz="900" dirty="0">
                <a:solidFill>
                  <a:schemeClr val="accent5"/>
                </a:solidFill>
              </a:rPr>
              <a:t> = Republican side   ·   Click a title to open the ad</a:t>
            </a:r>
            <a:endParaRPr lang="en-US" sz="900" dirty="0"/>
          </a:p>
        </p:txBody>
      </p:sp>
    </p:spTree>
  </p:cSld>
  <p:clrMapOvr>
    <a:masterClrMapping/>
  </p:clrMapOvr>
</p:sld>
</file>

<file path=ppt/theme/theme1.xml><?xml version="1.0" encoding="utf-8"?>
<a:theme xmlns:a="http://schemas.openxmlformats.org/drawingml/2006/main" name="Midterms">
  <a:themeElements>
    <a:clrScheme name="Midterms">
      <a:dk1>
        <a:srgbClr val="1B2A41"/>
      </a:dk1>
      <a:lt1>
        <a:srgbClr val="FFFFFF"/>
      </a:lt1>
      <a:dk2>
        <a:srgbClr val="B23A3A"/>
      </a:dk2>
      <a:lt2>
        <a:srgbClr val="EEF1F6"/>
      </a:lt2>
      <a:accent1>
        <a:srgbClr val="1B2A41"/>
      </a:accent1>
      <a:accent2>
        <a:srgbClr val="B23A3A"/>
      </a:accent2>
      <a:accent3>
        <a:srgbClr val="3C6EA8"/>
      </a:accent3>
      <a:accent4>
        <a:srgbClr val="D9A441"/>
      </a:accent4>
      <a:accent5>
        <a:srgbClr val="8A94A6"/>
      </a:accent5>
      <a:accent6>
        <a:srgbClr val="3E6B48"/>
      </a:accent6>
      <a:hlink>
        <a:srgbClr val="3C6EA8"/>
      </a:hlink>
      <a:folHlink>
        <a:srgbClr val="8A94A6"/>
      </a:folHlink>
    </a:clrScheme>
    <a:fontScheme name="Midterms">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 Midterm Elections</dc:title>
  <dc:subject>PptxGenJS Presentation</dc:subject>
  <dc:creator>Noah</dc:creator>
  <cp:lastModifiedBy>Noah</cp:lastModifiedBy>
  <cp:revision>1</cp:revision>
  <dcterms:created xsi:type="dcterms:W3CDTF">2026-10-15T07:46:53Z</dcterms:created>
  <dcterms:modified xsi:type="dcterms:W3CDTF">2026-10-15T07:46:53Z</dcterms:modified>
</cp:coreProperties>
</file>