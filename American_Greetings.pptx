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ff0b63ae-899c-11f1-07a1-e7751fe4ee45}">
          <p14:sldIdLst>
            <p14:sldId id="256"/>
            <p14:sldId id="257"/>
          </p14:sldIdLst>
        </p14:section>
        <p14:section name="The Handshake" id="{4705bc56-b306-e87b-d5cb-b97fbaf5b56b}">
          <p14:sldIdLst>
            <p14:sldId id="258"/>
            <p14:sldId id="259"/>
            <p14:sldId id="260"/>
            <p14:sldId id="261"/>
            <p14:sldId id="262"/>
          </p14:sldIdLst>
        </p14:section>
        <p14:section name="The Fist Bump" id="{f542beed-b142-bdf1-9c3e-3a0233fad1cd}">
          <p14:sldIdLst>
            <p14:sldId id="263"/>
            <p14:sldId id="264"/>
          </p14:sldIdLst>
        </p14:section>
        <p14:section name="The Dap" id="{34c65207-12cc-57c3-2f2c-486de4b22389}">
          <p14:sldIdLst>
            <p14:sldId id="265"/>
            <p14:sldId id="266"/>
          </p14:sldIdLst>
        </p14:section>
        <p14:section name="Greetings to Avoid" id="{5d496317-cfb0-5bff-560e-c87ebe3569a0}">
          <p14:sldIdLst>
            <p14:sldId id="267"/>
          </p14:sldIdLst>
        </p14:section>
        <p14:section name="Activity" id="{5cd6b1cb-66fc-a400-1da2-4a9bcf3c1ea4}">
          <p14:sldIdLst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the yellow button during the slideshow to open the sketch in your browser: https://www.youtube.com/watch?v=nopWOC4SRm4
Before playing: ask students to count or note the different greetings they see. After: How did the greeting change depending on who was being greeted?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theme: greetings change with the setting and the relationship, and choosing the wrong one says something about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Prompt: When would an Austrian shake hands where an American wouldn't, and vice versa?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Practice: pair up and shake hands; partner gives feedback on grip and eye contact.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photo shows the "dead fish" handshake, the English idiom for a limp grip.
Prompt: Which of these would bother you most? Why might over-squeezing read as insecurity?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Another well-known example: Justin Trudeau placing his left hand on Donald Trump's arm at the White House in February 2017; VOA Learning English covered this in an article on presidential handshakes: https://learningenglish.voanews.com/a/trump-handshakes-analysis/3903689.html
Prompt: Warm or overbearing? What changes the reading (relationship, status, length of the shake)?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Practice: students pair up, shake hands and use two phrases each. Point out that Americans move to first names quickly, unlike Herr/Frau in Austria.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Prompt: Your boss fist-bumps you after a meeting. How does that land? Note "millennialism": slang for a habit that marks someone as a millennial trying a bit too hard.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drill: call out a situation ("I passed my driving test!") and a student responds with a fist bump and a phrase.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photo series shows how many variations a dap can have; ask students to describe each move.
What "dap" means: a handshake-style greeting, typically some mix of slapping palms, clasping hands, bumping fists or snapping fingers. To "give dap" / "dap someone up" is to greet them this way.
Background: it spread among Black GIs in Vietnam as a sign of unity and solidarity; it first appeared in print in 1971. The word's origin is uncertain: soldiers said it came from Vietnamese "dep" (beautiful); dictionaries suggest "tap" or "dab". The popular "Dignity And Pride" acronym is a later explanation (backronym), a nice discussion point.
Source: https://grammarphobia.com/blog/2020/12/dap.html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the pronunciation: "What's up" often becomes "Wassup" or just "Sup"; "Aight" = "all right". Ask: which of these would sound strange coming from a teacher?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Prompt: Austrians often greet friends with a Bussi on each cheek. How might an American react, and why?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it runs: a pair gets a scenario slide, acts out the greeting plus ~30 seconds of small talk, then the class votes whether the greeting fit, and one student explains why.
Twist: now and then, secretly tell a pair to use the WRONG greeting; the class spots it and suggests a fix. Each scenario slide's notes have a suggested right greeting and a wrong-greeting twist.
Short on time: do only a few scenarios, or run the wrong-greeting rounds as a whole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Fits: firm handshake + “Nice to meet you.” Twist: a fist bump, or “Yo, what's up?”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Fits: fist bump (or a hug, between close teammates) + “Let's go!” Twist: a formal handshake + “It's a pleasure to meet you.”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Fits: a wave or a quick handshake + “Oh, hi! How are you?” Twist: a dap + “What's good?”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Fits: handshake + “Thanks for having me.” Twist: an air-kiss on both cheeks.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Fits: firm handshake, eye contact + “It's a pleasure to meet you.” Twist: a limp or bone-crushing handshake, or the two-handed shake.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Fits: a dap or a hug + “Yo, what's up?” Twist: a stiff formal handshake + “Good evening.”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Fits: a handshake, perhaps with a slight nod. Discussion: should you bow? Twist: a deep bow, or a fist bump.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Fits: a casual handshake + “Hey, nice to meet you.” Twist: a big hug, or a dap he doesn't know how to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51206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017520"/>
            <a:ext cx="51206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SPLIT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846320" y="868680"/>
            <a:ext cx="3840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846320" y="4709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American &amp; NYC Greetings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TIT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American &amp; NYC Greetings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ENARI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Activity: Greeting Roulette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nopWOC4SRm4" TargetMode="External"/><Relationship Id="rId3" Type="http://schemas.openxmlformats.org/officeDocument/2006/relationships/hyperlink" Target="https://www.youtube.com/watch?v=nopWOC4SRm4" TargetMode="External"/><Relationship Id="rId2" Type="http://schemas.openxmlformats.org/officeDocument/2006/relationships/image" Target="../media/image-1-1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005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WATCH FIRST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37160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Key &amp; Peele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0175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How many different greetings can you spot?</a:t>
            </a:r>
            <a:endParaRPr lang="en-US" sz="1800" dirty="0"/>
          </a:p>
        </p:txBody>
      </p:sp>
      <p:sp>
        <p:nvSpPr>
          <p:cNvPr id="5" name="Play button">
            <a:hlinkClick r:id="rId3" tooltip="Open the Key &amp; Peele sketch on YouTube"/>
          </p:cNvPr>
          <p:cNvSpPr/>
          <p:nvPr/>
        </p:nvSpPr>
        <p:spPr>
          <a:xfrm>
            <a:off x="6309360" y="1234440"/>
            <a:ext cx="2194560" cy="21945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Play icon" descr="preencoded.png">
            <a:hlinkClick r:id="rId3" tooltip="Open the Key &amp; Peele sketch on YouTub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965960"/>
            <a:ext cx="731520" cy="731520"/>
          </a:xfrm>
          <a:prstGeom prst="rect">
            <a:avLst/>
          </a:prstGeom>
        </p:spPr>
      </p:pic>
      <p:sp>
        <p:nvSpPr>
          <p:cNvPr id="7" name="Play caption"/>
          <p:cNvSpPr txBox="1"/>
          <p:nvPr/>
        </p:nvSpPr>
        <p:spPr>
          <a:xfrm>
            <a:off x="603504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u="sng" dirty="0">
                <a:solidFill>
                  <a:schemeClr val="accent6"/>
                </a:solidFill>
                <a:hlinkClick r:id="rId3" invalidUrl="" action="" tgtFrame="" tooltip="Open the Key &amp; Peele sketch on YouTub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Click to open on YouTube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American &amp; NYC Greetings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0175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Handshakes, fist bumps, daps, and what they say about you</a:t>
            </a:r>
            <a:endParaRPr lang="en-US" sz="1800" dirty="0"/>
          </a:p>
        </p:txBody>
      </p:sp>
      <p:sp>
        <p:nvSpPr>
          <p:cNvPr id="4" name="Theme icon circle 1"/>
          <p:cNvSpPr/>
          <p:nvPr/>
        </p:nvSpPr>
        <p:spPr>
          <a:xfrm>
            <a:off x="6949440" y="91440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Theme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1143000"/>
            <a:ext cx="457200" cy="457200"/>
          </a:xfrm>
          <a:prstGeom prst="rect">
            <a:avLst/>
          </a:prstGeom>
        </p:spPr>
      </p:pic>
      <p:sp>
        <p:nvSpPr>
          <p:cNvPr id="6" name="Theme icon circle 2"/>
          <p:cNvSpPr/>
          <p:nvPr/>
        </p:nvSpPr>
        <p:spPr>
          <a:xfrm>
            <a:off x="6949440" y="205740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Theme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2286000"/>
            <a:ext cx="457200" cy="457200"/>
          </a:xfrm>
          <a:prstGeom prst="rect">
            <a:avLst/>
          </a:prstGeom>
        </p:spPr>
      </p:pic>
      <p:sp>
        <p:nvSpPr>
          <p:cNvPr id="8" name="Theme icon circle 3"/>
          <p:cNvSpPr/>
          <p:nvPr/>
        </p:nvSpPr>
        <p:spPr>
          <a:xfrm>
            <a:off x="6949440" y="320040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Theme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342900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" descr="Two people in suits shaking han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389120" cy="51435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846320" y="868680"/>
            <a:ext cx="3840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The Handshake</a:t>
            </a:r>
            <a:endParaRPr lang="en-US" sz="3200" dirty="0"/>
          </a:p>
        </p:txBody>
      </p:sp>
      <p:sp>
        <p:nvSpPr>
          <p:cNvPr id="4" name="Bullets"/>
          <p:cNvSpPr txBox="1"/>
          <p:nvPr/>
        </p:nvSpPr>
        <p:spPr>
          <a:xfrm>
            <a:off x="4846320" y="269748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Appropriate for nearly all settings (can be too formal)</a:t>
            </a:r>
            <a:endParaRPr lang="en-US" sz="18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Conveys formality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Do's and Don'ts of the Handshake</a:t>
            </a:r>
            <a:endParaRPr lang="en-US" sz="3400" dirty="0"/>
          </a:p>
        </p:txBody>
      </p:sp>
      <p:sp>
        <p:nvSpPr>
          <p:cNvPr id="3" name="Do card 1"/>
          <p:cNvSpPr/>
          <p:nvPr/>
        </p:nvSpPr>
        <p:spPr>
          <a:xfrm>
            <a:off x="457200" y="1325880"/>
            <a:ext cx="4297680" cy="1097280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Do icon circle 1"/>
          <p:cNvSpPr/>
          <p:nvPr/>
        </p:nvSpPr>
        <p:spPr>
          <a:xfrm>
            <a:off x="731520" y="16002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Do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37360"/>
            <a:ext cx="274320" cy="274320"/>
          </a:xfrm>
          <a:prstGeom prst="rect">
            <a:avLst/>
          </a:prstGeom>
        </p:spPr>
      </p:pic>
      <p:sp>
        <p:nvSpPr>
          <p:cNvPr id="6" name="Do text 1"/>
          <p:cNvSpPr txBox="1"/>
          <p:nvPr/>
        </p:nvSpPr>
        <p:spPr>
          <a:xfrm>
            <a:off x="1508760" y="14630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DO</a:t>
            </a:r>
            <a:endParaRPr lang="en-US" sz="1200" dirty="0"/>
          </a:p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Make eye contact</a:t>
            </a:r>
            <a:endParaRPr lang="en-US" sz="1200" dirty="0"/>
          </a:p>
        </p:txBody>
      </p:sp>
      <p:sp>
        <p:nvSpPr>
          <p:cNvPr id="7" name="Do card 2"/>
          <p:cNvSpPr/>
          <p:nvPr/>
        </p:nvSpPr>
        <p:spPr>
          <a:xfrm>
            <a:off x="457200" y="2697480"/>
            <a:ext cx="4297680" cy="1097280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Do icon circle 2"/>
          <p:cNvSpPr/>
          <p:nvPr/>
        </p:nvSpPr>
        <p:spPr>
          <a:xfrm>
            <a:off x="731520" y="29718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9" name="Do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108960"/>
            <a:ext cx="274320" cy="274320"/>
          </a:xfrm>
          <a:prstGeom prst="rect">
            <a:avLst/>
          </a:prstGeom>
        </p:spPr>
      </p:pic>
      <p:sp>
        <p:nvSpPr>
          <p:cNvPr id="10" name="Do text 2"/>
          <p:cNvSpPr txBox="1"/>
          <p:nvPr/>
        </p:nvSpPr>
        <p:spPr>
          <a:xfrm>
            <a:off x="1508760" y="28346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DO</a:t>
            </a:r>
            <a:endParaRPr lang="en-US" sz="1200" dirty="0"/>
          </a:p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Utilize a firm grip</a:t>
            </a:r>
            <a:endParaRPr lang="en-US" sz="1200" dirty="0"/>
          </a:p>
        </p:txBody>
      </p:sp>
      <p:pic>
        <p:nvPicPr>
          <p:cNvPr id="11" name="Photo" descr="A firm handshake between two peop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1325880"/>
            <a:ext cx="3566160" cy="31089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Don'ts of the Handshake</a:t>
            </a:r>
            <a:endParaRPr lang="en-US" sz="3400" dirty="0"/>
          </a:p>
        </p:txBody>
      </p:sp>
      <p:pic>
        <p:nvPicPr>
          <p:cNvPr id="3" name="Photo" descr="A businessman shaking hands with a fish: the dead-fish handshak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3200400" cy="3108960"/>
          </a:xfrm>
          <a:prstGeom prst="rect">
            <a:avLst/>
          </a:prstGeom>
        </p:spPr>
      </p:pic>
      <p:sp>
        <p:nvSpPr>
          <p:cNvPr id="4" name="Don't card 1"/>
          <p:cNvSpPr/>
          <p:nvPr/>
        </p:nvSpPr>
        <p:spPr>
          <a:xfrm>
            <a:off x="3931920" y="1325880"/>
            <a:ext cx="224028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Don't icon circle 1"/>
          <p:cNvSpPr/>
          <p:nvPr/>
        </p:nvSpPr>
        <p:spPr>
          <a:xfrm>
            <a:off x="4114800" y="150876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Don't icon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5384" y="1609344"/>
            <a:ext cx="182880" cy="1828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617720" y="150876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DON'T</a:t>
            </a:r>
            <a:endParaRPr lang="en-US" sz="1200" dirty="0"/>
          </a:p>
        </p:txBody>
      </p:sp>
      <p:sp>
        <p:nvSpPr>
          <p:cNvPr id="8" name="Don&amp;apos;t text 1"/>
          <p:cNvSpPr txBox="1"/>
          <p:nvPr/>
        </p:nvSpPr>
        <p:spPr>
          <a:xfrm>
            <a:off x="4114800" y="198424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Leave your hand limp</a:t>
            </a:r>
            <a:endParaRPr lang="en-US" sz="1500" dirty="0"/>
          </a:p>
        </p:txBody>
      </p:sp>
      <p:sp>
        <p:nvSpPr>
          <p:cNvPr id="9" name="Don't card 2"/>
          <p:cNvSpPr/>
          <p:nvPr/>
        </p:nvSpPr>
        <p:spPr>
          <a:xfrm>
            <a:off x="6446520" y="1325880"/>
            <a:ext cx="224028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Don't icon circle 2"/>
          <p:cNvSpPr/>
          <p:nvPr/>
        </p:nvSpPr>
        <p:spPr>
          <a:xfrm>
            <a:off x="6629400" y="150876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Don't icon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9984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132320" y="150876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DON'T</a:t>
            </a:r>
            <a:endParaRPr lang="en-US" sz="1200" dirty="0"/>
          </a:p>
        </p:txBody>
      </p:sp>
      <p:sp>
        <p:nvSpPr>
          <p:cNvPr id="13" name="Don&amp;apos;t text 2"/>
          <p:cNvSpPr txBox="1"/>
          <p:nvPr/>
        </p:nvSpPr>
        <p:spPr>
          <a:xfrm>
            <a:off x="6629400" y="198424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Squeeze too hard (conveys insecurity)</a:t>
            </a:r>
            <a:endParaRPr lang="en-US" sz="1500" dirty="0"/>
          </a:p>
        </p:txBody>
      </p:sp>
      <p:sp>
        <p:nvSpPr>
          <p:cNvPr id="14" name="Don't card 3"/>
          <p:cNvSpPr/>
          <p:nvPr/>
        </p:nvSpPr>
        <p:spPr>
          <a:xfrm>
            <a:off x="3931920" y="2971800"/>
            <a:ext cx="224028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Don't icon circle 3"/>
          <p:cNvSpPr/>
          <p:nvPr/>
        </p:nvSpPr>
        <p:spPr>
          <a:xfrm>
            <a:off x="4114800" y="31546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Don't icon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5384" y="3255264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617720" y="31546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DON'T</a:t>
            </a:r>
            <a:endParaRPr lang="en-US" sz="1200" dirty="0"/>
          </a:p>
        </p:txBody>
      </p:sp>
      <p:sp>
        <p:nvSpPr>
          <p:cNvPr id="18" name="Don&amp;apos;t text 3"/>
          <p:cNvSpPr txBox="1"/>
          <p:nvPr/>
        </p:nvSpPr>
        <p:spPr>
          <a:xfrm>
            <a:off x="4114800" y="363016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Pull the person too hard towards you</a:t>
            </a:r>
            <a:endParaRPr lang="en-US" sz="1500" dirty="0"/>
          </a:p>
        </p:txBody>
      </p:sp>
      <p:sp>
        <p:nvSpPr>
          <p:cNvPr id="19" name="Don't card 4"/>
          <p:cNvSpPr/>
          <p:nvPr/>
        </p:nvSpPr>
        <p:spPr>
          <a:xfrm>
            <a:off x="6446520" y="2971800"/>
            <a:ext cx="224028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Don't icon circle 4"/>
          <p:cNvSpPr/>
          <p:nvPr/>
        </p:nvSpPr>
        <p:spPr>
          <a:xfrm>
            <a:off x="6629400" y="31546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1" name="Don't icon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9984" y="3255264"/>
            <a:ext cx="182880" cy="18288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132320" y="31546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DON'T</a:t>
            </a:r>
            <a:endParaRPr lang="en-US" sz="1200" dirty="0"/>
          </a:p>
        </p:txBody>
      </p:sp>
      <p:sp>
        <p:nvSpPr>
          <p:cNvPr id="23" name="Don&amp;apos;t text 4"/>
          <p:cNvSpPr txBox="1"/>
          <p:nvPr/>
        </p:nvSpPr>
        <p:spPr>
          <a:xfrm>
            <a:off x="6629400" y="363016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Have sweaty palms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" descr="Two men in tuxedos exchanging a two-handed handshak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51483"/>
            <a:ext cx="3657600" cy="2440534"/>
          </a:xfrm>
          <a:prstGeom prst="rect">
            <a:avLst/>
          </a:prstGeom>
        </p:spPr>
      </p:pic>
      <p:sp>
        <p:nvSpPr>
          <p:cNvPr id="3" name="Kicker"/>
          <p:cNvSpPr txBox="1"/>
          <p:nvPr/>
        </p:nvSpPr>
        <p:spPr>
          <a:xfrm>
            <a:off x="4846320" y="4572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POSSIBLE VARIANT</a:t>
            </a:r>
            <a:endParaRPr lang="en-US" sz="1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846320" y="868680"/>
            <a:ext cx="3840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The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Two-Handed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Shake</a:t>
            </a:r>
            <a:endParaRPr lang="en-US" sz="3200" dirty="0"/>
          </a:p>
        </p:txBody>
      </p:sp>
      <p:sp>
        <p:nvSpPr>
          <p:cNvPr id="5" name="Bullets"/>
          <p:cNvSpPr txBox="1"/>
          <p:nvPr/>
        </p:nvSpPr>
        <p:spPr>
          <a:xfrm>
            <a:off x="4846320" y="269748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Can convey a greater sense of personability when executed properly, but also carries greater risk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Phrases for the Handshake</a:t>
            </a:r>
            <a:endParaRPr lang="en-US" sz="3400" dirty="0"/>
          </a:p>
        </p:txBody>
      </p:sp>
      <p:sp>
        <p:nvSpPr>
          <p:cNvPr id="3" name="Phrase card 1"/>
          <p:cNvSpPr/>
          <p:nvPr/>
        </p:nvSpPr>
        <p:spPr>
          <a:xfrm>
            <a:off x="457200" y="1234440"/>
            <a:ext cx="256032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hrase 1"/>
          <p:cNvSpPr txBox="1"/>
          <p:nvPr/>
        </p:nvSpPr>
        <p:spPr>
          <a:xfrm>
            <a:off x="640080" y="139903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“Nice to meet you.”</a:t>
            </a:r>
            <a:endParaRPr lang="en-US" sz="1600" dirty="0"/>
          </a:p>
        </p:txBody>
      </p:sp>
      <p:sp>
        <p:nvSpPr>
          <p:cNvPr id="5" name="Phrase note 1"/>
          <p:cNvSpPr txBox="1"/>
          <p:nvPr/>
        </p:nvSpPr>
        <p:spPr>
          <a:xfrm>
            <a:off x="640080" y="21031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Reply: “Nice to meet you too.”</a:t>
            </a:r>
            <a:endParaRPr lang="en-US" sz="1200" dirty="0"/>
          </a:p>
        </p:txBody>
      </p:sp>
      <p:sp>
        <p:nvSpPr>
          <p:cNvPr id="6" name="Phrase card 2"/>
          <p:cNvSpPr/>
          <p:nvPr/>
        </p:nvSpPr>
        <p:spPr>
          <a:xfrm>
            <a:off x="3291840" y="1234440"/>
            <a:ext cx="256032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Phrase 2"/>
          <p:cNvSpPr txBox="1"/>
          <p:nvPr/>
        </p:nvSpPr>
        <p:spPr>
          <a:xfrm>
            <a:off x="3474720" y="139903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“It's a pleasure to meet you.”</a:t>
            </a:r>
            <a:endParaRPr lang="en-US" sz="1600" dirty="0"/>
          </a:p>
        </p:txBody>
      </p:sp>
      <p:sp>
        <p:nvSpPr>
          <p:cNvPr id="8" name="Phrase note 2"/>
          <p:cNvSpPr txBox="1"/>
          <p:nvPr/>
        </p:nvSpPr>
        <p:spPr>
          <a:xfrm>
            <a:off x="3474720" y="21031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A notch more formal: interviews, important people</a:t>
            </a:r>
            <a:endParaRPr lang="en-US" sz="1200" dirty="0"/>
          </a:p>
        </p:txBody>
      </p:sp>
      <p:sp>
        <p:nvSpPr>
          <p:cNvPr id="9" name="Phrase card 3"/>
          <p:cNvSpPr/>
          <p:nvPr/>
        </p:nvSpPr>
        <p:spPr>
          <a:xfrm>
            <a:off x="6126480" y="1234440"/>
            <a:ext cx="256032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Phrase 3"/>
          <p:cNvSpPr txBox="1"/>
          <p:nvPr/>
        </p:nvSpPr>
        <p:spPr>
          <a:xfrm>
            <a:off x="6309360" y="139903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“How are you?”</a:t>
            </a:r>
            <a:endParaRPr lang="en-US" sz="1600" dirty="0"/>
          </a:p>
        </p:txBody>
      </p:sp>
      <p:sp>
        <p:nvSpPr>
          <p:cNvPr id="11" name="Phrase note 3"/>
          <p:cNvSpPr txBox="1"/>
          <p:nvPr/>
        </p:nvSpPr>
        <p:spPr>
          <a:xfrm>
            <a:off x="6309360" y="21031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Not a real question. Reply: “Good, thanks. And you?”</a:t>
            </a:r>
            <a:endParaRPr lang="en-US" sz="1200" dirty="0"/>
          </a:p>
        </p:txBody>
      </p:sp>
      <p:sp>
        <p:nvSpPr>
          <p:cNvPr id="12" name="Phrase card 4"/>
          <p:cNvSpPr/>
          <p:nvPr/>
        </p:nvSpPr>
        <p:spPr>
          <a:xfrm>
            <a:off x="457200" y="3017520"/>
            <a:ext cx="256032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Phrase 4"/>
          <p:cNvSpPr txBox="1"/>
          <p:nvPr/>
        </p:nvSpPr>
        <p:spPr>
          <a:xfrm>
            <a:off x="640080" y="318211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“Good to see you again.”</a:t>
            </a:r>
            <a:endParaRPr lang="en-US" sz="1600" dirty="0"/>
          </a:p>
        </p:txBody>
      </p:sp>
      <p:sp>
        <p:nvSpPr>
          <p:cNvPr id="14" name="Phrase note 4"/>
          <p:cNvSpPr txBox="1"/>
          <p:nvPr/>
        </p:nvSpPr>
        <p:spPr>
          <a:xfrm>
            <a:off x="640080" y="388620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For someone you've already met</a:t>
            </a:r>
            <a:endParaRPr lang="en-US" sz="1200" dirty="0"/>
          </a:p>
        </p:txBody>
      </p:sp>
      <p:sp>
        <p:nvSpPr>
          <p:cNvPr id="15" name="Phrase card 5"/>
          <p:cNvSpPr/>
          <p:nvPr/>
        </p:nvSpPr>
        <p:spPr>
          <a:xfrm>
            <a:off x="3291840" y="3017520"/>
            <a:ext cx="256032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Phrase 5"/>
          <p:cNvSpPr txBox="1"/>
          <p:nvPr/>
        </p:nvSpPr>
        <p:spPr>
          <a:xfrm>
            <a:off x="3474720" y="318211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“Please, call me ___.”</a:t>
            </a:r>
            <a:endParaRPr lang="en-US" sz="1600" dirty="0"/>
          </a:p>
        </p:txBody>
      </p:sp>
      <p:sp>
        <p:nvSpPr>
          <p:cNvPr id="17" name="Phrase note 5"/>
          <p:cNvSpPr txBox="1"/>
          <p:nvPr/>
        </p:nvSpPr>
        <p:spPr>
          <a:xfrm>
            <a:off x="3474720" y="388620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Invites first names; very American</a:t>
            </a:r>
            <a:endParaRPr lang="en-US" sz="1200" dirty="0"/>
          </a:p>
        </p:txBody>
      </p:sp>
      <p:sp>
        <p:nvSpPr>
          <p:cNvPr id="18" name="Phrase card 6"/>
          <p:cNvSpPr/>
          <p:nvPr/>
        </p:nvSpPr>
        <p:spPr>
          <a:xfrm>
            <a:off x="6126480" y="3017520"/>
            <a:ext cx="256032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Phrase 6"/>
          <p:cNvSpPr txBox="1"/>
          <p:nvPr/>
        </p:nvSpPr>
        <p:spPr>
          <a:xfrm>
            <a:off x="6309360" y="318211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“Thanks for having me.”</a:t>
            </a:r>
            <a:endParaRPr lang="en-US" sz="1600" dirty="0"/>
          </a:p>
        </p:txBody>
      </p:sp>
      <p:sp>
        <p:nvSpPr>
          <p:cNvPr id="20" name="Phrase note 6"/>
          <p:cNvSpPr txBox="1"/>
          <p:nvPr/>
        </p:nvSpPr>
        <p:spPr>
          <a:xfrm>
            <a:off x="6309360" y="388620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When you're the guest or visitor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The Fist Bump</a:t>
            </a:r>
            <a:endParaRPr lang="en-US" sz="3400" dirty="0"/>
          </a:p>
        </p:txBody>
      </p:sp>
      <p:sp>
        <p:nvSpPr>
          <p:cNvPr id="3" name="Bullets"/>
          <p:cNvSpPr txBox="1"/>
          <p:nvPr/>
        </p:nvSpPr>
        <p:spPr>
          <a:xfrm>
            <a:off x="457200" y="1325880"/>
            <a:ext cx="5394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Very informal, usually used in sports contexts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Generally only comes after an achievement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Can make you seem out of touch (millennialism)</a:t>
            </a:r>
            <a:endParaRPr lang="en-US" sz="1700" dirty="0"/>
          </a:p>
        </p:txBody>
      </p:sp>
      <p:sp>
        <p:nvSpPr>
          <p:cNvPr id="4" name="Don't card"/>
          <p:cNvSpPr/>
          <p:nvPr/>
        </p:nvSpPr>
        <p:spPr>
          <a:xfrm>
            <a:off x="457200" y="3429000"/>
            <a:ext cx="5394960" cy="1005840"/>
          </a:xfrm>
          <a:prstGeom prst="roundRect">
            <a:avLst>
              <a:gd name="adj" fmla="val 9091"/>
            </a:avLst>
          </a:prstGeom>
          <a:solidFill>
            <a:srgbClr val="F9E3E6"/>
          </a:solidFill>
          <a:ln w="12700">
            <a:solidFill>
              <a:srgbClr val="F9E3E6"/>
            </a:solidFill>
            <a:prstDash val="solid"/>
          </a:ln>
        </p:spPr>
      </p:sp>
      <p:sp>
        <p:nvSpPr>
          <p:cNvPr id="5" name="Don't icon circle"/>
          <p:cNvSpPr/>
          <p:nvPr/>
        </p:nvSpPr>
        <p:spPr>
          <a:xfrm>
            <a:off x="731520" y="3694176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Don'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3813048"/>
            <a:ext cx="237744" cy="237744"/>
          </a:xfrm>
          <a:prstGeom prst="rect">
            <a:avLst/>
          </a:prstGeom>
        </p:spPr>
      </p:pic>
      <p:sp>
        <p:nvSpPr>
          <p:cNvPr id="7" name="Don't text"/>
          <p:cNvSpPr txBox="1"/>
          <p:nvPr/>
        </p:nvSpPr>
        <p:spPr>
          <a:xfrm>
            <a:off x="1417320" y="352044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DON'T</a:t>
            </a:r>
            <a:endParaRPr lang="en-US" sz="12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Let it linger afterwards</a:t>
            </a:r>
            <a:endParaRPr lang="en-US" sz="1200" dirty="0"/>
          </a:p>
        </p:txBody>
      </p:sp>
      <p:pic>
        <p:nvPicPr>
          <p:cNvPr id="8" name="Photo" descr="A basketball player giving a fist bump toward the came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320040"/>
            <a:ext cx="2377440" cy="42519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Phrases for the Fist Bump</a:t>
            </a:r>
            <a:endParaRPr lang="en-US" sz="3400" dirty="0"/>
          </a:p>
        </p:txBody>
      </p:sp>
      <p:sp>
        <p:nvSpPr>
          <p:cNvPr id="3" name="Phrase card 1"/>
          <p:cNvSpPr/>
          <p:nvPr/>
        </p:nvSpPr>
        <p:spPr>
          <a:xfrm>
            <a:off x="457200" y="1234440"/>
            <a:ext cx="256032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hrase 1"/>
          <p:cNvSpPr txBox="1"/>
          <p:nvPr/>
        </p:nvSpPr>
        <p:spPr>
          <a:xfrm>
            <a:off x="640080" y="139903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“Let's go!”</a:t>
            </a:r>
            <a:endParaRPr lang="en-US" sz="1600" dirty="0"/>
          </a:p>
        </p:txBody>
      </p:sp>
      <p:sp>
        <p:nvSpPr>
          <p:cNvPr id="5" name="Phrase note 1"/>
          <p:cNvSpPr txBox="1"/>
          <p:nvPr/>
        </p:nvSpPr>
        <p:spPr>
          <a:xfrm>
            <a:off x="640080" y="21031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Celebrating a win or a big moment</a:t>
            </a:r>
            <a:endParaRPr lang="en-US" sz="1200" dirty="0"/>
          </a:p>
        </p:txBody>
      </p:sp>
      <p:sp>
        <p:nvSpPr>
          <p:cNvPr id="6" name="Phrase card 2"/>
          <p:cNvSpPr/>
          <p:nvPr/>
        </p:nvSpPr>
        <p:spPr>
          <a:xfrm>
            <a:off x="3291840" y="1234440"/>
            <a:ext cx="256032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Phrase 2"/>
          <p:cNvSpPr txBox="1"/>
          <p:nvPr/>
        </p:nvSpPr>
        <p:spPr>
          <a:xfrm>
            <a:off x="3474720" y="139903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“Nice one!”</a:t>
            </a:r>
            <a:endParaRPr lang="en-US" sz="1600" dirty="0"/>
          </a:p>
        </p:txBody>
      </p:sp>
      <p:sp>
        <p:nvSpPr>
          <p:cNvPr id="8" name="Phrase note 2"/>
          <p:cNvSpPr txBox="1"/>
          <p:nvPr/>
        </p:nvSpPr>
        <p:spPr>
          <a:xfrm>
            <a:off x="3474720" y="21031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Quick praise right after something good</a:t>
            </a:r>
            <a:endParaRPr lang="en-US" sz="1200" dirty="0"/>
          </a:p>
        </p:txBody>
      </p:sp>
      <p:sp>
        <p:nvSpPr>
          <p:cNvPr id="9" name="Phrase card 3"/>
          <p:cNvSpPr/>
          <p:nvPr/>
        </p:nvSpPr>
        <p:spPr>
          <a:xfrm>
            <a:off x="6126480" y="1234440"/>
            <a:ext cx="256032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Phrase 3"/>
          <p:cNvSpPr txBox="1"/>
          <p:nvPr/>
        </p:nvSpPr>
        <p:spPr>
          <a:xfrm>
            <a:off x="6309360" y="139903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“Good game.”</a:t>
            </a:r>
            <a:endParaRPr lang="en-US" sz="1600" dirty="0"/>
          </a:p>
        </p:txBody>
      </p:sp>
      <p:sp>
        <p:nvSpPr>
          <p:cNvPr id="11" name="Phrase note 3"/>
          <p:cNvSpPr txBox="1"/>
          <p:nvPr/>
        </p:nvSpPr>
        <p:spPr>
          <a:xfrm>
            <a:off x="6309360" y="21031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After a match, often to the other team too</a:t>
            </a:r>
            <a:endParaRPr lang="en-US" sz="1200" dirty="0"/>
          </a:p>
        </p:txBody>
      </p:sp>
      <p:sp>
        <p:nvSpPr>
          <p:cNvPr id="12" name="Phrase card 4"/>
          <p:cNvSpPr/>
          <p:nvPr/>
        </p:nvSpPr>
        <p:spPr>
          <a:xfrm>
            <a:off x="457200" y="3017520"/>
            <a:ext cx="256032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Phrase 4"/>
          <p:cNvSpPr txBox="1"/>
          <p:nvPr/>
        </p:nvSpPr>
        <p:spPr>
          <a:xfrm>
            <a:off x="640080" y="318211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“Way to go!”</a:t>
            </a:r>
            <a:endParaRPr lang="en-US" sz="1600" dirty="0"/>
          </a:p>
        </p:txBody>
      </p:sp>
      <p:sp>
        <p:nvSpPr>
          <p:cNvPr id="14" name="Phrase note 4"/>
          <p:cNvSpPr txBox="1"/>
          <p:nvPr/>
        </p:nvSpPr>
        <p:spPr>
          <a:xfrm>
            <a:off x="640080" y="388620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Praise for someone's achievement</a:t>
            </a:r>
            <a:endParaRPr lang="en-US" sz="1200" dirty="0"/>
          </a:p>
        </p:txBody>
      </p:sp>
      <p:sp>
        <p:nvSpPr>
          <p:cNvPr id="15" name="Phrase card 5"/>
          <p:cNvSpPr/>
          <p:nvPr/>
        </p:nvSpPr>
        <p:spPr>
          <a:xfrm>
            <a:off x="3291840" y="3017520"/>
            <a:ext cx="256032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Phrase 5"/>
          <p:cNvSpPr txBox="1"/>
          <p:nvPr/>
        </p:nvSpPr>
        <p:spPr>
          <a:xfrm>
            <a:off x="3474720" y="318211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“Pound it.”</a:t>
            </a:r>
            <a:endParaRPr lang="en-US" sz="1600" dirty="0"/>
          </a:p>
        </p:txBody>
      </p:sp>
      <p:sp>
        <p:nvSpPr>
          <p:cNvPr id="17" name="Phrase note 5"/>
          <p:cNvSpPr txBox="1"/>
          <p:nvPr/>
        </p:nvSpPr>
        <p:spPr>
          <a:xfrm>
            <a:off x="3474720" y="388620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Invites a fist bump (also “Bump it”)</a:t>
            </a:r>
            <a:endParaRPr lang="en-US" sz="1200" dirty="0"/>
          </a:p>
        </p:txBody>
      </p:sp>
      <p:sp>
        <p:nvSpPr>
          <p:cNvPr id="18" name="Phrase card 6"/>
          <p:cNvSpPr/>
          <p:nvPr/>
        </p:nvSpPr>
        <p:spPr>
          <a:xfrm>
            <a:off x="6126480" y="3017520"/>
            <a:ext cx="256032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Phrase 6"/>
          <p:cNvSpPr txBox="1"/>
          <p:nvPr/>
        </p:nvSpPr>
        <p:spPr>
          <a:xfrm>
            <a:off x="6309360" y="318211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“That's what I'm talking about!”</a:t>
            </a:r>
            <a:endParaRPr lang="en-US" sz="1600" dirty="0"/>
          </a:p>
        </p:txBody>
      </p:sp>
      <p:sp>
        <p:nvSpPr>
          <p:cNvPr id="20" name="Phrase note 6"/>
          <p:cNvSpPr txBox="1"/>
          <p:nvPr/>
        </p:nvSpPr>
        <p:spPr>
          <a:xfrm>
            <a:off x="6309360" y="388620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Excited approval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The Dap</a:t>
            </a:r>
            <a:endParaRPr lang="en-US" sz="3400" dirty="0"/>
          </a:p>
        </p:txBody>
      </p:sp>
      <p:pic>
        <p:nvPicPr>
          <p:cNvPr id="3" name="Photo" descr="A series of photos showing different dap hand mov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973275"/>
            <a:ext cx="3291840" cy="1813255"/>
          </a:xfrm>
          <a:prstGeom prst="rect">
            <a:avLst/>
          </a:prstGeom>
        </p:spPr>
      </p:pic>
      <p:sp>
        <p:nvSpPr>
          <p:cNvPr id="4" name="Question card"/>
          <p:cNvSpPr/>
          <p:nvPr/>
        </p:nvSpPr>
        <p:spPr>
          <a:xfrm>
            <a:off x="4023360" y="1325880"/>
            <a:ext cx="4663440" cy="731520"/>
          </a:xfrm>
          <a:prstGeom prst="roundRect">
            <a:avLst>
              <a:gd name="adj" fmla="val 12500"/>
            </a:avLst>
          </a:prstGeom>
          <a:solidFill>
            <a:srgbClr val="FFF1C2"/>
          </a:solidFill>
          <a:ln w="12700">
            <a:solidFill>
              <a:srgbClr val="FFF1C2"/>
            </a:solidFill>
            <a:prstDash val="solid"/>
          </a:ln>
        </p:spPr>
      </p:sp>
      <p:sp>
        <p:nvSpPr>
          <p:cNvPr id="5" name="Question icon circle"/>
          <p:cNvSpPr/>
          <p:nvPr/>
        </p:nvSpPr>
        <p:spPr>
          <a:xfrm>
            <a:off x="4224528" y="1463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Question mark"/>
          <p:cNvSpPr txBox="1"/>
          <p:nvPr/>
        </p:nvSpPr>
        <p:spPr>
          <a:xfrm>
            <a:off x="4224528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?</a:t>
            </a:r>
            <a:endParaRPr lang="en-US" sz="2000" dirty="0"/>
          </a:p>
        </p:txBody>
      </p:sp>
      <p:sp>
        <p:nvSpPr>
          <p:cNvPr id="7" name="Question text"/>
          <p:cNvSpPr txBox="1"/>
          <p:nvPr/>
        </p:nvSpPr>
        <p:spPr>
          <a:xfrm>
            <a:off x="4864608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First, “dap”: what does it mean?</a:t>
            </a:r>
            <a:endParaRPr lang="en-US" sz="1700" dirty="0"/>
          </a:p>
        </p:txBody>
      </p:sp>
      <p:sp>
        <p:nvSpPr>
          <p:cNvPr id="8" name="Bullets"/>
          <p:cNvSpPr txBox="1"/>
          <p:nvPr/>
        </p:nvSpPr>
        <p:spPr>
          <a:xfrm>
            <a:off x="4023360" y="228600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Originated among Black soldiers during the Vietnam War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Now: most common form of greeting (amongst teenagers)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Not used in professional contexts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If you don't know how to do it properly, can make you seem like a loser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Phrases for the Dap</a:t>
            </a:r>
            <a:endParaRPr lang="en-US" sz="3400" dirty="0"/>
          </a:p>
        </p:txBody>
      </p:sp>
      <p:sp>
        <p:nvSpPr>
          <p:cNvPr id="3" name="Phrase card 1"/>
          <p:cNvSpPr/>
          <p:nvPr/>
        </p:nvSpPr>
        <p:spPr>
          <a:xfrm>
            <a:off x="457200" y="1234440"/>
            <a:ext cx="256032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hrase 1"/>
          <p:cNvSpPr txBox="1"/>
          <p:nvPr/>
        </p:nvSpPr>
        <p:spPr>
          <a:xfrm>
            <a:off x="640080" y="139903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“What's up?”</a:t>
            </a:r>
            <a:endParaRPr lang="en-US" sz="1600" dirty="0"/>
          </a:p>
        </p:txBody>
      </p:sp>
      <p:sp>
        <p:nvSpPr>
          <p:cNvPr id="5" name="Phrase note 1"/>
          <p:cNvSpPr txBox="1"/>
          <p:nvPr/>
        </p:nvSpPr>
        <p:spPr>
          <a:xfrm>
            <a:off x="640080" y="21031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Not a real question. Reply: “Not much, you?”</a:t>
            </a:r>
            <a:endParaRPr lang="en-US" sz="1200" dirty="0"/>
          </a:p>
        </p:txBody>
      </p:sp>
      <p:sp>
        <p:nvSpPr>
          <p:cNvPr id="6" name="Phrase card 2"/>
          <p:cNvSpPr/>
          <p:nvPr/>
        </p:nvSpPr>
        <p:spPr>
          <a:xfrm>
            <a:off x="3291840" y="1234440"/>
            <a:ext cx="256032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Phrase 2"/>
          <p:cNvSpPr txBox="1"/>
          <p:nvPr/>
        </p:nvSpPr>
        <p:spPr>
          <a:xfrm>
            <a:off x="3474720" y="139903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“What's good?”</a:t>
            </a:r>
            <a:endParaRPr lang="en-US" sz="1600" dirty="0"/>
          </a:p>
        </p:txBody>
      </p:sp>
      <p:sp>
        <p:nvSpPr>
          <p:cNvPr id="8" name="Phrase note 2"/>
          <p:cNvSpPr txBox="1"/>
          <p:nvPr/>
        </p:nvSpPr>
        <p:spPr>
          <a:xfrm>
            <a:off x="3474720" y="21031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Same as “What's up?” Reply: “Chillin'.”</a:t>
            </a:r>
            <a:endParaRPr lang="en-US" sz="1200" dirty="0"/>
          </a:p>
        </p:txBody>
      </p:sp>
      <p:sp>
        <p:nvSpPr>
          <p:cNvPr id="9" name="Phrase card 3"/>
          <p:cNvSpPr/>
          <p:nvPr/>
        </p:nvSpPr>
        <p:spPr>
          <a:xfrm>
            <a:off x="6126480" y="1234440"/>
            <a:ext cx="256032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Phrase 3"/>
          <p:cNvSpPr txBox="1"/>
          <p:nvPr/>
        </p:nvSpPr>
        <p:spPr>
          <a:xfrm>
            <a:off x="6309360" y="139903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“Yo!”</a:t>
            </a:r>
            <a:endParaRPr lang="en-US" sz="1600" dirty="0"/>
          </a:p>
        </p:txBody>
      </p:sp>
      <p:sp>
        <p:nvSpPr>
          <p:cNvPr id="11" name="Phrase note 3"/>
          <p:cNvSpPr txBox="1"/>
          <p:nvPr/>
        </p:nvSpPr>
        <p:spPr>
          <a:xfrm>
            <a:off x="6309360" y="21031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Casual hello, often across a room or street</a:t>
            </a:r>
            <a:endParaRPr lang="en-US" sz="1200" dirty="0"/>
          </a:p>
        </p:txBody>
      </p:sp>
      <p:sp>
        <p:nvSpPr>
          <p:cNvPr id="12" name="Phrase card 4"/>
          <p:cNvSpPr/>
          <p:nvPr/>
        </p:nvSpPr>
        <p:spPr>
          <a:xfrm>
            <a:off x="457200" y="3017520"/>
            <a:ext cx="256032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Phrase 4"/>
          <p:cNvSpPr txBox="1"/>
          <p:nvPr/>
        </p:nvSpPr>
        <p:spPr>
          <a:xfrm>
            <a:off x="640080" y="318211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“How you doin'?”</a:t>
            </a:r>
            <a:endParaRPr lang="en-US" sz="1600" dirty="0"/>
          </a:p>
        </p:txBody>
      </p:sp>
      <p:sp>
        <p:nvSpPr>
          <p:cNvPr id="14" name="Phrase note 4"/>
          <p:cNvSpPr txBox="1"/>
          <p:nvPr/>
        </p:nvSpPr>
        <p:spPr>
          <a:xfrm>
            <a:off x="640080" y="388620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Classic New York; quick, no real answer needed</a:t>
            </a:r>
            <a:endParaRPr lang="en-US" sz="1200" dirty="0"/>
          </a:p>
        </p:txBody>
      </p:sp>
      <p:sp>
        <p:nvSpPr>
          <p:cNvPr id="15" name="Phrase card 5"/>
          <p:cNvSpPr/>
          <p:nvPr/>
        </p:nvSpPr>
        <p:spPr>
          <a:xfrm>
            <a:off x="3291840" y="3017520"/>
            <a:ext cx="256032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Phrase 5"/>
          <p:cNvSpPr txBox="1"/>
          <p:nvPr/>
        </p:nvSpPr>
        <p:spPr>
          <a:xfrm>
            <a:off x="3474720" y="318211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“Dap me up.”</a:t>
            </a:r>
            <a:endParaRPr lang="en-US" sz="1600" dirty="0"/>
          </a:p>
        </p:txBody>
      </p:sp>
      <p:sp>
        <p:nvSpPr>
          <p:cNvPr id="17" name="Phrase note 5"/>
          <p:cNvSpPr txBox="1"/>
          <p:nvPr/>
        </p:nvSpPr>
        <p:spPr>
          <a:xfrm>
            <a:off x="3474720" y="388620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“Give me dap,” an invitation to the greeting</a:t>
            </a:r>
            <a:endParaRPr lang="en-US" sz="1200" dirty="0"/>
          </a:p>
        </p:txBody>
      </p:sp>
      <p:sp>
        <p:nvSpPr>
          <p:cNvPr id="18" name="Phrase card 6"/>
          <p:cNvSpPr/>
          <p:nvPr/>
        </p:nvSpPr>
        <p:spPr>
          <a:xfrm>
            <a:off x="6126480" y="3017520"/>
            <a:ext cx="256032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Phrase 6"/>
          <p:cNvSpPr txBox="1"/>
          <p:nvPr/>
        </p:nvSpPr>
        <p:spPr>
          <a:xfrm>
            <a:off x="6309360" y="318211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“Aight, I'm out.”</a:t>
            </a:r>
            <a:endParaRPr lang="en-US" sz="1600" dirty="0"/>
          </a:p>
        </p:txBody>
      </p:sp>
      <p:sp>
        <p:nvSpPr>
          <p:cNvPr id="20" name="Phrase note 6"/>
          <p:cNvSpPr txBox="1"/>
          <p:nvPr/>
        </p:nvSpPr>
        <p:spPr>
          <a:xfrm>
            <a:off x="6309360" y="388620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Leaving; usually comes with one more dap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" descr="Two women greeting each other with an air-ki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389120" cy="51435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846320" y="868680"/>
            <a:ext cx="3840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Greetings I Would Avoid in the U.S.</a:t>
            </a:r>
            <a:endParaRPr lang="en-US" sz="3200" dirty="0"/>
          </a:p>
        </p:txBody>
      </p:sp>
      <p:sp>
        <p:nvSpPr>
          <p:cNvPr id="4" name="Avoid icon circle 1"/>
          <p:cNvSpPr/>
          <p:nvPr/>
        </p:nvSpPr>
        <p:spPr>
          <a:xfrm>
            <a:off x="4846320" y="27432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Avoid icon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6904" y="2843784"/>
            <a:ext cx="182880" cy="182880"/>
          </a:xfrm>
          <a:prstGeom prst="rect">
            <a:avLst/>
          </a:prstGeom>
        </p:spPr>
      </p:pic>
      <p:sp>
        <p:nvSpPr>
          <p:cNvPr id="6" name="Avoid text 1"/>
          <p:cNvSpPr txBox="1"/>
          <p:nvPr/>
        </p:nvSpPr>
        <p:spPr>
          <a:xfrm>
            <a:off x="5394960" y="27432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Air-kissing</a:t>
            </a:r>
            <a:endParaRPr lang="en-US" sz="2000" dirty="0"/>
          </a:p>
        </p:txBody>
      </p:sp>
      <p:sp>
        <p:nvSpPr>
          <p:cNvPr id="7" name="Avoid icon circle 2"/>
          <p:cNvSpPr/>
          <p:nvPr/>
        </p:nvSpPr>
        <p:spPr>
          <a:xfrm>
            <a:off x="4846320" y="32918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Avoid icon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3392424"/>
            <a:ext cx="182880" cy="182880"/>
          </a:xfrm>
          <a:prstGeom prst="rect">
            <a:avLst/>
          </a:prstGeom>
        </p:spPr>
      </p:pic>
      <p:sp>
        <p:nvSpPr>
          <p:cNvPr id="9" name="Avoid text 2"/>
          <p:cNvSpPr txBox="1"/>
          <p:nvPr/>
        </p:nvSpPr>
        <p:spPr>
          <a:xfrm>
            <a:off x="5394960" y="329184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Bowing</a:t>
            </a:r>
            <a:endParaRPr lang="en-US" sz="2000" dirty="0"/>
          </a:p>
        </p:txBody>
      </p:sp>
      <p:sp>
        <p:nvSpPr>
          <p:cNvPr id="10" name="Avoid icon circle 3"/>
          <p:cNvSpPr/>
          <p:nvPr/>
        </p:nvSpPr>
        <p:spPr>
          <a:xfrm>
            <a:off x="4846320" y="38404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Avoid icon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6904" y="3941064"/>
            <a:ext cx="182880" cy="182880"/>
          </a:xfrm>
          <a:prstGeom prst="rect">
            <a:avLst/>
          </a:prstGeom>
        </p:spPr>
      </p:pic>
      <p:sp>
        <p:nvSpPr>
          <p:cNvPr id="12" name="Avoid text 3"/>
          <p:cNvSpPr txBox="1"/>
          <p:nvPr/>
        </p:nvSpPr>
        <p:spPr>
          <a:xfrm>
            <a:off x="5394960" y="384048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Hugging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Activity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0175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Greeting Roulette: act out the greeting, keep the small talk going for 30 seconds, then the class votes: did it fit?</a:t>
            </a:r>
            <a:endParaRPr lang="en-US" sz="1800" dirty="0"/>
          </a:p>
        </p:txBody>
      </p:sp>
      <p:sp>
        <p:nvSpPr>
          <p:cNvPr id="4" name="Activity icon circle"/>
          <p:cNvSpPr/>
          <p:nvPr/>
        </p:nvSpPr>
        <p:spPr>
          <a:xfrm>
            <a:off x="6492240" y="1463040"/>
            <a:ext cx="1828800" cy="1828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Activity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192024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cenario number"/>
          <p:cNvSpPr txBox="1"/>
          <p:nvPr/>
        </p:nvSpPr>
        <p:spPr>
          <a:xfrm>
            <a:off x="548640" y="1097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4"/>
                </a:solidFill>
              </a:rPr>
              <a:t>SCENARIO 1</a:t>
            </a:r>
            <a:endParaRPr lang="en-US" sz="1400" dirty="0"/>
          </a:p>
        </p:txBody>
      </p:sp>
      <p:sp>
        <p:nvSpPr>
          <p:cNvPr id="3" name="Scenario text"/>
          <p:cNvSpPr txBox="1"/>
          <p:nvPr/>
        </p:nvSpPr>
        <p:spPr>
          <a:xfrm>
            <a:off x="548640" y="1600200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Meeting your new boss on your first day</a:t>
            </a:r>
            <a:endParaRPr lang="en-US" sz="3400" dirty="0"/>
          </a:p>
        </p:txBody>
      </p:sp>
      <p:sp>
        <p:nvSpPr>
          <p:cNvPr id="4" name="Scenario icon circle"/>
          <p:cNvSpPr/>
          <p:nvPr/>
        </p:nvSpPr>
        <p:spPr>
          <a:xfrm>
            <a:off x="6400800" y="1371600"/>
            <a:ext cx="2011680" cy="2011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Scenario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1920240"/>
            <a:ext cx="914400" cy="914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cenario number"/>
          <p:cNvSpPr txBox="1"/>
          <p:nvPr/>
        </p:nvSpPr>
        <p:spPr>
          <a:xfrm>
            <a:off x="548640" y="1097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4"/>
                </a:solidFill>
              </a:rPr>
              <a:t>SCENARIO 2</a:t>
            </a:r>
            <a:endParaRPr lang="en-US" sz="1400" dirty="0"/>
          </a:p>
        </p:txBody>
      </p:sp>
      <p:sp>
        <p:nvSpPr>
          <p:cNvPr id="3" name="Scenario text"/>
          <p:cNvSpPr txBox="1"/>
          <p:nvPr/>
        </p:nvSpPr>
        <p:spPr>
          <a:xfrm>
            <a:off x="548640" y="1600200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teammate just scored the winning goal</a:t>
            </a:r>
            <a:endParaRPr lang="en-US" sz="3400" dirty="0"/>
          </a:p>
        </p:txBody>
      </p:sp>
      <p:sp>
        <p:nvSpPr>
          <p:cNvPr id="4" name="Scenario icon circle"/>
          <p:cNvSpPr/>
          <p:nvPr/>
        </p:nvSpPr>
        <p:spPr>
          <a:xfrm>
            <a:off x="6400800" y="1371600"/>
            <a:ext cx="2011680" cy="2011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Scenario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1920240"/>
            <a:ext cx="914400" cy="914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cenario number"/>
          <p:cNvSpPr txBox="1"/>
          <p:nvPr/>
        </p:nvSpPr>
        <p:spPr>
          <a:xfrm>
            <a:off x="548640" y="1097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4"/>
                </a:solidFill>
              </a:rPr>
              <a:t>SCENARIO 3</a:t>
            </a:r>
            <a:endParaRPr lang="en-US" sz="1400" dirty="0"/>
          </a:p>
        </p:txBody>
      </p:sp>
      <p:sp>
        <p:nvSpPr>
          <p:cNvPr id="3" name="Scenario text"/>
          <p:cNvSpPr txBox="1"/>
          <p:nvPr/>
        </p:nvSpPr>
        <p:spPr>
          <a:xfrm>
            <a:off x="548640" y="1600200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Running into your teacher at the supermarket</a:t>
            </a:r>
            <a:endParaRPr lang="en-US" sz="3400" dirty="0"/>
          </a:p>
        </p:txBody>
      </p:sp>
      <p:sp>
        <p:nvSpPr>
          <p:cNvPr id="4" name="Scenario icon circle"/>
          <p:cNvSpPr/>
          <p:nvPr/>
        </p:nvSpPr>
        <p:spPr>
          <a:xfrm>
            <a:off x="6400800" y="1371600"/>
            <a:ext cx="2011680" cy="2011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Scenario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1920240"/>
            <a:ext cx="914400" cy="914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cenario number"/>
          <p:cNvSpPr txBox="1"/>
          <p:nvPr/>
        </p:nvSpPr>
        <p:spPr>
          <a:xfrm>
            <a:off x="548640" y="1097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4"/>
                </a:solidFill>
              </a:rPr>
              <a:t>SCENARIO 4</a:t>
            </a:r>
            <a:endParaRPr lang="en-US" sz="1400" dirty="0"/>
          </a:p>
        </p:txBody>
      </p:sp>
      <p:sp>
        <p:nvSpPr>
          <p:cNvPr id="3" name="Scenario text"/>
          <p:cNvSpPr txBox="1"/>
          <p:nvPr/>
        </p:nvSpPr>
        <p:spPr>
          <a:xfrm>
            <a:off x="548640" y="1600200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Meeting your American friend's parents for dinner</a:t>
            </a:r>
            <a:endParaRPr lang="en-US" sz="3400" dirty="0"/>
          </a:p>
        </p:txBody>
      </p:sp>
      <p:sp>
        <p:nvSpPr>
          <p:cNvPr id="4" name="Scenario icon circle"/>
          <p:cNvSpPr/>
          <p:nvPr/>
        </p:nvSpPr>
        <p:spPr>
          <a:xfrm>
            <a:off x="6400800" y="1371600"/>
            <a:ext cx="2011680" cy="2011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Scenario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1920240"/>
            <a:ext cx="914400" cy="914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cenario number"/>
          <p:cNvSpPr txBox="1"/>
          <p:nvPr/>
        </p:nvSpPr>
        <p:spPr>
          <a:xfrm>
            <a:off x="548640" y="1097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4"/>
                </a:solidFill>
              </a:rPr>
              <a:t>SCENARIO 5</a:t>
            </a:r>
            <a:endParaRPr lang="en-US" sz="1400" dirty="0"/>
          </a:p>
        </p:txBody>
      </p:sp>
      <p:sp>
        <p:nvSpPr>
          <p:cNvPr id="3" name="Scenario text"/>
          <p:cNvSpPr txBox="1"/>
          <p:nvPr/>
        </p:nvSpPr>
        <p:spPr>
          <a:xfrm>
            <a:off x="548640" y="1600200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job interview in Manhattan</a:t>
            </a:r>
            <a:endParaRPr lang="en-US" sz="3400" dirty="0"/>
          </a:p>
        </p:txBody>
      </p:sp>
      <p:sp>
        <p:nvSpPr>
          <p:cNvPr id="4" name="Scenario icon circle"/>
          <p:cNvSpPr/>
          <p:nvPr/>
        </p:nvSpPr>
        <p:spPr>
          <a:xfrm>
            <a:off x="6400800" y="1371600"/>
            <a:ext cx="2011680" cy="2011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Scenario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1920240"/>
            <a:ext cx="914400" cy="914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cenario number"/>
          <p:cNvSpPr txBox="1"/>
          <p:nvPr/>
        </p:nvSpPr>
        <p:spPr>
          <a:xfrm>
            <a:off x="548640" y="1097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4"/>
                </a:solidFill>
              </a:rPr>
              <a:t>SCENARIO 6</a:t>
            </a:r>
            <a:endParaRPr lang="en-US" sz="1400" dirty="0"/>
          </a:p>
        </p:txBody>
      </p:sp>
      <p:sp>
        <p:nvSpPr>
          <p:cNvPr id="3" name="Scenario text"/>
          <p:cNvSpPr txBox="1"/>
          <p:nvPr/>
        </p:nvSpPr>
        <p:spPr>
          <a:xfrm>
            <a:off x="548640" y="1600200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Seeing your best friend at a party</a:t>
            </a:r>
            <a:endParaRPr lang="en-US" sz="3400" dirty="0"/>
          </a:p>
        </p:txBody>
      </p:sp>
      <p:sp>
        <p:nvSpPr>
          <p:cNvPr id="4" name="Scenario icon circle"/>
          <p:cNvSpPr/>
          <p:nvPr/>
        </p:nvSpPr>
        <p:spPr>
          <a:xfrm>
            <a:off x="6400800" y="1371600"/>
            <a:ext cx="2011680" cy="2011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Scenario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1920240"/>
            <a:ext cx="914400" cy="914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cenario number"/>
          <p:cNvSpPr txBox="1"/>
          <p:nvPr/>
        </p:nvSpPr>
        <p:spPr>
          <a:xfrm>
            <a:off x="548640" y="1097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4"/>
                </a:solidFill>
              </a:rPr>
              <a:t>SCENARIO 7</a:t>
            </a:r>
            <a:endParaRPr lang="en-US" sz="1400" dirty="0"/>
          </a:p>
        </p:txBody>
      </p:sp>
      <p:sp>
        <p:nvSpPr>
          <p:cNvPr id="3" name="Scenario text"/>
          <p:cNvSpPr txBox="1"/>
          <p:nvPr/>
        </p:nvSpPr>
        <p:spPr>
          <a:xfrm>
            <a:off x="548640" y="1600200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Japanese business partner arrives at the office</a:t>
            </a:r>
            <a:endParaRPr lang="en-US" sz="3400" dirty="0"/>
          </a:p>
        </p:txBody>
      </p:sp>
      <p:sp>
        <p:nvSpPr>
          <p:cNvPr id="4" name="Scenario icon circle"/>
          <p:cNvSpPr/>
          <p:nvPr/>
        </p:nvSpPr>
        <p:spPr>
          <a:xfrm>
            <a:off x="6400800" y="1371600"/>
            <a:ext cx="2011680" cy="2011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Scenario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1920240"/>
            <a:ext cx="914400" cy="914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cenario number"/>
          <p:cNvSpPr txBox="1"/>
          <p:nvPr/>
        </p:nvSpPr>
        <p:spPr>
          <a:xfrm>
            <a:off x="548640" y="1097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4"/>
                </a:solidFill>
              </a:rPr>
              <a:t>SCENARIO 8</a:t>
            </a:r>
            <a:endParaRPr lang="en-US" sz="1400" dirty="0"/>
          </a:p>
        </p:txBody>
      </p:sp>
      <p:sp>
        <p:nvSpPr>
          <p:cNvPr id="3" name="Scenario text"/>
          <p:cNvSpPr txBox="1"/>
          <p:nvPr/>
        </p:nvSpPr>
        <p:spPr>
          <a:xfrm>
            <a:off x="548640" y="1600200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cousin's new boyfriend says hi</a:t>
            </a:r>
            <a:endParaRPr lang="en-US" sz="3400" dirty="0"/>
          </a:p>
        </p:txBody>
      </p:sp>
      <p:sp>
        <p:nvSpPr>
          <p:cNvPr id="4" name="Scenario icon circle"/>
          <p:cNvSpPr/>
          <p:nvPr/>
        </p:nvSpPr>
        <p:spPr>
          <a:xfrm>
            <a:off x="6400800" y="1371600"/>
            <a:ext cx="2011680" cy="2011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Scenario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1920240"/>
            <a:ext cx="914400" cy="914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YC Greetings">
  <a:themeElements>
    <a:clrScheme name="NYC Greetings">
      <a:dk1>
        <a:srgbClr val="1C1C1C"/>
      </a:dk1>
      <a:lt1>
        <a:srgbClr val="FFFFFF"/>
      </a:lt1>
      <a:dk2>
        <a:srgbClr val="24262B"/>
      </a:dk2>
      <a:lt2>
        <a:srgbClr val="F1F2F4"/>
      </a:lt2>
      <a:accent1>
        <a:srgbClr val="F5B700"/>
      </a:accent1>
      <a:accent2>
        <a:srgbClr val="C8102E"/>
      </a:accent2>
      <a:accent3>
        <a:srgbClr val="2E7D4F"/>
      </a:accent3>
      <a:accent4>
        <a:srgbClr val="6B7280"/>
      </a:accent4>
      <a:accent5>
        <a:srgbClr val="3A5A8C"/>
      </a:accent5>
      <a:accent6>
        <a:srgbClr val="D9DCE1"/>
      </a:accent6>
      <a:hlink>
        <a:srgbClr val="3A5A8C"/>
      </a:hlink>
      <a:folHlink>
        <a:srgbClr val="6B7280"/>
      </a:folHlink>
    </a:clrScheme>
    <a:fontScheme name="NYC Greetings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American &amp; NYC Greetings</dc:title>
  <dc:subject>PptxGenJS Presentation</dc:subject>
  <dc:creator>PptxGenJS</dc:creator>
  <cp:lastModifiedBy>PptxGenJS</cp:lastModifiedBy>
  <cp:revision>1</cp:revision>
  <dcterms:created xsi:type="dcterms:W3CDTF">2026-10-15T06:57:43Z</dcterms:created>
  <dcterms:modified xsi:type="dcterms:W3CDTF">2026-10-15T06:57:43Z</dcterms:modified>
</cp:coreProperties>
</file>