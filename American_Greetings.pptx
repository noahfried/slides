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eb6f78e0-13cd-cd61-13cf-269dad8c60c1}">
          <p14:sldIdLst>
            <p14:sldId id="256"/>
            <p14:sldId id="257"/>
            <p14:sldId id="258"/>
          </p14:sldIdLst>
        </p14:section>
        <p14:section name="The Handshake" id="{389c477b-c733-d529-89b4-1752510f7a5b}">
          <p14:sldIdLst>
            <p14:sldId id="259"/>
            <p14:sldId id="260"/>
            <p14:sldId id="261"/>
            <p14:sldId id="262"/>
            <p14:sldId id="263"/>
          </p14:sldIdLst>
        </p14:section>
        <p14:section name="The Fist Bump" id="{5e0c7d87-889c-ae4b-2b8d-afa50adcc051}">
          <p14:sldIdLst>
            <p14:sldId id="264"/>
            <p14:sldId id="265"/>
          </p14:sldIdLst>
        </p14:section>
        <p14:section name="The High Five" id="{2c62390b-b4ce-1b4b-df81-8f267d41276c}">
          <p14:sldIdLst>
            <p14:sldId id="266"/>
            <p14:sldId id="267"/>
            <p14:sldId id="268"/>
          </p14:sldIdLst>
        </p14:section>
        <p14:section name="The Dap" id="{ce642fa8-80e4-8db4-ef51-bab7ce21645c}">
          <p14:sldIdLst>
            <p14:sldId id="269"/>
            <p14:sldId id="270"/>
          </p14:sldIdLst>
        </p14:section>
        <p14:section name="Greetings to Avoid" id="{81e5d510-7c5e-72b5-9dd9-8af0a1b17192}">
          <p14:sldIdLst>
            <p14:sldId id="271"/>
          </p14:sldIdLst>
        </p14:section>
        <p14:section name="Activity" id="{7d7cdb0d-eae2-3b12-b398-f60d7ab3fb09}">
          <p14:sldIdLst>
            <p14:sldId id="272"/>
            <p14:sldId id="273"/>
            <p14:sldId id="274"/>
            <p14:sldId id="275"/>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the yellow button during the slideshow to open the sketch in your browser: https://www.youtube.com/watch?v=nopWOC4SRm4
Before playing: ask students to count or note the different greetings they see. After: How did the greeting change depending on who was being greeted?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theme: greetings change with the setting and the relationship, and choosing the wrong one says something about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When would an Austrian shake hands where an American wouldn't, and vice versa?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pair up and shake hands; partner gives feedback on grip and eye contact.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 shows the "dead fish" handshake, the English idiom for a limp grip.
Prompt: Which of these would bother you most? Why might over-squeezing read as insecurity?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Another well-known example: Justin Trudeau placing his left hand on Donald Trump's arm at the White House in February 2017; VOA Learning English covered this in an article on presidential handshakes: https://learningenglish.voanews.com/a/trump-handshakes-analysis/3903689.html
Prompt: Warm or overbearing? What changes the reading (relationship, status, length of the shake)?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students pair up, shake hands and use two phrases each. Point out that Americans move to first names quickly, unlike Herr/Frau in Austria.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Your boss fist-bumps you after a meeting. How does that land? Note "millennialism": slang for a habit that marks someone as a millennial trying a bit too hard.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drill: call out a situation ("I passed my driving test!") and a student responds with a fist bump and a phrase.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usual story: on October 2, 1977, at Dodger Stadium, Glenn Burke greeted his Los Angeles Dodgers teammate Dusty Baker with a raised hand after Baker's 30th home run of the season. A competing claim puts it at University of Louisville basketball practice in 1978-79 (Derek Smith telling Wiley Brown "Up high"). Magic Johnson has said he and Greg Kelser invented it at Michigan State, though he gave no date and didn't claim the name.
Sources: https://sabr.org/gamesproj/game/october-2-1977-dusty-baker-hits-30th-homer-receives-first-ever-high-five-from-glenn-burke-in-dodgers-loss-to-astros/ ; https://en.wikipedia.org/wiki/High_five
Prompt: Who would you high-five, and who would you never high-five?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classic playground prank that almost every American knows, from kids to adults. Demonstrate it on a student, then let pairs try it.
Language note: "too slow" is said with a teasing, sing-song tone; the person who falls for it usually rolls their eyes (photo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 it out: "Don't leave me hanging" and "Down low... too slow" are fun to demonstrate with a student.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photo series shows how many variations a dap can have; ask students to describe each move.
What "dap" means: a handshake-style greeting, typically some mix of slapping palms, clasping hands, bumping fists or snapping fingers. To "give dap" / "dap someone up" is to greet them this way.
Background: it spread among Black GIs in Vietnam as a sign of unity and solidarity; it first appeared in print in 1971. The word's origin is uncertain: soldiers said it came from Vietnamese "dep" (beautiful); dictionaries suggest "tap" or "dab". The popular "Dignity And Pride" acronym is a later explanation (backronym), a nice discussion point.
Source: https://grammarphobia.com/blog/2020/12/dap.html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the pronunciation: "What's up" often becomes "Wassup" or just "Sup"; "Aight" = "all right". Ask: which of these would sound strange coming from a teacher?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Austrians often greet friends with a Bussi on each cheek. How might an American react, and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runs: a pair gets a scenario slide, acts out the greeting plus ~30 seconds of small talk, then the class votes whether the greeting fit, and one student explains why.
Twist: now and then, secretly tell a pair to use the WRONG greeting; the class spots it and suggests a fix. Each scenario slide's notes have a suggested right greeting and a wrong-greeting twist.
Short on time: do only a few scenarios, or run the wrong-greeting rounds as a whole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firm handshake + “Nice to meet you.” Twist: a fist bump, or “Yo, what's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fist bump (or a hug, between close teammates) + “Let's go!” Twist: a formal handshake + “It's a pleasure to meet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a wave or a quick handshake + “Oh, hi! How are you?” Twist: a dap + “What's good?”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handshake + “Thanks for having me.” Twist: an air-kiss on both cheeks.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firm handshake, eye contact + “It's a pleasure to meet you.” Twist: a limp or bone-crushing handshake, or the two-handed shake.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a dap or a hug + “Yo, what's up?” Twist: a stiff formal handshake + “Good evening.”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a handshake, perhaps with a slight nod. Discussion: should you bow? Twist: a deep bow, or a fist bump.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Fits: a casual handshake + “Hey, nice to meet you.” Twist: a big hug, or a dap he doesn't know how to 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_TITLE">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463040"/>
          </a:xfrm>
          <a:prstGeom prst="rect">
            <a:avLst/>
          </a:prstGeom>
          <a:noFill/>
          <a:ln/>
        </p:spPr>
        <p:txBody>
          <a:bodyPr wrap="square" rtlCol="0"/>
          <a:lstStyle>
            <a:lvl1pPr algn="l" indent="0" marL="0">
              <a:buNone/>
              <a:defRPr lang="en-US" sz="4400" b="1" dirty="0">
                <a:solidFill>
                  <a:schemeClr val="bg1"/>
                </a:solidFill>
              </a:defRPr>
            </a:lvl1pPr>
          </a:lstStyle>
          <a:p>
            <a:pPr algn="l" indent="0" marL="0">
              <a:buNone/>
            </a:pPr>
            <a:endParaRPr lang="en-US" sz="4400" dirty="0"/>
          </a:p>
        </p:txBody>
      </p:sp>
      <p:sp>
        <p:nvSpPr>
          <p:cNvPr id="3" name="Text 0"/>
          <p:cNvSpPr/>
          <p:nvPr>
            <p:ph idx="101" type="body" hasCustomPrompt="1"/>
          </p:nvPr>
        </p:nvSpPr>
        <p:spPr>
          <a:xfrm>
            <a:off x="548640" y="3017520"/>
            <a:ext cx="5120640" cy="91440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_SPLIT">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846320" y="868680"/>
            <a:ext cx="3840480" cy="164592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3" name="Text 0"/>
          <p:cNvSpPr/>
          <p:nvPr/>
        </p:nvSpPr>
        <p:spPr>
          <a:xfrm>
            <a:off x="4846320" y="4709160"/>
            <a:ext cx="3200400" cy="274320"/>
          </a:xfrm>
          <a:prstGeom prst="rect">
            <a:avLst/>
          </a:prstGeom>
          <a:noFill/>
          <a:ln/>
        </p:spPr>
        <p:txBody>
          <a:bodyPr wrap="square" lIns="0" tIns="0" rIns="0" bIns="0" rtlCol="0" anchor="ctr"/>
          <a:lstStyle/>
          <a:p>
            <a:pPr indent="0" marL="0">
              <a:buNone/>
            </a:pPr>
            <a:r>
              <a:rPr lang="en-US" sz="1000" dirty="0">
                <a:solidFill>
                  <a:schemeClr val="accent6"/>
                </a:solidFill>
              </a:rPr>
              <a:t>American &amp; NYC Greetings</a:t>
            </a:r>
            <a:endParaRPr lang="en-US" sz="1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_TITLE">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3" name="Text 0"/>
          <p:cNvSpPr/>
          <p:nvPr/>
        </p:nvSpPr>
        <p:spPr>
          <a:xfrm>
            <a:off x="457200" y="4754880"/>
            <a:ext cx="3200400" cy="274320"/>
          </a:xfrm>
          <a:prstGeom prst="rect">
            <a:avLst/>
          </a:prstGeom>
          <a:noFill/>
          <a:ln/>
        </p:spPr>
        <p:txBody>
          <a:bodyPr wrap="square" lIns="0" tIns="0" rIns="0" bIns="0" rtlCol="0" anchor="ctr"/>
          <a:lstStyle/>
          <a:p>
            <a:pPr indent="0" marL="0">
              <a:buNone/>
            </a:pPr>
            <a:r>
              <a:rPr lang="en-US" sz="1000" dirty="0">
                <a:solidFill>
                  <a:schemeClr val="accent4"/>
                </a:solidFill>
              </a:rPr>
              <a:t>American &amp; NYC Greetings</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CENARIO">
    <p:bg>
      <p:bgPr>
        <a:solidFill>
          <a:schemeClr val="bg1"/>
        </a:solidFill>
      </p:bgPr>
    </p:bg>
    <p:spTree>
      <p:nvGrpSpPr>
        <p:cNvPr id="1" name=""/>
        <p:cNvGrpSpPr/>
        <p:nvPr/>
      </p:nvGrpSpPr>
      <p:grpSpPr>
        <a:xfrm>
          <a:off x="0" y="0"/>
          <a:ext cx="0" cy="0"/>
          <a:chOff x="0" y="0"/>
          <a:chExt cx="0" cy="0"/>
        </a:xfrm>
      </p:grpSpPr>
      <p:sp>
        <p:nvSpPr>
          <p:cNvPr id="2" name="Text 0"/>
          <p:cNvSpPr/>
          <p:nvPr/>
        </p:nvSpPr>
        <p:spPr>
          <a:xfrm>
            <a:off x="457200" y="4754880"/>
            <a:ext cx="3200400" cy="274320"/>
          </a:xfrm>
          <a:prstGeom prst="rect">
            <a:avLst/>
          </a:prstGeom>
          <a:noFill/>
          <a:ln/>
        </p:spPr>
        <p:txBody>
          <a:bodyPr wrap="square" lIns="0" tIns="0" rIns="0" bIns="0" rtlCol="0" anchor="ctr"/>
          <a:lstStyle/>
          <a:p>
            <a:pPr indent="0" marL="0">
              <a:buNone/>
            </a:pPr>
            <a:r>
              <a:rPr lang="en-US" sz="1000" dirty="0">
                <a:solidFill>
                  <a:schemeClr val="accent4"/>
                </a:solidFill>
              </a:rPr>
              <a:t>Activity: Greeting Roulette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hyperlink" Target="https://www.youtube.com/watch?v=nopWOC4SRm4" TargetMode="External"/><Relationship Id="rId3" Type="http://schemas.openxmlformats.org/officeDocument/2006/relationships/hyperlink" Target="https://www.youtube.com/watch?v=nopWOC4SRm4" TargetMode="External"/><Relationship Id="rId2" Type="http://schemas.openxmlformats.org/officeDocument/2006/relationships/image" Target="../media/image-2-1.png"/><Relationship Id="rId4" Type="http://schemas.openxmlformats.org/officeDocument/2006/relationships/slideLayout" Target="../slideLayouts/slideLayout2.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2.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4.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4.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4.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slideLayout" Target="../slideLayouts/slideLayout4.xml"/><Relationship Id="rId6"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3.xml"/><Relationship Id="rId6"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5.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5.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5.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5.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5.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5.xml"/><Relationship Id="rId3"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463040"/>
          </a:xfrm>
          <a:prstGeom prst="rect">
            <a:avLst/>
          </a:prstGeom>
          <a:noFill/>
          <a:ln/>
        </p:spPr>
        <p:txBody>
          <a:bodyPr wrap="square" lIns="0" tIns="0" rIns="0" bIns="0" rtlCol="0" anchor="b"/>
          <a:lstStyle/>
          <a:p>
            <a:pPr algn="l" indent="0" marL="0">
              <a:buNone/>
            </a:pPr>
            <a:r>
              <a:rPr lang="en-US" sz="4400" b="1" dirty="0">
                <a:solidFill>
                  <a:schemeClr val="bg1"/>
                </a:solidFill>
              </a:rPr>
              <a:t>Warmup</a:t>
            </a:r>
            <a:endParaRPr lang="en-US" sz="4400" dirty="0"/>
          </a:p>
        </p:txBody>
      </p:sp>
      <p:sp>
        <p:nvSpPr>
          <p:cNvPr id="3" name="Text 0"/>
          <p:cNvSpPr/>
          <p:nvPr>
            <p:ph idx="101" type="body" hasCustomPrompt="1"/>
          </p:nvPr>
        </p:nvSpPr>
        <p:spPr>
          <a:xfrm>
            <a:off x="548640" y="3017520"/>
            <a:ext cx="5120640" cy="914400"/>
          </a:xfrm>
          <a:prstGeom prst="rect">
            <a:avLst/>
          </a:prstGeom>
          <a:noFill/>
          <a:ln/>
        </p:spPr>
        <p:txBody>
          <a:bodyPr wrap="square" lIns="0" tIns="0" rIns="0" bIns="0" rtlCol="0" anchor="t"/>
          <a:lstStyle/>
          <a:p>
            <a:pPr algn="l" indent="0" marL="0">
              <a:buNone/>
            </a:pP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005840"/>
            <a:ext cx="3657600" cy="320040"/>
          </a:xfrm>
          <a:prstGeom prst="rect">
            <a:avLst/>
          </a:prstGeom>
          <a:noFill/>
          <a:ln/>
        </p:spPr>
        <p:txBody>
          <a:bodyPr wrap="square" lIns="0" tIns="0" rIns="0" bIns="0" rtlCol="0" anchor="ctr"/>
          <a:lstStyle/>
          <a:p>
            <a:pPr indent="0" marL="0">
              <a:buNone/>
            </a:pPr>
            <a:r>
              <a:rPr lang="en-US" sz="1400" b="1" spc="200" kern="0" dirty="0">
                <a:solidFill>
                  <a:schemeClr val="accent1"/>
                </a:solidFill>
              </a:rPr>
              <a:t>WATCH FIRST</a:t>
            </a:r>
            <a:endParaRPr lang="en-US" sz="1400" dirty="0"/>
          </a:p>
        </p:txBody>
      </p:sp>
      <p:sp>
        <p:nvSpPr>
          <p:cNvPr id="3" name="Text 0"/>
          <p:cNvSpPr/>
          <p:nvPr>
            <p:ph idx="100" type="title" hasCustomPrompt="1"/>
          </p:nvPr>
        </p:nvSpPr>
        <p:spPr>
          <a:xfrm>
            <a:off x="548640" y="1371600"/>
            <a:ext cx="5120640" cy="1463040"/>
          </a:xfrm>
          <a:prstGeom prst="rect">
            <a:avLst/>
          </a:prstGeom>
          <a:noFill/>
          <a:ln/>
        </p:spPr>
        <p:txBody>
          <a:bodyPr wrap="square" lIns="0" tIns="0" rIns="0" bIns="0" rtlCol="0" anchor="b"/>
          <a:lstStyle/>
          <a:p>
            <a:pPr algn="l" indent="0" marL="0">
              <a:buNone/>
            </a:pPr>
            <a:r>
              <a:rPr lang="en-US" sz="4400" b="1" dirty="0">
                <a:solidFill>
                  <a:schemeClr val="bg1"/>
                </a:solidFill>
              </a:rPr>
              <a:t>Key &amp; Peele</a:t>
            </a:r>
            <a:endParaRPr lang="en-US" sz="4400" dirty="0"/>
          </a:p>
        </p:txBody>
      </p:sp>
      <p:sp>
        <p:nvSpPr>
          <p:cNvPr id="4" name="Text 0"/>
          <p:cNvSpPr/>
          <p:nvPr>
            <p:ph idx="101" type="body" hasCustomPrompt="1"/>
          </p:nvPr>
        </p:nvSpPr>
        <p:spPr>
          <a:xfrm>
            <a:off x="548640" y="3017520"/>
            <a:ext cx="5120640" cy="914400"/>
          </a:xfrm>
          <a:prstGeom prst="rect">
            <a:avLst/>
          </a:prstGeom>
          <a:noFill/>
          <a:ln/>
        </p:spPr>
        <p:txBody>
          <a:bodyPr wrap="square" lIns="0" tIns="0" rIns="0" bIns="0" rtlCol="0" anchor="t"/>
          <a:lstStyle/>
          <a:p>
            <a:pPr algn="l" indent="0" marL="0">
              <a:buNone/>
            </a:pPr>
            <a:r>
              <a:rPr lang="en-US" sz="1800" dirty="0">
                <a:solidFill>
                  <a:schemeClr val="accent6"/>
                </a:solidFill>
              </a:rPr>
              <a:t>How many different greetings can you spot?</a:t>
            </a:r>
            <a:endParaRPr lang="en-US" sz="1800" dirty="0"/>
          </a:p>
        </p:txBody>
      </p:sp>
      <p:sp>
        <p:nvSpPr>
          <p:cNvPr id="5" name="Play button">
            <a:hlinkClick r:id="rId3" tooltip="Open the Key &amp; Peele sketch on YouTube"/>
          </p:cNvPr>
          <p:cNvSpPr/>
          <p:nvPr/>
        </p:nvSpPr>
        <p:spPr>
          <a:xfrm>
            <a:off x="6309360" y="1234440"/>
            <a:ext cx="2194560" cy="2194560"/>
          </a:xfrm>
          <a:prstGeom prst="ellipse">
            <a:avLst/>
          </a:prstGeom>
          <a:solidFill>
            <a:schemeClr val="accent1"/>
          </a:solidFill>
          <a:ln w="12700">
            <a:solidFill>
              <a:schemeClr val="accent1"/>
            </a:solidFill>
            <a:prstDash val="solid"/>
          </a:ln>
        </p:spPr>
      </p:sp>
      <p:pic>
        <p:nvPicPr>
          <p:cNvPr id="6" name="Play icon" descr="preencoded.png">
            <a:hlinkClick r:id="rId3" tooltip="Open the Key &amp; Peele sketch on YouTube"/>
          </p:cNvPr>
          <p:cNvPicPr>
            <a:picLocks noChangeAspect="1"/>
          </p:cNvPicPr>
          <p:nvPr/>
        </p:nvPicPr>
        <p:blipFill>
          <a:blip r:embed="rId2"/>
          <a:stretch>
            <a:fillRect/>
          </a:stretch>
        </p:blipFill>
        <p:spPr>
          <a:xfrm>
            <a:off x="7178040" y="1965960"/>
            <a:ext cx="731520" cy="731520"/>
          </a:xfrm>
          <a:prstGeom prst="rect">
            <a:avLst/>
          </a:prstGeom>
        </p:spPr>
      </p:pic>
      <p:sp>
        <p:nvSpPr>
          <p:cNvPr id="7" name="Play caption"/>
          <p:cNvSpPr txBox="1"/>
          <p:nvPr/>
        </p:nvSpPr>
        <p:spPr>
          <a:xfrm>
            <a:off x="6035040" y="3611880"/>
            <a:ext cx="2743200" cy="365760"/>
          </a:xfrm>
          <a:prstGeom prst="rect">
            <a:avLst/>
          </a:prstGeom>
          <a:noFill/>
          <a:ln/>
        </p:spPr>
        <p:txBody>
          <a:bodyPr wrap="square" lIns="0" tIns="0" rIns="0" bIns="0" rtlCol="0" anchor="ctr"/>
          <a:lstStyle/>
          <a:p>
            <a:pPr algn="ctr" indent="0" marL="0">
              <a:buNone/>
            </a:pPr>
            <a:r>
              <a:rPr lang="en-US" sz="1200" u="sng" dirty="0">
                <a:solidFill>
                  <a:schemeClr val="accent6"/>
                </a:solidFill>
                <a:hlinkClick r:id="rId3" invalidUrl="" action="" tgtFrame="" tooltip="Open the Key &amp; Peele sketch on YouTube" history="1" highlightClick="0" endSnd="0">
                  <a:extLst>
                    <a:ext uri="{A12FA001-AC4F-418D-AE19-62706E023703}">
                      <ahyp:hlinkClr xmlns:ahyp="http://schemas.microsoft.com/office/drawing/2018/hyperlinkcolor" val="tx"/>
                    </a:ext>
                  </a:extLst>
                </a:hlinkClick>
              </a:rPr>
              <a:t>Click to open on YouTube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463040"/>
          </a:xfrm>
          <a:prstGeom prst="rect">
            <a:avLst/>
          </a:prstGeom>
          <a:noFill/>
          <a:ln/>
        </p:spPr>
        <p:txBody>
          <a:bodyPr wrap="square" lIns="0" tIns="0" rIns="0" bIns="0" rtlCol="0" anchor="b"/>
          <a:lstStyle/>
          <a:p>
            <a:pPr algn="l" indent="0" marL="0">
              <a:buNone/>
            </a:pPr>
            <a:r>
              <a:rPr lang="en-US" sz="4400" b="1" dirty="0">
                <a:solidFill>
                  <a:schemeClr val="bg1"/>
                </a:solidFill>
              </a:rPr>
              <a:t>American &amp; NYC Greetings</a:t>
            </a:r>
            <a:endParaRPr lang="en-US" sz="4400" dirty="0"/>
          </a:p>
        </p:txBody>
      </p:sp>
      <p:sp>
        <p:nvSpPr>
          <p:cNvPr id="3" name="Text 0"/>
          <p:cNvSpPr/>
          <p:nvPr>
            <p:ph idx="101" type="body" hasCustomPrompt="1"/>
          </p:nvPr>
        </p:nvSpPr>
        <p:spPr>
          <a:xfrm>
            <a:off x="548640" y="3017520"/>
            <a:ext cx="5120640" cy="914400"/>
          </a:xfrm>
          <a:prstGeom prst="rect">
            <a:avLst/>
          </a:prstGeom>
          <a:noFill/>
          <a:ln/>
        </p:spPr>
        <p:txBody>
          <a:bodyPr wrap="square" lIns="0" tIns="0" rIns="0" bIns="0" rtlCol="0" anchor="t"/>
          <a:lstStyle/>
          <a:p>
            <a:pPr algn="l" indent="0" marL="0">
              <a:buNone/>
            </a:pPr>
            <a:r>
              <a:rPr lang="en-US" sz="1800" dirty="0">
                <a:solidFill>
                  <a:schemeClr val="accent6"/>
                </a:solidFill>
              </a:rPr>
              <a:t>Handshakes, fist bumps, daps, and what they say about you</a:t>
            </a:r>
            <a:endParaRPr lang="en-US" sz="1800" dirty="0"/>
          </a:p>
        </p:txBody>
      </p:sp>
      <p:sp>
        <p:nvSpPr>
          <p:cNvPr id="4" name="Theme icon circle 1"/>
          <p:cNvSpPr/>
          <p:nvPr/>
        </p:nvSpPr>
        <p:spPr>
          <a:xfrm>
            <a:off x="6949440" y="914400"/>
            <a:ext cx="914400" cy="914400"/>
          </a:xfrm>
          <a:prstGeom prst="ellipse">
            <a:avLst/>
          </a:prstGeom>
          <a:solidFill>
            <a:schemeClr val="accent1"/>
          </a:solidFill>
          <a:ln w="12700">
            <a:solidFill>
              <a:schemeClr val="accent1"/>
            </a:solidFill>
            <a:prstDash val="solid"/>
          </a:ln>
        </p:spPr>
      </p:sp>
      <p:pic>
        <p:nvPicPr>
          <p:cNvPr id="5" name="Theme icon 1" descr="preencoded.png">    </p:cNvPr>
          <p:cNvPicPr>
            <a:picLocks noChangeAspect="1"/>
          </p:cNvPicPr>
          <p:nvPr/>
        </p:nvPicPr>
        <p:blipFill>
          <a:blip r:embed="rId1"/>
          <a:stretch>
            <a:fillRect/>
          </a:stretch>
        </p:blipFill>
        <p:spPr>
          <a:xfrm>
            <a:off x="7178040" y="1143000"/>
            <a:ext cx="457200" cy="457200"/>
          </a:xfrm>
          <a:prstGeom prst="rect">
            <a:avLst/>
          </a:prstGeom>
        </p:spPr>
      </p:pic>
      <p:sp>
        <p:nvSpPr>
          <p:cNvPr id="6" name="Theme icon circle 2"/>
          <p:cNvSpPr/>
          <p:nvPr/>
        </p:nvSpPr>
        <p:spPr>
          <a:xfrm>
            <a:off x="6949440" y="2057400"/>
            <a:ext cx="914400" cy="914400"/>
          </a:xfrm>
          <a:prstGeom prst="ellipse">
            <a:avLst/>
          </a:prstGeom>
          <a:solidFill>
            <a:schemeClr val="accent1"/>
          </a:solidFill>
          <a:ln w="12700">
            <a:solidFill>
              <a:schemeClr val="accent1"/>
            </a:solidFill>
            <a:prstDash val="solid"/>
          </a:ln>
        </p:spPr>
      </p:sp>
      <p:pic>
        <p:nvPicPr>
          <p:cNvPr id="7" name="Theme icon 2" descr="preencoded.png">    </p:cNvPr>
          <p:cNvPicPr>
            <a:picLocks noChangeAspect="1"/>
          </p:cNvPicPr>
          <p:nvPr/>
        </p:nvPicPr>
        <p:blipFill>
          <a:blip r:embed="rId2"/>
          <a:stretch>
            <a:fillRect/>
          </a:stretch>
        </p:blipFill>
        <p:spPr>
          <a:xfrm>
            <a:off x="7178040" y="2286000"/>
            <a:ext cx="457200" cy="457200"/>
          </a:xfrm>
          <a:prstGeom prst="rect">
            <a:avLst/>
          </a:prstGeom>
        </p:spPr>
      </p:pic>
      <p:sp>
        <p:nvSpPr>
          <p:cNvPr id="8" name="Theme icon circle 3"/>
          <p:cNvSpPr/>
          <p:nvPr/>
        </p:nvSpPr>
        <p:spPr>
          <a:xfrm>
            <a:off x="6949440" y="3200400"/>
            <a:ext cx="914400" cy="914400"/>
          </a:xfrm>
          <a:prstGeom prst="ellipse">
            <a:avLst/>
          </a:prstGeom>
          <a:solidFill>
            <a:schemeClr val="accent1"/>
          </a:solidFill>
          <a:ln w="12700">
            <a:solidFill>
              <a:schemeClr val="accent1"/>
            </a:solidFill>
            <a:prstDash val="solid"/>
          </a:ln>
        </p:spPr>
      </p:sp>
      <p:pic>
        <p:nvPicPr>
          <p:cNvPr id="9" name="Theme icon 3" descr="preencoded.png">    </p:cNvPr>
          <p:cNvPicPr>
            <a:picLocks noChangeAspect="1"/>
          </p:cNvPicPr>
          <p:nvPr/>
        </p:nvPicPr>
        <p:blipFill>
          <a:blip r:embed="rId3"/>
          <a:stretch>
            <a:fillRect/>
          </a:stretch>
        </p:blipFill>
        <p:spPr>
          <a:xfrm>
            <a:off x="7178040" y="3429000"/>
            <a:ext cx="457200" cy="4572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Photo" descr="Two people in suits shaking hands">    </p:cNvPr>
          <p:cNvPicPr>
            <a:picLocks noChangeAspect="1"/>
          </p:cNvPicPr>
          <p:nvPr/>
        </p:nvPicPr>
        <p:blipFill>
          <a:blip r:embed="rId1"/>
          <a:stretch>
            <a:fillRect/>
          </a:stretch>
        </p:blipFill>
        <p:spPr>
          <a:xfrm>
            <a:off x="0" y="0"/>
            <a:ext cx="4389120" cy="5143500"/>
          </a:xfrm>
          <a:prstGeom prst="rect">
            <a:avLst/>
          </a:prstGeom>
        </p:spPr>
      </p:pic>
      <p:sp>
        <p:nvSpPr>
          <p:cNvPr id="3" name="Text 0"/>
          <p:cNvSpPr/>
          <p:nvPr>
            <p:ph idx="100" type="title" hasCustomPrompt="1"/>
          </p:nvPr>
        </p:nvSpPr>
        <p:spPr>
          <a:xfrm>
            <a:off x="4846320" y="868680"/>
            <a:ext cx="3840480" cy="1645920"/>
          </a:xfrm>
          <a:prstGeom prst="rect">
            <a:avLst/>
          </a:prstGeom>
          <a:noFill/>
          <a:ln/>
        </p:spPr>
        <p:txBody>
          <a:bodyPr wrap="square" lIns="0" tIns="0" rIns="0" bIns="0" rtlCol="0" anchor="b"/>
          <a:lstStyle/>
          <a:p>
            <a:pPr algn="l" indent="0" marL="0">
              <a:buNone/>
            </a:pPr>
            <a:r>
              <a:rPr lang="en-US" sz="3200" b="1" dirty="0">
                <a:solidFill>
                  <a:schemeClr val="bg1"/>
                </a:solidFill>
              </a:rPr>
              <a:t>The Handshake</a:t>
            </a:r>
            <a:endParaRPr lang="en-US" sz="3200" dirty="0"/>
          </a:p>
        </p:txBody>
      </p:sp>
      <p:sp>
        <p:nvSpPr>
          <p:cNvPr id="4" name="Bullets"/>
          <p:cNvSpPr txBox="1"/>
          <p:nvPr/>
        </p:nvSpPr>
        <p:spPr>
          <a:xfrm>
            <a:off x="4846320" y="2697480"/>
            <a:ext cx="3840480" cy="17373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chemeClr val="bg1"/>
                </a:solidFill>
              </a:rPr>
              <a:t>Appropriate for nearly all settings (can be too formal)</a:t>
            </a:r>
            <a:endParaRPr lang="en-US" sz="1800" dirty="0"/>
          </a:p>
          <a:p>
            <a:pPr marL="228600" indent="-228600">
              <a:spcAft>
                <a:spcPts val="1400"/>
              </a:spcAft>
              <a:buSzPct val="100000"/>
              <a:buChar char="•"/>
            </a:pPr>
            <a:r>
              <a:rPr lang="en-US" sz="1800" dirty="0">
                <a:solidFill>
                  <a:schemeClr val="bg1"/>
                </a:solidFill>
              </a:rPr>
              <a:t>Conveys formality</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Do's and Don'ts of the Handshake</a:t>
            </a:r>
            <a:endParaRPr lang="en-US" sz="3400" dirty="0"/>
          </a:p>
        </p:txBody>
      </p:sp>
      <p:sp>
        <p:nvSpPr>
          <p:cNvPr id="3" name="Do card 1"/>
          <p:cNvSpPr/>
          <p:nvPr/>
        </p:nvSpPr>
        <p:spPr>
          <a:xfrm>
            <a:off x="457200" y="1325880"/>
            <a:ext cx="4297680" cy="1097280"/>
          </a:xfrm>
          <a:prstGeom prst="roundRect">
            <a:avLst>
              <a:gd name="adj" fmla="val 8333"/>
            </a:avLst>
          </a:prstGeom>
          <a:solidFill>
            <a:schemeClr val="bg2"/>
          </a:solidFill>
          <a:ln w="12700">
            <a:solidFill>
              <a:schemeClr val="bg2"/>
            </a:solidFill>
            <a:prstDash val="solid"/>
          </a:ln>
        </p:spPr>
      </p:sp>
      <p:sp>
        <p:nvSpPr>
          <p:cNvPr id="4" name="Do icon circle 1"/>
          <p:cNvSpPr/>
          <p:nvPr/>
        </p:nvSpPr>
        <p:spPr>
          <a:xfrm>
            <a:off x="731520" y="1600200"/>
            <a:ext cx="548640" cy="548640"/>
          </a:xfrm>
          <a:prstGeom prst="ellipse">
            <a:avLst/>
          </a:prstGeom>
          <a:solidFill>
            <a:schemeClr val="accent3"/>
          </a:solidFill>
          <a:ln w="12700">
            <a:solidFill>
              <a:schemeClr val="accent3"/>
            </a:solidFill>
            <a:prstDash val="solid"/>
          </a:ln>
        </p:spPr>
      </p:sp>
      <p:pic>
        <p:nvPicPr>
          <p:cNvPr id="5" name="Do icon 1" descr="preencoded.png">    </p:cNvPr>
          <p:cNvPicPr>
            <a:picLocks noChangeAspect="1"/>
          </p:cNvPicPr>
          <p:nvPr/>
        </p:nvPicPr>
        <p:blipFill>
          <a:blip r:embed="rId1"/>
          <a:stretch>
            <a:fillRect/>
          </a:stretch>
        </p:blipFill>
        <p:spPr>
          <a:xfrm>
            <a:off x="868680" y="1737360"/>
            <a:ext cx="274320" cy="274320"/>
          </a:xfrm>
          <a:prstGeom prst="rect">
            <a:avLst/>
          </a:prstGeom>
        </p:spPr>
      </p:pic>
      <p:sp>
        <p:nvSpPr>
          <p:cNvPr id="6" name="Do text 1"/>
          <p:cNvSpPr txBox="1"/>
          <p:nvPr/>
        </p:nvSpPr>
        <p:spPr>
          <a:xfrm>
            <a:off x="1508760" y="1463040"/>
            <a:ext cx="3108960" cy="822960"/>
          </a:xfrm>
          <a:prstGeom prst="rect">
            <a:avLst/>
          </a:prstGeom>
          <a:noFill/>
          <a:ln/>
        </p:spPr>
        <p:txBody>
          <a:bodyPr wrap="square" lIns="0" tIns="0" rIns="0" bIns="0" rtlCol="0" anchor="ctr"/>
          <a:lstStyle/>
          <a:p>
            <a:pPr indent="0" marL="0">
              <a:buNone/>
            </a:pPr>
            <a:r>
              <a:rPr lang="en-US" sz="1200" b="1" spc="200" kern="0" dirty="0">
                <a:solidFill>
                  <a:schemeClr val="accent3"/>
                </a:solidFill>
              </a:rPr>
              <a:t>DO</a:t>
            </a:r>
            <a:endParaRPr lang="en-US" sz="1200" dirty="0"/>
          </a:p>
          <a:p>
            <a:pPr indent="0" marL="0">
              <a:buNone/>
            </a:pPr>
            <a:r>
              <a:rPr lang="en-US" sz="2000" dirty="0">
                <a:solidFill>
                  <a:schemeClr val="tx1"/>
                </a:solidFill>
              </a:rPr>
              <a:t>Make eye contact</a:t>
            </a:r>
            <a:endParaRPr lang="en-US" sz="1200" dirty="0"/>
          </a:p>
        </p:txBody>
      </p:sp>
      <p:sp>
        <p:nvSpPr>
          <p:cNvPr id="7" name="Do card 2"/>
          <p:cNvSpPr/>
          <p:nvPr/>
        </p:nvSpPr>
        <p:spPr>
          <a:xfrm>
            <a:off x="457200" y="2697480"/>
            <a:ext cx="4297680" cy="1097280"/>
          </a:xfrm>
          <a:prstGeom prst="roundRect">
            <a:avLst>
              <a:gd name="adj" fmla="val 8333"/>
            </a:avLst>
          </a:prstGeom>
          <a:solidFill>
            <a:schemeClr val="bg2"/>
          </a:solidFill>
          <a:ln w="12700">
            <a:solidFill>
              <a:schemeClr val="bg2"/>
            </a:solidFill>
            <a:prstDash val="solid"/>
          </a:ln>
        </p:spPr>
      </p:sp>
      <p:sp>
        <p:nvSpPr>
          <p:cNvPr id="8" name="Do icon circle 2"/>
          <p:cNvSpPr/>
          <p:nvPr/>
        </p:nvSpPr>
        <p:spPr>
          <a:xfrm>
            <a:off x="731520" y="2971800"/>
            <a:ext cx="548640" cy="548640"/>
          </a:xfrm>
          <a:prstGeom prst="ellipse">
            <a:avLst/>
          </a:prstGeom>
          <a:solidFill>
            <a:schemeClr val="accent3"/>
          </a:solidFill>
          <a:ln w="12700">
            <a:solidFill>
              <a:schemeClr val="accent3"/>
            </a:solidFill>
            <a:prstDash val="solid"/>
          </a:ln>
        </p:spPr>
      </p:sp>
      <p:pic>
        <p:nvPicPr>
          <p:cNvPr id="9" name="Do icon 2" descr="preencoded.png">    </p:cNvPr>
          <p:cNvPicPr>
            <a:picLocks noChangeAspect="1"/>
          </p:cNvPicPr>
          <p:nvPr/>
        </p:nvPicPr>
        <p:blipFill>
          <a:blip r:embed="rId2"/>
          <a:stretch>
            <a:fillRect/>
          </a:stretch>
        </p:blipFill>
        <p:spPr>
          <a:xfrm>
            <a:off x="868680" y="3108960"/>
            <a:ext cx="274320" cy="274320"/>
          </a:xfrm>
          <a:prstGeom prst="rect">
            <a:avLst/>
          </a:prstGeom>
        </p:spPr>
      </p:pic>
      <p:sp>
        <p:nvSpPr>
          <p:cNvPr id="10" name="Do text 2"/>
          <p:cNvSpPr txBox="1"/>
          <p:nvPr/>
        </p:nvSpPr>
        <p:spPr>
          <a:xfrm>
            <a:off x="1508760" y="2834640"/>
            <a:ext cx="3108960" cy="822960"/>
          </a:xfrm>
          <a:prstGeom prst="rect">
            <a:avLst/>
          </a:prstGeom>
          <a:noFill/>
          <a:ln/>
        </p:spPr>
        <p:txBody>
          <a:bodyPr wrap="square" lIns="0" tIns="0" rIns="0" bIns="0" rtlCol="0" anchor="ctr"/>
          <a:lstStyle/>
          <a:p>
            <a:pPr indent="0" marL="0">
              <a:buNone/>
            </a:pPr>
            <a:r>
              <a:rPr lang="en-US" sz="1200" b="1" spc="200" kern="0" dirty="0">
                <a:solidFill>
                  <a:schemeClr val="accent3"/>
                </a:solidFill>
              </a:rPr>
              <a:t>DO</a:t>
            </a:r>
            <a:endParaRPr lang="en-US" sz="1200" dirty="0"/>
          </a:p>
          <a:p>
            <a:pPr indent="0" marL="0">
              <a:buNone/>
            </a:pPr>
            <a:r>
              <a:rPr lang="en-US" sz="2000" dirty="0">
                <a:solidFill>
                  <a:schemeClr val="tx1"/>
                </a:solidFill>
              </a:rPr>
              <a:t>Utilize a firm grip</a:t>
            </a:r>
            <a:endParaRPr lang="en-US" sz="1200" dirty="0"/>
          </a:p>
        </p:txBody>
      </p:sp>
      <p:pic>
        <p:nvPicPr>
          <p:cNvPr id="11" name="Photo" descr="A firm handshake between two people">    </p:cNvPr>
          <p:cNvPicPr>
            <a:picLocks noChangeAspect="1"/>
          </p:cNvPicPr>
          <p:nvPr/>
        </p:nvPicPr>
        <p:blipFill>
          <a:blip r:embed="rId3"/>
          <a:stretch>
            <a:fillRect/>
          </a:stretch>
        </p:blipFill>
        <p:spPr>
          <a:xfrm>
            <a:off x="5120640" y="1325880"/>
            <a:ext cx="3566160" cy="310896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Don'ts of the Handshake</a:t>
            </a:r>
            <a:endParaRPr lang="en-US" sz="3400" dirty="0"/>
          </a:p>
        </p:txBody>
      </p:sp>
      <p:pic>
        <p:nvPicPr>
          <p:cNvPr id="3" name="Photo" descr="A businessman shaking hands with a fish: the dead-fish handshake">    </p:cNvPr>
          <p:cNvPicPr>
            <a:picLocks noChangeAspect="1"/>
          </p:cNvPicPr>
          <p:nvPr/>
        </p:nvPicPr>
        <p:blipFill>
          <a:blip r:embed="rId1"/>
          <a:stretch>
            <a:fillRect/>
          </a:stretch>
        </p:blipFill>
        <p:spPr>
          <a:xfrm>
            <a:off x="457200" y="1325880"/>
            <a:ext cx="3200400" cy="3108960"/>
          </a:xfrm>
          <a:prstGeom prst="rect">
            <a:avLst/>
          </a:prstGeom>
        </p:spPr>
      </p:pic>
      <p:sp>
        <p:nvSpPr>
          <p:cNvPr id="4" name="Don't card 1"/>
          <p:cNvSpPr/>
          <p:nvPr/>
        </p:nvSpPr>
        <p:spPr>
          <a:xfrm>
            <a:off x="3931920" y="1325880"/>
            <a:ext cx="2240280" cy="1463040"/>
          </a:xfrm>
          <a:prstGeom prst="roundRect">
            <a:avLst>
              <a:gd name="adj" fmla="val 6250"/>
            </a:avLst>
          </a:prstGeom>
          <a:solidFill>
            <a:schemeClr val="bg2"/>
          </a:solidFill>
          <a:ln w="12700">
            <a:solidFill>
              <a:schemeClr val="bg2"/>
            </a:solidFill>
            <a:prstDash val="solid"/>
          </a:ln>
        </p:spPr>
      </p:sp>
      <p:sp>
        <p:nvSpPr>
          <p:cNvPr id="5" name="Don't icon circle 1"/>
          <p:cNvSpPr/>
          <p:nvPr/>
        </p:nvSpPr>
        <p:spPr>
          <a:xfrm>
            <a:off x="4114800" y="1508760"/>
            <a:ext cx="384048" cy="384048"/>
          </a:xfrm>
          <a:prstGeom prst="ellipse">
            <a:avLst/>
          </a:prstGeom>
          <a:solidFill>
            <a:schemeClr val="accent2"/>
          </a:solidFill>
          <a:ln w="12700">
            <a:solidFill>
              <a:schemeClr val="accent2"/>
            </a:solidFill>
            <a:prstDash val="solid"/>
          </a:ln>
        </p:spPr>
      </p:sp>
      <p:pic>
        <p:nvPicPr>
          <p:cNvPr id="6" name="Don't icon 1" descr="preencoded.png">    </p:cNvPr>
          <p:cNvPicPr>
            <a:picLocks noChangeAspect="1"/>
          </p:cNvPicPr>
          <p:nvPr/>
        </p:nvPicPr>
        <p:blipFill>
          <a:blip r:embed="rId2"/>
          <a:stretch>
            <a:fillRect/>
          </a:stretch>
        </p:blipFill>
        <p:spPr>
          <a:xfrm>
            <a:off x="4215384" y="1609344"/>
            <a:ext cx="182880" cy="182880"/>
          </a:xfrm>
          <a:prstGeom prst="rect">
            <a:avLst/>
          </a:prstGeom>
        </p:spPr>
      </p:pic>
      <p:sp>
        <p:nvSpPr>
          <p:cNvPr id="7" name="Text 3"/>
          <p:cNvSpPr txBox="1"/>
          <p:nvPr/>
        </p:nvSpPr>
        <p:spPr>
          <a:xfrm>
            <a:off x="4617720" y="1508760"/>
            <a:ext cx="1371600" cy="384048"/>
          </a:xfrm>
          <a:prstGeom prst="rect">
            <a:avLst/>
          </a:prstGeom>
          <a:noFill/>
          <a:ln/>
        </p:spPr>
        <p:txBody>
          <a:bodyPr wrap="square" lIns="0" tIns="0" rIns="0" bIns="0" rtlCol="0" anchor="ctr"/>
          <a:lstStyle/>
          <a:p>
            <a:pPr indent="0" marL="0">
              <a:buNone/>
            </a:pPr>
            <a:r>
              <a:rPr lang="en-US" sz="1200" b="1" spc="200" kern="0" dirty="0">
                <a:solidFill>
                  <a:schemeClr val="accent2"/>
                </a:solidFill>
              </a:rPr>
              <a:t>DON'T</a:t>
            </a:r>
            <a:endParaRPr lang="en-US" sz="1200" dirty="0"/>
          </a:p>
        </p:txBody>
      </p:sp>
      <p:sp>
        <p:nvSpPr>
          <p:cNvPr id="8" name="Don&amp;apos;t text 1"/>
          <p:cNvSpPr txBox="1"/>
          <p:nvPr/>
        </p:nvSpPr>
        <p:spPr>
          <a:xfrm>
            <a:off x="4114800" y="1984248"/>
            <a:ext cx="1920240" cy="685800"/>
          </a:xfrm>
          <a:prstGeom prst="rect">
            <a:avLst/>
          </a:prstGeom>
          <a:noFill/>
          <a:ln/>
        </p:spPr>
        <p:txBody>
          <a:bodyPr wrap="square" lIns="0" tIns="0" rIns="0" bIns="0" rtlCol="0" anchor="t"/>
          <a:lstStyle/>
          <a:p>
            <a:pPr indent="0" marL="0">
              <a:buNone/>
            </a:pPr>
            <a:r>
              <a:rPr lang="en-US" sz="1500" dirty="0">
                <a:solidFill>
                  <a:schemeClr val="tx1"/>
                </a:solidFill>
              </a:rPr>
              <a:t>Leave your hand limp</a:t>
            </a:r>
            <a:endParaRPr lang="en-US" sz="1500" dirty="0"/>
          </a:p>
        </p:txBody>
      </p:sp>
      <p:sp>
        <p:nvSpPr>
          <p:cNvPr id="9" name="Don't card 2"/>
          <p:cNvSpPr/>
          <p:nvPr/>
        </p:nvSpPr>
        <p:spPr>
          <a:xfrm>
            <a:off x="6446520" y="1325880"/>
            <a:ext cx="2240280" cy="1463040"/>
          </a:xfrm>
          <a:prstGeom prst="roundRect">
            <a:avLst>
              <a:gd name="adj" fmla="val 6250"/>
            </a:avLst>
          </a:prstGeom>
          <a:solidFill>
            <a:schemeClr val="bg2"/>
          </a:solidFill>
          <a:ln w="12700">
            <a:solidFill>
              <a:schemeClr val="bg2"/>
            </a:solidFill>
            <a:prstDash val="solid"/>
          </a:ln>
        </p:spPr>
      </p:sp>
      <p:sp>
        <p:nvSpPr>
          <p:cNvPr id="10" name="Don't icon circle 2"/>
          <p:cNvSpPr/>
          <p:nvPr/>
        </p:nvSpPr>
        <p:spPr>
          <a:xfrm>
            <a:off x="6629400" y="1508760"/>
            <a:ext cx="384048" cy="384048"/>
          </a:xfrm>
          <a:prstGeom prst="ellipse">
            <a:avLst/>
          </a:prstGeom>
          <a:solidFill>
            <a:schemeClr val="accent2"/>
          </a:solidFill>
          <a:ln w="12700">
            <a:solidFill>
              <a:schemeClr val="accent2"/>
            </a:solidFill>
            <a:prstDash val="solid"/>
          </a:ln>
        </p:spPr>
      </p:sp>
      <p:pic>
        <p:nvPicPr>
          <p:cNvPr id="11" name="Don't icon 2" descr="preencoded.png">    </p:cNvPr>
          <p:cNvPicPr>
            <a:picLocks noChangeAspect="1"/>
          </p:cNvPicPr>
          <p:nvPr/>
        </p:nvPicPr>
        <p:blipFill>
          <a:blip r:embed="rId3"/>
          <a:stretch>
            <a:fillRect/>
          </a:stretch>
        </p:blipFill>
        <p:spPr>
          <a:xfrm>
            <a:off x="6729984" y="1609344"/>
            <a:ext cx="182880" cy="182880"/>
          </a:xfrm>
          <a:prstGeom prst="rect">
            <a:avLst/>
          </a:prstGeom>
        </p:spPr>
      </p:pic>
      <p:sp>
        <p:nvSpPr>
          <p:cNvPr id="12" name="Text 7"/>
          <p:cNvSpPr txBox="1"/>
          <p:nvPr/>
        </p:nvSpPr>
        <p:spPr>
          <a:xfrm>
            <a:off x="7132320" y="1508760"/>
            <a:ext cx="1371600" cy="384048"/>
          </a:xfrm>
          <a:prstGeom prst="rect">
            <a:avLst/>
          </a:prstGeom>
          <a:noFill/>
          <a:ln/>
        </p:spPr>
        <p:txBody>
          <a:bodyPr wrap="square" lIns="0" tIns="0" rIns="0" bIns="0" rtlCol="0" anchor="ctr"/>
          <a:lstStyle/>
          <a:p>
            <a:pPr indent="0" marL="0">
              <a:buNone/>
            </a:pPr>
            <a:r>
              <a:rPr lang="en-US" sz="1200" b="1" spc="200" kern="0" dirty="0">
                <a:solidFill>
                  <a:schemeClr val="accent2"/>
                </a:solidFill>
              </a:rPr>
              <a:t>DON'T</a:t>
            </a:r>
            <a:endParaRPr lang="en-US" sz="1200" dirty="0"/>
          </a:p>
        </p:txBody>
      </p:sp>
      <p:sp>
        <p:nvSpPr>
          <p:cNvPr id="13" name="Don&amp;apos;t text 2"/>
          <p:cNvSpPr txBox="1"/>
          <p:nvPr/>
        </p:nvSpPr>
        <p:spPr>
          <a:xfrm>
            <a:off x="6629400" y="1984248"/>
            <a:ext cx="1920240" cy="685800"/>
          </a:xfrm>
          <a:prstGeom prst="rect">
            <a:avLst/>
          </a:prstGeom>
          <a:noFill/>
          <a:ln/>
        </p:spPr>
        <p:txBody>
          <a:bodyPr wrap="square" lIns="0" tIns="0" rIns="0" bIns="0" rtlCol="0" anchor="t"/>
          <a:lstStyle/>
          <a:p>
            <a:pPr indent="0" marL="0">
              <a:buNone/>
            </a:pPr>
            <a:r>
              <a:rPr lang="en-US" sz="1500" dirty="0">
                <a:solidFill>
                  <a:schemeClr val="tx1"/>
                </a:solidFill>
              </a:rPr>
              <a:t>Squeeze too hard (conveys insecurity)</a:t>
            </a:r>
            <a:endParaRPr lang="en-US" sz="1500" dirty="0"/>
          </a:p>
        </p:txBody>
      </p:sp>
      <p:sp>
        <p:nvSpPr>
          <p:cNvPr id="14" name="Don't card 3"/>
          <p:cNvSpPr/>
          <p:nvPr/>
        </p:nvSpPr>
        <p:spPr>
          <a:xfrm>
            <a:off x="3931920" y="2971800"/>
            <a:ext cx="2240280" cy="1463040"/>
          </a:xfrm>
          <a:prstGeom prst="roundRect">
            <a:avLst>
              <a:gd name="adj" fmla="val 6250"/>
            </a:avLst>
          </a:prstGeom>
          <a:solidFill>
            <a:schemeClr val="bg2"/>
          </a:solidFill>
          <a:ln w="12700">
            <a:solidFill>
              <a:schemeClr val="bg2"/>
            </a:solidFill>
            <a:prstDash val="solid"/>
          </a:ln>
        </p:spPr>
      </p:sp>
      <p:sp>
        <p:nvSpPr>
          <p:cNvPr id="15" name="Don't icon circle 3"/>
          <p:cNvSpPr/>
          <p:nvPr/>
        </p:nvSpPr>
        <p:spPr>
          <a:xfrm>
            <a:off x="4114800" y="3154680"/>
            <a:ext cx="384048" cy="384048"/>
          </a:xfrm>
          <a:prstGeom prst="ellipse">
            <a:avLst/>
          </a:prstGeom>
          <a:solidFill>
            <a:schemeClr val="accent2"/>
          </a:solidFill>
          <a:ln w="12700">
            <a:solidFill>
              <a:schemeClr val="accent2"/>
            </a:solidFill>
            <a:prstDash val="solid"/>
          </a:ln>
        </p:spPr>
      </p:sp>
      <p:pic>
        <p:nvPicPr>
          <p:cNvPr id="16" name="Don't icon 3" descr="preencoded.png">    </p:cNvPr>
          <p:cNvPicPr>
            <a:picLocks noChangeAspect="1"/>
          </p:cNvPicPr>
          <p:nvPr/>
        </p:nvPicPr>
        <p:blipFill>
          <a:blip r:embed="rId4"/>
          <a:stretch>
            <a:fillRect/>
          </a:stretch>
        </p:blipFill>
        <p:spPr>
          <a:xfrm>
            <a:off x="4215384" y="3255264"/>
            <a:ext cx="182880" cy="182880"/>
          </a:xfrm>
          <a:prstGeom prst="rect">
            <a:avLst/>
          </a:prstGeom>
        </p:spPr>
      </p:pic>
      <p:sp>
        <p:nvSpPr>
          <p:cNvPr id="17" name="Text 11"/>
          <p:cNvSpPr txBox="1"/>
          <p:nvPr/>
        </p:nvSpPr>
        <p:spPr>
          <a:xfrm>
            <a:off x="4617720" y="3154680"/>
            <a:ext cx="1371600" cy="384048"/>
          </a:xfrm>
          <a:prstGeom prst="rect">
            <a:avLst/>
          </a:prstGeom>
          <a:noFill/>
          <a:ln/>
        </p:spPr>
        <p:txBody>
          <a:bodyPr wrap="square" lIns="0" tIns="0" rIns="0" bIns="0" rtlCol="0" anchor="ctr"/>
          <a:lstStyle/>
          <a:p>
            <a:pPr indent="0" marL="0">
              <a:buNone/>
            </a:pPr>
            <a:r>
              <a:rPr lang="en-US" sz="1200" b="1" spc="200" kern="0" dirty="0">
                <a:solidFill>
                  <a:schemeClr val="accent2"/>
                </a:solidFill>
              </a:rPr>
              <a:t>DON'T</a:t>
            </a:r>
            <a:endParaRPr lang="en-US" sz="1200" dirty="0"/>
          </a:p>
        </p:txBody>
      </p:sp>
      <p:sp>
        <p:nvSpPr>
          <p:cNvPr id="18" name="Don&amp;apos;t text 3"/>
          <p:cNvSpPr txBox="1"/>
          <p:nvPr/>
        </p:nvSpPr>
        <p:spPr>
          <a:xfrm>
            <a:off x="4114800" y="3630168"/>
            <a:ext cx="1920240" cy="685800"/>
          </a:xfrm>
          <a:prstGeom prst="rect">
            <a:avLst/>
          </a:prstGeom>
          <a:noFill/>
          <a:ln/>
        </p:spPr>
        <p:txBody>
          <a:bodyPr wrap="square" lIns="0" tIns="0" rIns="0" bIns="0" rtlCol="0" anchor="t"/>
          <a:lstStyle/>
          <a:p>
            <a:pPr indent="0" marL="0">
              <a:buNone/>
            </a:pPr>
            <a:r>
              <a:rPr lang="en-US" sz="1500" dirty="0">
                <a:solidFill>
                  <a:schemeClr val="tx1"/>
                </a:solidFill>
              </a:rPr>
              <a:t>Pull the person too hard towards you</a:t>
            </a:r>
            <a:endParaRPr lang="en-US" sz="1500" dirty="0"/>
          </a:p>
        </p:txBody>
      </p:sp>
      <p:sp>
        <p:nvSpPr>
          <p:cNvPr id="19" name="Don't card 4"/>
          <p:cNvSpPr/>
          <p:nvPr/>
        </p:nvSpPr>
        <p:spPr>
          <a:xfrm>
            <a:off x="6446520" y="2971800"/>
            <a:ext cx="2240280" cy="1463040"/>
          </a:xfrm>
          <a:prstGeom prst="roundRect">
            <a:avLst>
              <a:gd name="adj" fmla="val 6250"/>
            </a:avLst>
          </a:prstGeom>
          <a:solidFill>
            <a:schemeClr val="bg2"/>
          </a:solidFill>
          <a:ln w="12700">
            <a:solidFill>
              <a:schemeClr val="bg2"/>
            </a:solidFill>
            <a:prstDash val="solid"/>
          </a:ln>
        </p:spPr>
      </p:sp>
      <p:sp>
        <p:nvSpPr>
          <p:cNvPr id="20" name="Don't icon circle 4"/>
          <p:cNvSpPr/>
          <p:nvPr/>
        </p:nvSpPr>
        <p:spPr>
          <a:xfrm>
            <a:off x="6629400" y="3154680"/>
            <a:ext cx="384048" cy="384048"/>
          </a:xfrm>
          <a:prstGeom prst="ellipse">
            <a:avLst/>
          </a:prstGeom>
          <a:solidFill>
            <a:schemeClr val="accent2"/>
          </a:solidFill>
          <a:ln w="12700">
            <a:solidFill>
              <a:schemeClr val="accent2"/>
            </a:solidFill>
            <a:prstDash val="solid"/>
          </a:ln>
        </p:spPr>
      </p:sp>
      <p:pic>
        <p:nvPicPr>
          <p:cNvPr id="21" name="Don't icon 4" descr="preencoded.png">    </p:cNvPr>
          <p:cNvPicPr>
            <a:picLocks noChangeAspect="1"/>
          </p:cNvPicPr>
          <p:nvPr/>
        </p:nvPicPr>
        <p:blipFill>
          <a:blip r:embed="rId5"/>
          <a:stretch>
            <a:fillRect/>
          </a:stretch>
        </p:blipFill>
        <p:spPr>
          <a:xfrm>
            <a:off x="6729984" y="3255264"/>
            <a:ext cx="182880" cy="182880"/>
          </a:xfrm>
          <a:prstGeom prst="rect">
            <a:avLst/>
          </a:prstGeom>
        </p:spPr>
      </p:pic>
      <p:sp>
        <p:nvSpPr>
          <p:cNvPr id="22" name="Text 15"/>
          <p:cNvSpPr txBox="1"/>
          <p:nvPr/>
        </p:nvSpPr>
        <p:spPr>
          <a:xfrm>
            <a:off x="7132320" y="3154680"/>
            <a:ext cx="1371600" cy="384048"/>
          </a:xfrm>
          <a:prstGeom prst="rect">
            <a:avLst/>
          </a:prstGeom>
          <a:noFill/>
          <a:ln/>
        </p:spPr>
        <p:txBody>
          <a:bodyPr wrap="square" lIns="0" tIns="0" rIns="0" bIns="0" rtlCol="0" anchor="ctr"/>
          <a:lstStyle/>
          <a:p>
            <a:pPr indent="0" marL="0">
              <a:buNone/>
            </a:pPr>
            <a:r>
              <a:rPr lang="en-US" sz="1200" b="1" spc="200" kern="0" dirty="0">
                <a:solidFill>
                  <a:schemeClr val="accent2"/>
                </a:solidFill>
              </a:rPr>
              <a:t>DON'T</a:t>
            </a:r>
            <a:endParaRPr lang="en-US" sz="1200" dirty="0"/>
          </a:p>
        </p:txBody>
      </p:sp>
      <p:sp>
        <p:nvSpPr>
          <p:cNvPr id="23" name="Don&amp;apos;t text 4"/>
          <p:cNvSpPr txBox="1"/>
          <p:nvPr/>
        </p:nvSpPr>
        <p:spPr>
          <a:xfrm>
            <a:off x="6629400" y="3630168"/>
            <a:ext cx="1920240" cy="685800"/>
          </a:xfrm>
          <a:prstGeom prst="rect">
            <a:avLst/>
          </a:prstGeom>
          <a:noFill/>
          <a:ln/>
        </p:spPr>
        <p:txBody>
          <a:bodyPr wrap="square" lIns="0" tIns="0" rIns="0" bIns="0" rtlCol="0" anchor="t"/>
          <a:lstStyle/>
          <a:p>
            <a:pPr indent="0" marL="0">
              <a:buNone/>
            </a:pPr>
            <a:r>
              <a:rPr lang="en-US" sz="1500" dirty="0">
                <a:solidFill>
                  <a:schemeClr val="tx1"/>
                </a:solidFill>
              </a:rPr>
              <a:t>Have sweaty palms</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Photo" descr="Two men in tuxedos exchanging a two-handed handshake">    </p:cNvPr>
          <p:cNvPicPr>
            <a:picLocks noChangeAspect="1"/>
          </p:cNvPicPr>
          <p:nvPr/>
        </p:nvPicPr>
        <p:blipFill>
          <a:blip r:embed="rId1"/>
          <a:stretch>
            <a:fillRect/>
          </a:stretch>
        </p:blipFill>
        <p:spPr>
          <a:xfrm>
            <a:off x="365760" y="1351483"/>
            <a:ext cx="3657600" cy="2440534"/>
          </a:xfrm>
          <a:prstGeom prst="rect">
            <a:avLst/>
          </a:prstGeom>
        </p:spPr>
      </p:pic>
      <p:sp>
        <p:nvSpPr>
          <p:cNvPr id="3" name="Kicker"/>
          <p:cNvSpPr txBox="1"/>
          <p:nvPr/>
        </p:nvSpPr>
        <p:spPr>
          <a:xfrm>
            <a:off x="4846320" y="457200"/>
            <a:ext cx="3840480" cy="320040"/>
          </a:xfrm>
          <a:prstGeom prst="rect">
            <a:avLst/>
          </a:prstGeom>
          <a:noFill/>
          <a:ln/>
        </p:spPr>
        <p:txBody>
          <a:bodyPr wrap="square" lIns="0" tIns="0" rIns="0" bIns="0" rtlCol="0" anchor="ctr"/>
          <a:lstStyle/>
          <a:p>
            <a:pPr indent="0" marL="0">
              <a:buNone/>
            </a:pPr>
            <a:r>
              <a:rPr lang="en-US" sz="1400" b="1" spc="200" kern="0" dirty="0">
                <a:solidFill>
                  <a:schemeClr val="accent1"/>
                </a:solidFill>
              </a:rPr>
              <a:t>POSSIBLE VARIANT</a:t>
            </a:r>
            <a:endParaRPr lang="en-US" sz="1400" dirty="0"/>
          </a:p>
        </p:txBody>
      </p:sp>
      <p:sp>
        <p:nvSpPr>
          <p:cNvPr id="4" name="Text 0"/>
          <p:cNvSpPr/>
          <p:nvPr>
            <p:ph idx="100" type="title" hasCustomPrompt="1"/>
          </p:nvPr>
        </p:nvSpPr>
        <p:spPr>
          <a:xfrm>
            <a:off x="4846320" y="868680"/>
            <a:ext cx="3840480" cy="1645920"/>
          </a:xfrm>
          <a:prstGeom prst="rect">
            <a:avLst/>
          </a:prstGeom>
          <a:noFill/>
          <a:ln/>
        </p:spPr>
        <p:txBody>
          <a:bodyPr wrap="square" lIns="0" tIns="0" rIns="0" bIns="0" rtlCol="0" anchor="b"/>
          <a:lstStyle/>
          <a:p>
            <a:pPr algn="l" indent="0" marL="0">
              <a:buNone/>
            </a:pPr>
            <a:r>
              <a:rPr lang="en-US" sz="3200" b="1" dirty="0">
                <a:solidFill>
                  <a:schemeClr val="bg1"/>
                </a:solidFill>
              </a:rPr>
              <a:t>The</a:t>
            </a:r>
            <a:endParaRPr lang="en-US" sz="3200" dirty="0"/>
          </a:p>
          <a:p>
            <a:pPr algn="l" indent="0" marL="0">
              <a:buNone/>
            </a:pPr>
            <a:r>
              <a:rPr lang="en-US" sz="3200" b="1" dirty="0">
                <a:solidFill>
                  <a:schemeClr val="bg1"/>
                </a:solidFill>
              </a:rPr>
              <a:t>Two-Handed</a:t>
            </a:r>
            <a:endParaRPr lang="en-US" sz="3200" dirty="0"/>
          </a:p>
          <a:p>
            <a:pPr algn="l" indent="0" marL="0">
              <a:buNone/>
            </a:pPr>
            <a:r>
              <a:rPr lang="en-US" sz="3200" b="1" dirty="0">
                <a:solidFill>
                  <a:schemeClr val="bg1"/>
                </a:solidFill>
              </a:rPr>
              <a:t>Shake</a:t>
            </a:r>
            <a:endParaRPr lang="en-US" sz="3200" dirty="0"/>
          </a:p>
        </p:txBody>
      </p:sp>
      <p:sp>
        <p:nvSpPr>
          <p:cNvPr id="5" name="Bullets"/>
          <p:cNvSpPr txBox="1"/>
          <p:nvPr/>
        </p:nvSpPr>
        <p:spPr>
          <a:xfrm>
            <a:off x="4846320" y="2697480"/>
            <a:ext cx="3840480" cy="1737360"/>
          </a:xfrm>
          <a:prstGeom prst="rect">
            <a:avLst/>
          </a:prstGeom>
          <a:noFill/>
          <a:ln/>
        </p:spPr>
        <p:txBody>
          <a:bodyPr wrap="square" lIns="0" tIns="0" rIns="0" bIns="0" rtlCol="0" anchor="t"/>
          <a:lstStyle/>
          <a:p>
            <a:pPr marL="228600" indent="-228600">
              <a:spcAft>
                <a:spcPts val="1400"/>
              </a:spcAft>
              <a:buSzPct val="100000"/>
              <a:buChar char="•"/>
            </a:pPr>
            <a:r>
              <a:rPr lang="en-US" sz="1800" dirty="0">
                <a:solidFill>
                  <a:schemeClr val="bg1"/>
                </a:solidFill>
              </a:rPr>
              <a:t>Can convey a greater sense of personability when executed properly, but also carries greater risk</a:t>
            </a:r>
            <a:endParaRPr lang="en-US" sz="18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Phrases for the Handshake</a:t>
            </a:r>
            <a:endParaRPr lang="en-US" sz="3400" dirty="0"/>
          </a:p>
        </p:txBody>
      </p:sp>
      <p:sp>
        <p:nvSpPr>
          <p:cNvPr id="3" name="Phrase card 1"/>
          <p:cNvSpPr/>
          <p:nvPr/>
        </p:nvSpPr>
        <p:spPr>
          <a:xfrm>
            <a:off x="457200" y="1234440"/>
            <a:ext cx="2560320" cy="1554480"/>
          </a:xfrm>
          <a:prstGeom prst="roundRect">
            <a:avLst>
              <a:gd name="adj" fmla="val 5882"/>
            </a:avLst>
          </a:prstGeom>
          <a:solidFill>
            <a:schemeClr val="bg2"/>
          </a:solidFill>
          <a:ln w="12700">
            <a:solidFill>
              <a:schemeClr val="bg2"/>
            </a:solidFill>
            <a:prstDash val="solid"/>
          </a:ln>
        </p:spPr>
      </p:sp>
      <p:sp>
        <p:nvSpPr>
          <p:cNvPr id="4" name="Phrase 1"/>
          <p:cNvSpPr txBox="1"/>
          <p:nvPr/>
        </p:nvSpPr>
        <p:spPr>
          <a:xfrm>
            <a:off x="64008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“Nice to meet you.”</a:t>
            </a:r>
            <a:endParaRPr lang="en-US" sz="1600" dirty="0"/>
          </a:p>
        </p:txBody>
      </p:sp>
      <p:sp>
        <p:nvSpPr>
          <p:cNvPr id="5" name="Phrase note 1"/>
          <p:cNvSpPr txBox="1"/>
          <p:nvPr/>
        </p:nvSpPr>
        <p:spPr>
          <a:xfrm>
            <a:off x="64008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Reply: “Nice to meet you too.”</a:t>
            </a:r>
            <a:endParaRPr lang="en-US" sz="1200" dirty="0"/>
          </a:p>
        </p:txBody>
      </p:sp>
      <p:sp>
        <p:nvSpPr>
          <p:cNvPr id="6" name="Phrase card 2"/>
          <p:cNvSpPr/>
          <p:nvPr/>
        </p:nvSpPr>
        <p:spPr>
          <a:xfrm>
            <a:off x="3291840" y="1234440"/>
            <a:ext cx="2560320" cy="1554480"/>
          </a:xfrm>
          <a:prstGeom prst="roundRect">
            <a:avLst>
              <a:gd name="adj" fmla="val 5882"/>
            </a:avLst>
          </a:prstGeom>
          <a:solidFill>
            <a:schemeClr val="bg2"/>
          </a:solidFill>
          <a:ln w="12700">
            <a:solidFill>
              <a:schemeClr val="bg2"/>
            </a:solidFill>
            <a:prstDash val="solid"/>
          </a:ln>
        </p:spPr>
      </p:sp>
      <p:sp>
        <p:nvSpPr>
          <p:cNvPr id="7" name="Phrase 2"/>
          <p:cNvSpPr txBox="1"/>
          <p:nvPr/>
        </p:nvSpPr>
        <p:spPr>
          <a:xfrm>
            <a:off x="347472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“It's a pleasure to meet you.”</a:t>
            </a:r>
            <a:endParaRPr lang="en-US" sz="1600" dirty="0"/>
          </a:p>
        </p:txBody>
      </p:sp>
      <p:sp>
        <p:nvSpPr>
          <p:cNvPr id="8" name="Phrase note 2"/>
          <p:cNvSpPr txBox="1"/>
          <p:nvPr/>
        </p:nvSpPr>
        <p:spPr>
          <a:xfrm>
            <a:off x="347472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A notch more formal: interviews, important people</a:t>
            </a:r>
            <a:endParaRPr lang="en-US" sz="1200" dirty="0"/>
          </a:p>
        </p:txBody>
      </p:sp>
      <p:sp>
        <p:nvSpPr>
          <p:cNvPr id="9" name="Phrase card 3"/>
          <p:cNvSpPr/>
          <p:nvPr/>
        </p:nvSpPr>
        <p:spPr>
          <a:xfrm>
            <a:off x="6126480" y="1234440"/>
            <a:ext cx="2560320" cy="1554480"/>
          </a:xfrm>
          <a:prstGeom prst="roundRect">
            <a:avLst>
              <a:gd name="adj" fmla="val 5882"/>
            </a:avLst>
          </a:prstGeom>
          <a:solidFill>
            <a:schemeClr val="bg2"/>
          </a:solidFill>
          <a:ln w="12700">
            <a:solidFill>
              <a:schemeClr val="bg2"/>
            </a:solidFill>
            <a:prstDash val="solid"/>
          </a:ln>
        </p:spPr>
      </p:sp>
      <p:sp>
        <p:nvSpPr>
          <p:cNvPr id="10" name="Phrase 3"/>
          <p:cNvSpPr txBox="1"/>
          <p:nvPr/>
        </p:nvSpPr>
        <p:spPr>
          <a:xfrm>
            <a:off x="630936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“How are you?”</a:t>
            </a:r>
            <a:endParaRPr lang="en-US" sz="1600" dirty="0"/>
          </a:p>
        </p:txBody>
      </p:sp>
      <p:sp>
        <p:nvSpPr>
          <p:cNvPr id="11" name="Phrase note 3"/>
          <p:cNvSpPr txBox="1"/>
          <p:nvPr/>
        </p:nvSpPr>
        <p:spPr>
          <a:xfrm>
            <a:off x="630936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Not a real question. Reply: “Good, thanks. And you?”</a:t>
            </a:r>
            <a:endParaRPr lang="en-US" sz="1200" dirty="0"/>
          </a:p>
        </p:txBody>
      </p:sp>
      <p:sp>
        <p:nvSpPr>
          <p:cNvPr id="12" name="Phrase card 4"/>
          <p:cNvSpPr/>
          <p:nvPr/>
        </p:nvSpPr>
        <p:spPr>
          <a:xfrm>
            <a:off x="457200" y="3017520"/>
            <a:ext cx="2560320" cy="1554480"/>
          </a:xfrm>
          <a:prstGeom prst="roundRect">
            <a:avLst>
              <a:gd name="adj" fmla="val 5882"/>
            </a:avLst>
          </a:prstGeom>
          <a:solidFill>
            <a:schemeClr val="bg2"/>
          </a:solidFill>
          <a:ln w="12700">
            <a:solidFill>
              <a:schemeClr val="bg2"/>
            </a:solidFill>
            <a:prstDash val="solid"/>
          </a:ln>
        </p:spPr>
      </p:sp>
      <p:sp>
        <p:nvSpPr>
          <p:cNvPr id="13" name="Phrase 4"/>
          <p:cNvSpPr txBox="1"/>
          <p:nvPr/>
        </p:nvSpPr>
        <p:spPr>
          <a:xfrm>
            <a:off x="64008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“Good to see you again.”</a:t>
            </a:r>
            <a:endParaRPr lang="en-US" sz="1600" dirty="0"/>
          </a:p>
        </p:txBody>
      </p:sp>
      <p:sp>
        <p:nvSpPr>
          <p:cNvPr id="14" name="Phrase note 4"/>
          <p:cNvSpPr txBox="1"/>
          <p:nvPr/>
        </p:nvSpPr>
        <p:spPr>
          <a:xfrm>
            <a:off x="64008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For someone you've already met</a:t>
            </a:r>
            <a:endParaRPr lang="en-US" sz="1200" dirty="0"/>
          </a:p>
        </p:txBody>
      </p:sp>
      <p:sp>
        <p:nvSpPr>
          <p:cNvPr id="15" name="Phrase card 5"/>
          <p:cNvSpPr/>
          <p:nvPr/>
        </p:nvSpPr>
        <p:spPr>
          <a:xfrm>
            <a:off x="3291840" y="3017520"/>
            <a:ext cx="2560320" cy="1554480"/>
          </a:xfrm>
          <a:prstGeom prst="roundRect">
            <a:avLst>
              <a:gd name="adj" fmla="val 5882"/>
            </a:avLst>
          </a:prstGeom>
          <a:solidFill>
            <a:schemeClr val="bg2"/>
          </a:solidFill>
          <a:ln w="12700">
            <a:solidFill>
              <a:schemeClr val="bg2"/>
            </a:solidFill>
            <a:prstDash val="solid"/>
          </a:ln>
        </p:spPr>
      </p:sp>
      <p:sp>
        <p:nvSpPr>
          <p:cNvPr id="16" name="Phrase 5"/>
          <p:cNvSpPr txBox="1"/>
          <p:nvPr/>
        </p:nvSpPr>
        <p:spPr>
          <a:xfrm>
            <a:off x="347472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“Please, call me ___.”</a:t>
            </a:r>
            <a:endParaRPr lang="en-US" sz="1600" dirty="0"/>
          </a:p>
        </p:txBody>
      </p:sp>
      <p:sp>
        <p:nvSpPr>
          <p:cNvPr id="17" name="Phrase note 5"/>
          <p:cNvSpPr txBox="1"/>
          <p:nvPr/>
        </p:nvSpPr>
        <p:spPr>
          <a:xfrm>
            <a:off x="347472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Invites first names; very American</a:t>
            </a:r>
            <a:endParaRPr lang="en-US" sz="1200" dirty="0"/>
          </a:p>
        </p:txBody>
      </p:sp>
      <p:sp>
        <p:nvSpPr>
          <p:cNvPr id="18" name="Phrase card 6"/>
          <p:cNvSpPr/>
          <p:nvPr/>
        </p:nvSpPr>
        <p:spPr>
          <a:xfrm>
            <a:off x="6126480" y="3017520"/>
            <a:ext cx="2560320" cy="1554480"/>
          </a:xfrm>
          <a:prstGeom prst="roundRect">
            <a:avLst>
              <a:gd name="adj" fmla="val 5882"/>
            </a:avLst>
          </a:prstGeom>
          <a:solidFill>
            <a:schemeClr val="bg2"/>
          </a:solidFill>
          <a:ln w="12700">
            <a:solidFill>
              <a:schemeClr val="bg2"/>
            </a:solidFill>
            <a:prstDash val="solid"/>
          </a:ln>
        </p:spPr>
      </p:sp>
      <p:sp>
        <p:nvSpPr>
          <p:cNvPr id="19" name="Phrase 6"/>
          <p:cNvSpPr txBox="1"/>
          <p:nvPr/>
        </p:nvSpPr>
        <p:spPr>
          <a:xfrm>
            <a:off x="630936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“Thanks for having me.”</a:t>
            </a:r>
            <a:endParaRPr lang="en-US" sz="1600" dirty="0"/>
          </a:p>
        </p:txBody>
      </p:sp>
      <p:sp>
        <p:nvSpPr>
          <p:cNvPr id="20" name="Phrase note 6"/>
          <p:cNvSpPr txBox="1"/>
          <p:nvPr/>
        </p:nvSpPr>
        <p:spPr>
          <a:xfrm>
            <a:off x="630936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When you're the guest or visitor</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The Fist Bump</a:t>
            </a:r>
            <a:endParaRPr lang="en-US" sz="3400" dirty="0"/>
          </a:p>
        </p:txBody>
      </p:sp>
      <p:sp>
        <p:nvSpPr>
          <p:cNvPr id="3" name="Bullets"/>
          <p:cNvSpPr txBox="1"/>
          <p:nvPr/>
        </p:nvSpPr>
        <p:spPr>
          <a:xfrm>
            <a:off x="457200" y="1325880"/>
            <a:ext cx="5394960" cy="192024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tx1"/>
                </a:solidFill>
              </a:rPr>
              <a:t>Very informal, usually used in sports contexts</a:t>
            </a:r>
            <a:endParaRPr lang="en-US" sz="1700" dirty="0"/>
          </a:p>
          <a:p>
            <a:pPr marL="228600" indent="-228600">
              <a:spcAft>
                <a:spcPts val="1400"/>
              </a:spcAft>
              <a:buSzPct val="100000"/>
              <a:buChar char="•"/>
            </a:pPr>
            <a:r>
              <a:rPr lang="en-US" sz="1700" dirty="0">
                <a:solidFill>
                  <a:schemeClr val="tx1"/>
                </a:solidFill>
              </a:rPr>
              <a:t>Generally only comes after an achievement</a:t>
            </a:r>
            <a:endParaRPr lang="en-US" sz="1700" dirty="0"/>
          </a:p>
          <a:p>
            <a:pPr marL="228600" indent="-228600">
              <a:spcAft>
                <a:spcPts val="1400"/>
              </a:spcAft>
              <a:buSzPct val="100000"/>
              <a:buChar char="•"/>
            </a:pPr>
            <a:r>
              <a:rPr lang="en-US" sz="1700" dirty="0">
                <a:solidFill>
                  <a:schemeClr val="tx1"/>
                </a:solidFill>
              </a:rPr>
              <a:t>Can make you seem out of touch (millennialism)</a:t>
            </a:r>
            <a:endParaRPr lang="en-US" sz="1700" dirty="0"/>
          </a:p>
        </p:txBody>
      </p:sp>
      <p:sp>
        <p:nvSpPr>
          <p:cNvPr id="4" name="Don't card"/>
          <p:cNvSpPr/>
          <p:nvPr/>
        </p:nvSpPr>
        <p:spPr>
          <a:xfrm>
            <a:off x="457200" y="3429000"/>
            <a:ext cx="5394960" cy="1005840"/>
          </a:xfrm>
          <a:prstGeom prst="roundRect">
            <a:avLst>
              <a:gd name="adj" fmla="val 9091"/>
            </a:avLst>
          </a:prstGeom>
          <a:solidFill>
            <a:srgbClr val="F9E3E6"/>
          </a:solidFill>
          <a:ln w="12700">
            <a:solidFill>
              <a:srgbClr val="F9E3E6"/>
            </a:solidFill>
            <a:prstDash val="solid"/>
          </a:ln>
        </p:spPr>
      </p:sp>
      <p:sp>
        <p:nvSpPr>
          <p:cNvPr id="5" name="Don't icon circle"/>
          <p:cNvSpPr/>
          <p:nvPr/>
        </p:nvSpPr>
        <p:spPr>
          <a:xfrm>
            <a:off x="731520" y="3694176"/>
            <a:ext cx="475488" cy="475488"/>
          </a:xfrm>
          <a:prstGeom prst="ellipse">
            <a:avLst/>
          </a:prstGeom>
          <a:solidFill>
            <a:schemeClr val="accent2"/>
          </a:solidFill>
          <a:ln w="12700">
            <a:solidFill>
              <a:schemeClr val="accent2"/>
            </a:solidFill>
            <a:prstDash val="solid"/>
          </a:ln>
        </p:spPr>
      </p:sp>
      <p:pic>
        <p:nvPicPr>
          <p:cNvPr id="6" name="Don't icon" descr="preencoded.png">    </p:cNvPr>
          <p:cNvPicPr>
            <a:picLocks noChangeAspect="1"/>
          </p:cNvPicPr>
          <p:nvPr/>
        </p:nvPicPr>
        <p:blipFill>
          <a:blip r:embed="rId1"/>
          <a:stretch>
            <a:fillRect/>
          </a:stretch>
        </p:blipFill>
        <p:spPr>
          <a:xfrm>
            <a:off x="850392" y="3813048"/>
            <a:ext cx="237744" cy="237744"/>
          </a:xfrm>
          <a:prstGeom prst="rect">
            <a:avLst/>
          </a:prstGeom>
        </p:spPr>
      </p:pic>
      <p:sp>
        <p:nvSpPr>
          <p:cNvPr id="7" name="Don't text"/>
          <p:cNvSpPr txBox="1"/>
          <p:nvPr/>
        </p:nvSpPr>
        <p:spPr>
          <a:xfrm>
            <a:off x="1417320" y="3520440"/>
            <a:ext cx="4297680" cy="822960"/>
          </a:xfrm>
          <a:prstGeom prst="rect">
            <a:avLst/>
          </a:prstGeom>
          <a:noFill/>
          <a:ln/>
        </p:spPr>
        <p:txBody>
          <a:bodyPr wrap="square" lIns="0" tIns="0" rIns="0" bIns="0" rtlCol="0" anchor="ctr"/>
          <a:lstStyle/>
          <a:p>
            <a:pPr indent="0" marL="0">
              <a:buNone/>
            </a:pPr>
            <a:r>
              <a:rPr lang="en-US" sz="1200" b="1" spc="200" kern="0" dirty="0">
                <a:solidFill>
                  <a:schemeClr val="accent2"/>
                </a:solidFill>
              </a:rPr>
              <a:t>DON'T</a:t>
            </a:r>
            <a:endParaRPr lang="en-US" sz="1200" dirty="0"/>
          </a:p>
          <a:p>
            <a:pPr indent="0" marL="0">
              <a:buNone/>
            </a:pPr>
            <a:r>
              <a:rPr lang="en-US" sz="1800" dirty="0">
                <a:solidFill>
                  <a:schemeClr val="tx1"/>
                </a:solidFill>
              </a:rPr>
              <a:t>Let it linger afterwards</a:t>
            </a:r>
            <a:endParaRPr lang="en-US" sz="1200" dirty="0"/>
          </a:p>
        </p:txBody>
      </p:sp>
      <p:pic>
        <p:nvPicPr>
          <p:cNvPr id="8" name="Photo" descr="A basketball player giving a fist bump toward the camera">    </p:cNvPr>
          <p:cNvPicPr>
            <a:picLocks noChangeAspect="1"/>
          </p:cNvPicPr>
          <p:nvPr/>
        </p:nvPicPr>
        <p:blipFill>
          <a:blip r:embed="rId2"/>
          <a:stretch>
            <a:fillRect/>
          </a:stretch>
        </p:blipFill>
        <p:spPr>
          <a:xfrm>
            <a:off x="6309360" y="320040"/>
            <a:ext cx="2377440" cy="425196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Phrases for the Fist Bump</a:t>
            </a:r>
            <a:endParaRPr lang="en-US" sz="3400" dirty="0"/>
          </a:p>
        </p:txBody>
      </p:sp>
      <p:sp>
        <p:nvSpPr>
          <p:cNvPr id="3" name="Phrase card 1"/>
          <p:cNvSpPr/>
          <p:nvPr/>
        </p:nvSpPr>
        <p:spPr>
          <a:xfrm>
            <a:off x="457200" y="1234440"/>
            <a:ext cx="2560320" cy="1554480"/>
          </a:xfrm>
          <a:prstGeom prst="roundRect">
            <a:avLst>
              <a:gd name="adj" fmla="val 5882"/>
            </a:avLst>
          </a:prstGeom>
          <a:solidFill>
            <a:schemeClr val="bg2"/>
          </a:solidFill>
          <a:ln w="12700">
            <a:solidFill>
              <a:schemeClr val="bg2"/>
            </a:solidFill>
            <a:prstDash val="solid"/>
          </a:ln>
        </p:spPr>
      </p:sp>
      <p:sp>
        <p:nvSpPr>
          <p:cNvPr id="4" name="Phrase 1"/>
          <p:cNvSpPr txBox="1"/>
          <p:nvPr/>
        </p:nvSpPr>
        <p:spPr>
          <a:xfrm>
            <a:off x="64008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“Let's go!”</a:t>
            </a:r>
            <a:endParaRPr lang="en-US" sz="1600" dirty="0"/>
          </a:p>
        </p:txBody>
      </p:sp>
      <p:sp>
        <p:nvSpPr>
          <p:cNvPr id="5" name="Phrase note 1"/>
          <p:cNvSpPr txBox="1"/>
          <p:nvPr/>
        </p:nvSpPr>
        <p:spPr>
          <a:xfrm>
            <a:off x="64008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Celebrating a win or a big moment</a:t>
            </a:r>
            <a:endParaRPr lang="en-US" sz="1200" dirty="0"/>
          </a:p>
        </p:txBody>
      </p:sp>
      <p:sp>
        <p:nvSpPr>
          <p:cNvPr id="6" name="Phrase card 2"/>
          <p:cNvSpPr/>
          <p:nvPr/>
        </p:nvSpPr>
        <p:spPr>
          <a:xfrm>
            <a:off x="3291840" y="1234440"/>
            <a:ext cx="2560320" cy="1554480"/>
          </a:xfrm>
          <a:prstGeom prst="roundRect">
            <a:avLst>
              <a:gd name="adj" fmla="val 5882"/>
            </a:avLst>
          </a:prstGeom>
          <a:solidFill>
            <a:schemeClr val="bg2"/>
          </a:solidFill>
          <a:ln w="12700">
            <a:solidFill>
              <a:schemeClr val="bg2"/>
            </a:solidFill>
            <a:prstDash val="solid"/>
          </a:ln>
        </p:spPr>
      </p:sp>
      <p:sp>
        <p:nvSpPr>
          <p:cNvPr id="7" name="Phrase 2"/>
          <p:cNvSpPr txBox="1"/>
          <p:nvPr/>
        </p:nvSpPr>
        <p:spPr>
          <a:xfrm>
            <a:off x="347472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“Nice one!”</a:t>
            </a:r>
            <a:endParaRPr lang="en-US" sz="1600" dirty="0"/>
          </a:p>
        </p:txBody>
      </p:sp>
      <p:sp>
        <p:nvSpPr>
          <p:cNvPr id="8" name="Phrase note 2"/>
          <p:cNvSpPr txBox="1"/>
          <p:nvPr/>
        </p:nvSpPr>
        <p:spPr>
          <a:xfrm>
            <a:off x="347472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Quick praise right after something good</a:t>
            </a:r>
            <a:endParaRPr lang="en-US" sz="1200" dirty="0"/>
          </a:p>
        </p:txBody>
      </p:sp>
      <p:sp>
        <p:nvSpPr>
          <p:cNvPr id="9" name="Phrase card 3"/>
          <p:cNvSpPr/>
          <p:nvPr/>
        </p:nvSpPr>
        <p:spPr>
          <a:xfrm>
            <a:off x="6126480" y="1234440"/>
            <a:ext cx="2560320" cy="1554480"/>
          </a:xfrm>
          <a:prstGeom prst="roundRect">
            <a:avLst>
              <a:gd name="adj" fmla="val 5882"/>
            </a:avLst>
          </a:prstGeom>
          <a:solidFill>
            <a:schemeClr val="bg2"/>
          </a:solidFill>
          <a:ln w="12700">
            <a:solidFill>
              <a:schemeClr val="bg2"/>
            </a:solidFill>
            <a:prstDash val="solid"/>
          </a:ln>
        </p:spPr>
      </p:sp>
      <p:sp>
        <p:nvSpPr>
          <p:cNvPr id="10" name="Phrase 3"/>
          <p:cNvSpPr txBox="1"/>
          <p:nvPr/>
        </p:nvSpPr>
        <p:spPr>
          <a:xfrm>
            <a:off x="630936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“Good game.”</a:t>
            </a:r>
            <a:endParaRPr lang="en-US" sz="1600" dirty="0"/>
          </a:p>
        </p:txBody>
      </p:sp>
      <p:sp>
        <p:nvSpPr>
          <p:cNvPr id="11" name="Phrase note 3"/>
          <p:cNvSpPr txBox="1"/>
          <p:nvPr/>
        </p:nvSpPr>
        <p:spPr>
          <a:xfrm>
            <a:off x="630936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After a match, often to the other team too</a:t>
            </a:r>
            <a:endParaRPr lang="en-US" sz="1200" dirty="0"/>
          </a:p>
        </p:txBody>
      </p:sp>
      <p:sp>
        <p:nvSpPr>
          <p:cNvPr id="12" name="Phrase card 4"/>
          <p:cNvSpPr/>
          <p:nvPr/>
        </p:nvSpPr>
        <p:spPr>
          <a:xfrm>
            <a:off x="457200" y="3017520"/>
            <a:ext cx="2560320" cy="1554480"/>
          </a:xfrm>
          <a:prstGeom prst="roundRect">
            <a:avLst>
              <a:gd name="adj" fmla="val 5882"/>
            </a:avLst>
          </a:prstGeom>
          <a:solidFill>
            <a:schemeClr val="bg2"/>
          </a:solidFill>
          <a:ln w="12700">
            <a:solidFill>
              <a:schemeClr val="bg2"/>
            </a:solidFill>
            <a:prstDash val="solid"/>
          </a:ln>
        </p:spPr>
      </p:sp>
      <p:sp>
        <p:nvSpPr>
          <p:cNvPr id="13" name="Phrase 4"/>
          <p:cNvSpPr txBox="1"/>
          <p:nvPr/>
        </p:nvSpPr>
        <p:spPr>
          <a:xfrm>
            <a:off x="64008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“Way to go!”</a:t>
            </a:r>
            <a:endParaRPr lang="en-US" sz="1600" dirty="0"/>
          </a:p>
        </p:txBody>
      </p:sp>
      <p:sp>
        <p:nvSpPr>
          <p:cNvPr id="14" name="Phrase note 4"/>
          <p:cNvSpPr txBox="1"/>
          <p:nvPr/>
        </p:nvSpPr>
        <p:spPr>
          <a:xfrm>
            <a:off x="64008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Praise for someone's achievement</a:t>
            </a:r>
            <a:endParaRPr lang="en-US" sz="1200" dirty="0"/>
          </a:p>
        </p:txBody>
      </p:sp>
      <p:sp>
        <p:nvSpPr>
          <p:cNvPr id="15" name="Phrase card 5"/>
          <p:cNvSpPr/>
          <p:nvPr/>
        </p:nvSpPr>
        <p:spPr>
          <a:xfrm>
            <a:off x="3291840" y="3017520"/>
            <a:ext cx="2560320" cy="1554480"/>
          </a:xfrm>
          <a:prstGeom prst="roundRect">
            <a:avLst>
              <a:gd name="adj" fmla="val 5882"/>
            </a:avLst>
          </a:prstGeom>
          <a:solidFill>
            <a:schemeClr val="bg2"/>
          </a:solidFill>
          <a:ln w="12700">
            <a:solidFill>
              <a:schemeClr val="bg2"/>
            </a:solidFill>
            <a:prstDash val="solid"/>
          </a:ln>
        </p:spPr>
      </p:sp>
      <p:sp>
        <p:nvSpPr>
          <p:cNvPr id="16" name="Phrase 5"/>
          <p:cNvSpPr txBox="1"/>
          <p:nvPr/>
        </p:nvSpPr>
        <p:spPr>
          <a:xfrm>
            <a:off x="347472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“Pound it.”</a:t>
            </a:r>
            <a:endParaRPr lang="en-US" sz="1600" dirty="0"/>
          </a:p>
        </p:txBody>
      </p:sp>
      <p:sp>
        <p:nvSpPr>
          <p:cNvPr id="17" name="Phrase note 5"/>
          <p:cNvSpPr txBox="1"/>
          <p:nvPr/>
        </p:nvSpPr>
        <p:spPr>
          <a:xfrm>
            <a:off x="347472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Invites a fist bump (also “Bump it”)</a:t>
            </a:r>
            <a:endParaRPr lang="en-US" sz="1200" dirty="0"/>
          </a:p>
        </p:txBody>
      </p:sp>
      <p:sp>
        <p:nvSpPr>
          <p:cNvPr id="18" name="Phrase card 6"/>
          <p:cNvSpPr/>
          <p:nvPr/>
        </p:nvSpPr>
        <p:spPr>
          <a:xfrm>
            <a:off x="6126480" y="3017520"/>
            <a:ext cx="2560320" cy="1554480"/>
          </a:xfrm>
          <a:prstGeom prst="roundRect">
            <a:avLst>
              <a:gd name="adj" fmla="val 5882"/>
            </a:avLst>
          </a:prstGeom>
          <a:solidFill>
            <a:schemeClr val="bg2"/>
          </a:solidFill>
          <a:ln w="12700">
            <a:solidFill>
              <a:schemeClr val="bg2"/>
            </a:solidFill>
            <a:prstDash val="solid"/>
          </a:ln>
        </p:spPr>
      </p:sp>
      <p:sp>
        <p:nvSpPr>
          <p:cNvPr id="19" name="Phrase 6"/>
          <p:cNvSpPr txBox="1"/>
          <p:nvPr/>
        </p:nvSpPr>
        <p:spPr>
          <a:xfrm>
            <a:off x="630936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“That's what I'm talking about!”</a:t>
            </a:r>
            <a:endParaRPr lang="en-US" sz="1600" dirty="0"/>
          </a:p>
        </p:txBody>
      </p:sp>
      <p:sp>
        <p:nvSpPr>
          <p:cNvPr id="20" name="Phrase note 6"/>
          <p:cNvSpPr txBox="1"/>
          <p:nvPr/>
        </p:nvSpPr>
        <p:spPr>
          <a:xfrm>
            <a:off x="630936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Excited approval</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The High Five</a:t>
            </a:r>
            <a:endParaRPr lang="en-US" sz="3400" dirty="0"/>
          </a:p>
        </p:txBody>
      </p:sp>
      <p:sp>
        <p:nvSpPr>
          <p:cNvPr id="3" name="Bullets"/>
          <p:cNvSpPr txBox="1"/>
          <p:nvPr/>
        </p:nvSpPr>
        <p:spPr>
          <a:xfrm>
            <a:off x="457200" y="1325880"/>
            <a:ext cx="4480560" cy="1737360"/>
          </a:xfrm>
          <a:prstGeom prst="rect">
            <a:avLst/>
          </a:prstGeom>
          <a:noFill/>
          <a:ln/>
        </p:spPr>
        <p:txBody>
          <a:bodyPr wrap="square" lIns="0" tIns="0" rIns="0" bIns="0" rtlCol="0" anchor="t"/>
          <a:lstStyle/>
          <a:p>
            <a:pPr marL="228600" indent="-228600">
              <a:spcAft>
                <a:spcPts val="1400"/>
              </a:spcAft>
              <a:buSzPct val="100000"/>
              <a:buChar char="•"/>
            </a:pPr>
            <a:r>
              <a:rPr lang="en-US" sz="1700" dirty="0">
                <a:solidFill>
                  <a:schemeClr val="tx1"/>
                </a:solidFill>
              </a:rPr>
              <a:t>Similar to the fist bump</a:t>
            </a:r>
            <a:endParaRPr lang="en-US" sz="1700" dirty="0"/>
          </a:p>
          <a:p>
            <a:pPr marL="228600" indent="-228600">
              <a:spcAft>
                <a:spcPts val="1400"/>
              </a:spcAft>
              <a:buSzPct val="100000"/>
              <a:buChar char="•"/>
            </a:pPr>
            <a:r>
              <a:rPr lang="en-US" sz="1700" dirty="0">
                <a:solidFill>
                  <a:schemeClr val="tx1"/>
                </a:solidFill>
              </a:rPr>
              <a:t>“Give me five,” “up top,” etc.</a:t>
            </a:r>
            <a:endParaRPr lang="en-US" sz="1700" dirty="0"/>
          </a:p>
          <a:p>
            <a:pPr marL="228600" indent="-228600">
              <a:spcAft>
                <a:spcPts val="1400"/>
              </a:spcAft>
              <a:buSzPct val="100000"/>
              <a:buChar char="•"/>
            </a:pPr>
            <a:r>
              <a:rPr lang="en-US" sz="1700" dirty="0">
                <a:solidFill>
                  <a:schemeClr val="tx1"/>
                </a:solidFill>
              </a:rPr>
              <a:t>Magic Johnson claimed to have invented it</a:t>
            </a:r>
            <a:endParaRPr lang="en-US" sz="1700" dirty="0"/>
          </a:p>
        </p:txBody>
      </p:sp>
      <p:sp>
        <p:nvSpPr>
          <p:cNvPr id="4" name="Stat card"/>
          <p:cNvSpPr/>
          <p:nvPr/>
        </p:nvSpPr>
        <p:spPr>
          <a:xfrm>
            <a:off x="457200" y="3337560"/>
            <a:ext cx="4480560" cy="1097280"/>
          </a:xfrm>
          <a:prstGeom prst="roundRect">
            <a:avLst>
              <a:gd name="adj" fmla="val 8333"/>
            </a:avLst>
          </a:prstGeom>
          <a:solidFill>
            <a:schemeClr val="tx2"/>
          </a:solidFill>
          <a:ln w="12700">
            <a:solidFill>
              <a:schemeClr val="tx2"/>
            </a:solidFill>
            <a:prstDash val="solid"/>
          </a:ln>
        </p:spPr>
      </p:sp>
      <p:sp>
        <p:nvSpPr>
          <p:cNvPr id="5" name="Stat number"/>
          <p:cNvSpPr txBox="1"/>
          <p:nvPr/>
        </p:nvSpPr>
        <p:spPr>
          <a:xfrm>
            <a:off x="685800" y="3337560"/>
            <a:ext cx="1463040" cy="1097280"/>
          </a:xfrm>
          <a:prstGeom prst="rect">
            <a:avLst/>
          </a:prstGeom>
          <a:noFill/>
          <a:ln/>
        </p:spPr>
        <p:txBody>
          <a:bodyPr wrap="square" lIns="0" tIns="0" rIns="0" bIns="0" rtlCol="0" anchor="ctr"/>
          <a:lstStyle/>
          <a:p>
            <a:pPr indent="0" marL="0">
              <a:buNone/>
            </a:pPr>
            <a:r>
              <a:rPr lang="en-US" sz="4000" b="1" dirty="0">
                <a:solidFill>
                  <a:schemeClr val="accent1"/>
                </a:solidFill>
                <a:latin typeface="Georgia" pitchFamily="34" charset="0"/>
                <a:ea typeface="Georgia" pitchFamily="34" charset="-122"/>
                <a:cs typeface="Georgia" pitchFamily="34" charset="-120"/>
              </a:rPr>
              <a:t>1977</a:t>
            </a:r>
            <a:endParaRPr lang="en-US" sz="4000" dirty="0"/>
          </a:p>
        </p:txBody>
      </p:sp>
      <p:sp>
        <p:nvSpPr>
          <p:cNvPr id="6" name="Stat label"/>
          <p:cNvSpPr txBox="1"/>
          <p:nvPr/>
        </p:nvSpPr>
        <p:spPr>
          <a:xfrm>
            <a:off x="2286000" y="3337560"/>
            <a:ext cx="2468880" cy="1097280"/>
          </a:xfrm>
          <a:prstGeom prst="rect">
            <a:avLst/>
          </a:prstGeom>
          <a:noFill/>
          <a:ln/>
        </p:spPr>
        <p:txBody>
          <a:bodyPr wrap="square" lIns="0" tIns="0" rIns="0" bIns="0" rtlCol="0" anchor="ctr"/>
          <a:lstStyle/>
          <a:p>
            <a:pPr indent="0" marL="0">
              <a:buNone/>
            </a:pPr>
            <a:r>
              <a:rPr lang="en-US" sz="1500" dirty="0">
                <a:solidFill>
                  <a:schemeClr val="bg1"/>
                </a:solidFill>
              </a:rPr>
              <a:t>First used by two professional baseball players</a:t>
            </a:r>
            <a:endParaRPr lang="en-US" sz="1500" dirty="0"/>
          </a:p>
        </p:txBody>
      </p:sp>
      <p:pic>
        <p:nvPicPr>
          <p:cNvPr id="7" name="Photo" descr="Two friends laughing and high-fiving">    </p:cNvPr>
          <p:cNvPicPr>
            <a:picLocks noChangeAspect="1"/>
          </p:cNvPicPr>
          <p:nvPr/>
        </p:nvPicPr>
        <p:blipFill>
          <a:blip r:embed="rId1"/>
          <a:stretch>
            <a:fillRect/>
          </a:stretch>
        </p:blipFill>
        <p:spPr>
          <a:xfrm>
            <a:off x="5303520" y="1325880"/>
            <a:ext cx="3383280" cy="310896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Up High, Down Low, Too Slow</a:t>
            </a:r>
            <a:endParaRPr lang="en-US" sz="3400" dirty="0"/>
          </a:p>
        </p:txBody>
      </p:sp>
      <p:pic>
        <p:nvPicPr>
          <p:cNvPr id="3" name="Photo 1" descr="Two people high-fiving">    </p:cNvPr>
          <p:cNvPicPr>
            <a:picLocks noChangeAspect="1"/>
          </p:cNvPicPr>
          <p:nvPr/>
        </p:nvPicPr>
        <p:blipFill>
          <a:blip r:embed="rId1"/>
          <a:stretch>
            <a:fillRect/>
          </a:stretch>
        </p:blipFill>
        <p:spPr>
          <a:xfrm>
            <a:off x="457200" y="1188720"/>
            <a:ext cx="2331720" cy="1600200"/>
          </a:xfrm>
          <a:prstGeom prst="rect">
            <a:avLst/>
          </a:prstGeom>
        </p:spPr>
      </p:pic>
      <p:sp>
        <p:nvSpPr>
          <p:cNvPr id="4" name="Photo number circle 1"/>
          <p:cNvSpPr/>
          <p:nvPr/>
        </p:nvSpPr>
        <p:spPr>
          <a:xfrm>
            <a:off x="566928" y="2331720"/>
            <a:ext cx="347472" cy="347472"/>
          </a:xfrm>
          <a:prstGeom prst="ellipse">
            <a:avLst/>
          </a:prstGeom>
          <a:solidFill>
            <a:schemeClr val="accent1"/>
          </a:solidFill>
          <a:ln w="12700">
            <a:solidFill>
              <a:schemeClr val="accent1"/>
            </a:solidFill>
            <a:prstDash val="solid"/>
          </a:ln>
        </p:spPr>
      </p:sp>
      <p:sp>
        <p:nvSpPr>
          <p:cNvPr id="5" name="Photo number 1"/>
          <p:cNvSpPr txBox="1"/>
          <p:nvPr/>
        </p:nvSpPr>
        <p:spPr>
          <a:xfrm>
            <a:off x="566928" y="233172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1</a:t>
            </a:r>
            <a:endParaRPr lang="en-US" sz="1400" dirty="0"/>
          </a:p>
        </p:txBody>
      </p:sp>
      <p:sp>
        <p:nvSpPr>
          <p:cNvPr id="6" name="Step circle 1"/>
          <p:cNvSpPr/>
          <p:nvPr/>
        </p:nvSpPr>
        <p:spPr>
          <a:xfrm>
            <a:off x="5669280" y="1280160"/>
            <a:ext cx="411480" cy="411480"/>
          </a:xfrm>
          <a:prstGeom prst="ellipse">
            <a:avLst/>
          </a:prstGeom>
          <a:solidFill>
            <a:schemeClr val="accent1"/>
          </a:solidFill>
          <a:ln w="12700">
            <a:solidFill>
              <a:schemeClr val="accent1"/>
            </a:solidFill>
            <a:prstDash val="solid"/>
          </a:ln>
        </p:spPr>
      </p:sp>
      <p:sp>
        <p:nvSpPr>
          <p:cNvPr id="7" name="Step number 1"/>
          <p:cNvSpPr txBox="1"/>
          <p:nvPr/>
        </p:nvSpPr>
        <p:spPr>
          <a:xfrm>
            <a:off x="5669280" y="128016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1</a:t>
            </a:r>
            <a:endParaRPr lang="en-US" sz="1600" dirty="0"/>
          </a:p>
        </p:txBody>
      </p:sp>
      <p:sp>
        <p:nvSpPr>
          <p:cNvPr id="8" name="Step text 1"/>
          <p:cNvSpPr txBox="1"/>
          <p:nvPr/>
        </p:nvSpPr>
        <p:spPr>
          <a:xfrm>
            <a:off x="6263640" y="1234440"/>
            <a:ext cx="2423160" cy="685800"/>
          </a:xfrm>
          <a:prstGeom prst="rect">
            <a:avLst/>
          </a:prstGeom>
          <a:noFill/>
          <a:ln/>
        </p:spPr>
        <p:txBody>
          <a:bodyPr wrap="square" lIns="0" tIns="0" rIns="0" bIns="0" rtlCol="0" anchor="t"/>
          <a:lstStyle/>
          <a:p>
            <a:pPr indent="0" marL="0">
              <a:buNone/>
            </a:pPr>
            <a:r>
              <a:rPr lang="en-US" sz="1800" b="1" dirty="0">
                <a:solidFill>
                  <a:schemeClr val="tx1"/>
                </a:solidFill>
              </a:rPr>
              <a:t>Up high!</a:t>
            </a:r>
            <a:endParaRPr lang="en-US" sz="1800" dirty="0"/>
          </a:p>
          <a:p>
            <a:pPr indent="0" marL="0">
              <a:buNone/>
            </a:pPr>
            <a:r>
              <a:rPr lang="en-US" sz="1200" dirty="0">
                <a:solidFill>
                  <a:schemeClr val="accent4"/>
                </a:solidFill>
              </a:rPr>
              <a:t>A normal high five</a:t>
            </a:r>
            <a:endParaRPr lang="en-US" sz="1800" dirty="0"/>
          </a:p>
        </p:txBody>
      </p:sp>
      <p:pic>
        <p:nvPicPr>
          <p:cNvPr id="9" name="Photo 2" descr="One person holds a hand up high, the other low">    </p:cNvPr>
          <p:cNvPicPr>
            <a:picLocks noChangeAspect="1"/>
          </p:cNvPicPr>
          <p:nvPr/>
        </p:nvPicPr>
        <p:blipFill>
          <a:blip r:embed="rId2"/>
          <a:stretch>
            <a:fillRect/>
          </a:stretch>
        </p:blipFill>
        <p:spPr>
          <a:xfrm>
            <a:off x="2971800" y="1188720"/>
            <a:ext cx="2331720" cy="1600200"/>
          </a:xfrm>
          <a:prstGeom prst="rect">
            <a:avLst/>
          </a:prstGeom>
        </p:spPr>
      </p:pic>
      <p:sp>
        <p:nvSpPr>
          <p:cNvPr id="10" name="Photo number circle 2"/>
          <p:cNvSpPr/>
          <p:nvPr/>
        </p:nvSpPr>
        <p:spPr>
          <a:xfrm>
            <a:off x="3081528" y="2331720"/>
            <a:ext cx="347472" cy="347472"/>
          </a:xfrm>
          <a:prstGeom prst="ellipse">
            <a:avLst/>
          </a:prstGeom>
          <a:solidFill>
            <a:schemeClr val="accent1"/>
          </a:solidFill>
          <a:ln w="12700">
            <a:solidFill>
              <a:schemeClr val="accent1"/>
            </a:solidFill>
            <a:prstDash val="solid"/>
          </a:ln>
        </p:spPr>
      </p:sp>
      <p:sp>
        <p:nvSpPr>
          <p:cNvPr id="11" name="Photo number 2"/>
          <p:cNvSpPr txBox="1"/>
          <p:nvPr/>
        </p:nvSpPr>
        <p:spPr>
          <a:xfrm>
            <a:off x="3081528" y="233172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2</a:t>
            </a:r>
            <a:endParaRPr lang="en-US" sz="1400" dirty="0"/>
          </a:p>
        </p:txBody>
      </p:sp>
      <p:sp>
        <p:nvSpPr>
          <p:cNvPr id="12" name="Step circle 2"/>
          <p:cNvSpPr/>
          <p:nvPr/>
        </p:nvSpPr>
        <p:spPr>
          <a:xfrm>
            <a:off x="5669280" y="2103120"/>
            <a:ext cx="411480" cy="411480"/>
          </a:xfrm>
          <a:prstGeom prst="ellipse">
            <a:avLst/>
          </a:prstGeom>
          <a:solidFill>
            <a:schemeClr val="accent1"/>
          </a:solidFill>
          <a:ln w="12700">
            <a:solidFill>
              <a:schemeClr val="accent1"/>
            </a:solidFill>
            <a:prstDash val="solid"/>
          </a:ln>
        </p:spPr>
      </p:sp>
      <p:sp>
        <p:nvSpPr>
          <p:cNvPr id="13" name="Step number 2"/>
          <p:cNvSpPr txBox="1"/>
          <p:nvPr/>
        </p:nvSpPr>
        <p:spPr>
          <a:xfrm>
            <a:off x="5669280" y="210312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2</a:t>
            </a:r>
            <a:endParaRPr lang="en-US" sz="1600" dirty="0"/>
          </a:p>
        </p:txBody>
      </p:sp>
      <p:sp>
        <p:nvSpPr>
          <p:cNvPr id="14" name="Step text 2"/>
          <p:cNvSpPr txBox="1"/>
          <p:nvPr/>
        </p:nvSpPr>
        <p:spPr>
          <a:xfrm>
            <a:off x="6263640" y="2057400"/>
            <a:ext cx="2423160" cy="685800"/>
          </a:xfrm>
          <a:prstGeom prst="rect">
            <a:avLst/>
          </a:prstGeom>
          <a:noFill/>
          <a:ln/>
        </p:spPr>
        <p:txBody>
          <a:bodyPr wrap="square" lIns="0" tIns="0" rIns="0" bIns="0" rtlCol="0" anchor="t"/>
          <a:lstStyle/>
          <a:p>
            <a:pPr indent="0" marL="0">
              <a:buNone/>
            </a:pPr>
            <a:r>
              <a:rPr lang="en-US" sz="1800" b="1" dirty="0">
                <a:solidFill>
                  <a:schemeClr val="tx1"/>
                </a:solidFill>
              </a:rPr>
              <a:t>Down low…</a:t>
            </a:r>
            <a:endParaRPr lang="en-US" sz="1800" dirty="0"/>
          </a:p>
          <a:p>
            <a:pPr indent="0" marL="0">
              <a:buNone/>
            </a:pPr>
            <a:r>
              <a:rPr lang="en-US" sz="1200" dirty="0">
                <a:solidFill>
                  <a:schemeClr val="accent4"/>
                </a:solidFill>
              </a:rPr>
              <a:t>Offer a low five</a:t>
            </a:r>
            <a:endParaRPr lang="en-US" sz="1800" dirty="0"/>
          </a:p>
        </p:txBody>
      </p:sp>
      <p:pic>
        <p:nvPicPr>
          <p:cNvPr id="15" name="Photo 3" descr="One person reaches low while the other pulls away">    </p:cNvPr>
          <p:cNvPicPr>
            <a:picLocks noChangeAspect="1"/>
          </p:cNvPicPr>
          <p:nvPr/>
        </p:nvPicPr>
        <p:blipFill>
          <a:blip r:embed="rId3"/>
          <a:stretch>
            <a:fillRect/>
          </a:stretch>
        </p:blipFill>
        <p:spPr>
          <a:xfrm>
            <a:off x="457200" y="2971800"/>
            <a:ext cx="2331720" cy="1600200"/>
          </a:xfrm>
          <a:prstGeom prst="rect">
            <a:avLst/>
          </a:prstGeom>
        </p:spPr>
      </p:pic>
      <p:sp>
        <p:nvSpPr>
          <p:cNvPr id="16" name="Photo number circle 3"/>
          <p:cNvSpPr/>
          <p:nvPr/>
        </p:nvSpPr>
        <p:spPr>
          <a:xfrm>
            <a:off x="566928" y="4114800"/>
            <a:ext cx="347472" cy="347472"/>
          </a:xfrm>
          <a:prstGeom prst="ellipse">
            <a:avLst/>
          </a:prstGeom>
          <a:solidFill>
            <a:schemeClr val="accent1"/>
          </a:solidFill>
          <a:ln w="12700">
            <a:solidFill>
              <a:schemeClr val="accent1"/>
            </a:solidFill>
            <a:prstDash val="solid"/>
          </a:ln>
        </p:spPr>
      </p:sp>
      <p:sp>
        <p:nvSpPr>
          <p:cNvPr id="17" name="Photo number 3"/>
          <p:cNvSpPr txBox="1"/>
          <p:nvPr/>
        </p:nvSpPr>
        <p:spPr>
          <a:xfrm>
            <a:off x="566928" y="411480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3</a:t>
            </a:r>
            <a:endParaRPr lang="en-US" sz="1400" dirty="0"/>
          </a:p>
        </p:txBody>
      </p:sp>
      <p:sp>
        <p:nvSpPr>
          <p:cNvPr id="18" name="Step circle 3"/>
          <p:cNvSpPr/>
          <p:nvPr/>
        </p:nvSpPr>
        <p:spPr>
          <a:xfrm>
            <a:off x="5669280" y="2926080"/>
            <a:ext cx="411480" cy="411480"/>
          </a:xfrm>
          <a:prstGeom prst="ellipse">
            <a:avLst/>
          </a:prstGeom>
          <a:solidFill>
            <a:schemeClr val="accent1"/>
          </a:solidFill>
          <a:ln w="12700">
            <a:solidFill>
              <a:schemeClr val="accent1"/>
            </a:solidFill>
            <a:prstDash val="solid"/>
          </a:ln>
        </p:spPr>
      </p:sp>
      <p:sp>
        <p:nvSpPr>
          <p:cNvPr id="19" name="Step number 3"/>
          <p:cNvSpPr txBox="1"/>
          <p:nvPr/>
        </p:nvSpPr>
        <p:spPr>
          <a:xfrm>
            <a:off x="5669280" y="292608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3</a:t>
            </a:r>
            <a:endParaRPr lang="en-US" sz="1600" dirty="0"/>
          </a:p>
        </p:txBody>
      </p:sp>
      <p:sp>
        <p:nvSpPr>
          <p:cNvPr id="20" name="Step text 3"/>
          <p:cNvSpPr txBox="1"/>
          <p:nvPr/>
        </p:nvSpPr>
        <p:spPr>
          <a:xfrm>
            <a:off x="6263640" y="2880360"/>
            <a:ext cx="2423160" cy="685800"/>
          </a:xfrm>
          <a:prstGeom prst="rect">
            <a:avLst/>
          </a:prstGeom>
          <a:noFill/>
          <a:ln/>
        </p:spPr>
        <p:txBody>
          <a:bodyPr wrap="square" lIns="0" tIns="0" rIns="0" bIns="0" rtlCol="0" anchor="t"/>
          <a:lstStyle/>
          <a:p>
            <a:pPr indent="0" marL="0">
              <a:buNone/>
            </a:pPr>
            <a:r>
              <a:rPr lang="en-US" sz="1800" b="1" dirty="0">
                <a:solidFill>
                  <a:schemeClr val="tx1"/>
                </a:solidFill>
              </a:rPr>
              <a:t>Too slow!</a:t>
            </a:r>
            <a:endParaRPr lang="en-US" sz="1800" dirty="0"/>
          </a:p>
          <a:p>
            <a:pPr indent="0" marL="0">
              <a:buNone/>
            </a:pPr>
            <a:r>
              <a:rPr lang="en-US" sz="1200" dirty="0">
                <a:solidFill>
                  <a:schemeClr val="accent4"/>
                </a:solidFill>
              </a:rPr>
              <a:t>Pull your hand away at the last second</a:t>
            </a:r>
            <a:endParaRPr lang="en-US" sz="1800" dirty="0"/>
          </a:p>
        </p:txBody>
      </p:sp>
      <p:pic>
        <p:nvPicPr>
          <p:cNvPr id="21" name="Photo 4" descr="One person points and laughs while the other looks unimpressed">    </p:cNvPr>
          <p:cNvPicPr>
            <a:picLocks noChangeAspect="1"/>
          </p:cNvPicPr>
          <p:nvPr/>
        </p:nvPicPr>
        <p:blipFill>
          <a:blip r:embed="rId4"/>
          <a:stretch>
            <a:fillRect/>
          </a:stretch>
        </p:blipFill>
        <p:spPr>
          <a:xfrm>
            <a:off x="2971800" y="2971800"/>
            <a:ext cx="2331720" cy="1600200"/>
          </a:xfrm>
          <a:prstGeom prst="rect">
            <a:avLst/>
          </a:prstGeom>
        </p:spPr>
      </p:pic>
      <p:sp>
        <p:nvSpPr>
          <p:cNvPr id="22" name="Photo number circle 4"/>
          <p:cNvSpPr/>
          <p:nvPr/>
        </p:nvSpPr>
        <p:spPr>
          <a:xfrm>
            <a:off x="3081528" y="4114800"/>
            <a:ext cx="347472" cy="347472"/>
          </a:xfrm>
          <a:prstGeom prst="ellipse">
            <a:avLst/>
          </a:prstGeom>
          <a:solidFill>
            <a:schemeClr val="accent1"/>
          </a:solidFill>
          <a:ln w="12700">
            <a:solidFill>
              <a:schemeClr val="accent1"/>
            </a:solidFill>
            <a:prstDash val="solid"/>
          </a:ln>
        </p:spPr>
      </p:sp>
      <p:sp>
        <p:nvSpPr>
          <p:cNvPr id="23" name="Photo number 4"/>
          <p:cNvSpPr txBox="1"/>
          <p:nvPr/>
        </p:nvSpPr>
        <p:spPr>
          <a:xfrm>
            <a:off x="3081528" y="4114800"/>
            <a:ext cx="347472" cy="347472"/>
          </a:xfrm>
          <a:prstGeom prst="rect">
            <a:avLst/>
          </a:prstGeom>
          <a:noFill/>
          <a:ln/>
        </p:spPr>
        <p:txBody>
          <a:bodyPr wrap="square" lIns="0" tIns="0" rIns="0" bIns="0" rtlCol="0" anchor="ctr"/>
          <a:lstStyle/>
          <a:p>
            <a:pPr algn="ctr" indent="0" marL="0">
              <a:buNone/>
            </a:pPr>
            <a:r>
              <a:rPr lang="en-US" sz="1400" b="1" dirty="0">
                <a:solidFill>
                  <a:schemeClr val="tx1"/>
                </a:solidFill>
              </a:rPr>
              <a:t>4</a:t>
            </a:r>
            <a:endParaRPr lang="en-US" sz="1400" dirty="0"/>
          </a:p>
        </p:txBody>
      </p:sp>
      <p:sp>
        <p:nvSpPr>
          <p:cNvPr id="24" name="Step circle 4"/>
          <p:cNvSpPr/>
          <p:nvPr/>
        </p:nvSpPr>
        <p:spPr>
          <a:xfrm>
            <a:off x="5669280" y="3749040"/>
            <a:ext cx="411480" cy="411480"/>
          </a:xfrm>
          <a:prstGeom prst="ellipse">
            <a:avLst/>
          </a:prstGeom>
          <a:solidFill>
            <a:schemeClr val="accent1"/>
          </a:solidFill>
          <a:ln w="12700">
            <a:solidFill>
              <a:schemeClr val="accent1"/>
            </a:solidFill>
            <a:prstDash val="solid"/>
          </a:ln>
        </p:spPr>
      </p:sp>
      <p:sp>
        <p:nvSpPr>
          <p:cNvPr id="25" name="Step number 4"/>
          <p:cNvSpPr txBox="1"/>
          <p:nvPr/>
        </p:nvSpPr>
        <p:spPr>
          <a:xfrm>
            <a:off x="5669280" y="3749040"/>
            <a:ext cx="411480" cy="411480"/>
          </a:xfrm>
          <a:prstGeom prst="rect">
            <a:avLst/>
          </a:prstGeom>
          <a:noFill/>
          <a:ln/>
        </p:spPr>
        <p:txBody>
          <a:bodyPr wrap="square" lIns="0" tIns="0" rIns="0" bIns="0" rtlCol="0" anchor="ctr"/>
          <a:lstStyle/>
          <a:p>
            <a:pPr algn="ctr" indent="0" marL="0">
              <a:buNone/>
            </a:pPr>
            <a:r>
              <a:rPr lang="en-US" sz="1600" b="1" dirty="0">
                <a:solidFill>
                  <a:schemeClr val="tx1"/>
                </a:solidFill>
              </a:rPr>
              <a:t>4</a:t>
            </a:r>
            <a:endParaRPr lang="en-US" sz="1600" dirty="0"/>
          </a:p>
        </p:txBody>
      </p:sp>
      <p:sp>
        <p:nvSpPr>
          <p:cNvPr id="26" name="Step text 4"/>
          <p:cNvSpPr txBox="1"/>
          <p:nvPr/>
        </p:nvSpPr>
        <p:spPr>
          <a:xfrm>
            <a:off x="6263640" y="3703320"/>
            <a:ext cx="2423160" cy="685800"/>
          </a:xfrm>
          <a:prstGeom prst="rect">
            <a:avLst/>
          </a:prstGeom>
          <a:noFill/>
          <a:ln/>
        </p:spPr>
        <p:txBody>
          <a:bodyPr wrap="square" lIns="0" tIns="0" rIns="0" bIns="0" rtlCol="0" anchor="t"/>
          <a:lstStyle/>
          <a:p>
            <a:pPr indent="0" marL="0">
              <a:buNone/>
            </a:pPr>
            <a:r>
              <a:rPr lang="en-US" sz="1800" b="1" dirty="0">
                <a:solidFill>
                  <a:schemeClr val="tx1"/>
                </a:solidFill>
              </a:rPr>
              <a:t>Gotcha!</a:t>
            </a:r>
            <a:endParaRPr lang="en-US" sz="1800" dirty="0"/>
          </a:p>
          <a:p>
            <a:pPr indent="0" marL="0">
              <a:buNone/>
            </a:pPr>
            <a:r>
              <a:rPr lang="en-US" sz="1200" dirty="0">
                <a:solidFill>
                  <a:schemeClr val="accent4"/>
                </a:solidFill>
              </a:rPr>
              <a:t>Enjoy their reaction</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Phrases for the High Five</a:t>
            </a:r>
            <a:endParaRPr lang="en-US" sz="3400" dirty="0"/>
          </a:p>
        </p:txBody>
      </p:sp>
      <p:sp>
        <p:nvSpPr>
          <p:cNvPr id="3" name="Phrase card 1"/>
          <p:cNvSpPr/>
          <p:nvPr/>
        </p:nvSpPr>
        <p:spPr>
          <a:xfrm>
            <a:off x="457200" y="1234440"/>
            <a:ext cx="2560320" cy="1554480"/>
          </a:xfrm>
          <a:prstGeom prst="roundRect">
            <a:avLst>
              <a:gd name="adj" fmla="val 5882"/>
            </a:avLst>
          </a:prstGeom>
          <a:solidFill>
            <a:schemeClr val="bg2"/>
          </a:solidFill>
          <a:ln w="12700">
            <a:solidFill>
              <a:schemeClr val="bg2"/>
            </a:solidFill>
            <a:prstDash val="solid"/>
          </a:ln>
        </p:spPr>
      </p:sp>
      <p:sp>
        <p:nvSpPr>
          <p:cNvPr id="4" name="Phrase 1"/>
          <p:cNvSpPr txBox="1"/>
          <p:nvPr/>
        </p:nvSpPr>
        <p:spPr>
          <a:xfrm>
            <a:off x="64008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“Up top!”</a:t>
            </a:r>
            <a:endParaRPr lang="en-US" sz="1600" dirty="0"/>
          </a:p>
        </p:txBody>
      </p:sp>
      <p:sp>
        <p:nvSpPr>
          <p:cNvPr id="5" name="Phrase note 1"/>
          <p:cNvSpPr txBox="1"/>
          <p:nvPr/>
        </p:nvSpPr>
        <p:spPr>
          <a:xfrm>
            <a:off x="64008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Invites a high five, hand raised</a:t>
            </a:r>
            <a:endParaRPr lang="en-US" sz="1200" dirty="0"/>
          </a:p>
        </p:txBody>
      </p:sp>
      <p:sp>
        <p:nvSpPr>
          <p:cNvPr id="6" name="Phrase card 2"/>
          <p:cNvSpPr/>
          <p:nvPr/>
        </p:nvSpPr>
        <p:spPr>
          <a:xfrm>
            <a:off x="3291840" y="1234440"/>
            <a:ext cx="2560320" cy="1554480"/>
          </a:xfrm>
          <a:prstGeom prst="roundRect">
            <a:avLst>
              <a:gd name="adj" fmla="val 5882"/>
            </a:avLst>
          </a:prstGeom>
          <a:solidFill>
            <a:schemeClr val="bg2"/>
          </a:solidFill>
          <a:ln w="12700">
            <a:solidFill>
              <a:schemeClr val="bg2"/>
            </a:solidFill>
            <a:prstDash val="solid"/>
          </a:ln>
        </p:spPr>
      </p:sp>
      <p:sp>
        <p:nvSpPr>
          <p:cNvPr id="7" name="Phrase 2"/>
          <p:cNvSpPr txBox="1"/>
          <p:nvPr/>
        </p:nvSpPr>
        <p:spPr>
          <a:xfrm>
            <a:off x="347472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“Gimme five!”</a:t>
            </a:r>
            <a:endParaRPr lang="en-US" sz="1600" dirty="0"/>
          </a:p>
        </p:txBody>
      </p:sp>
      <p:sp>
        <p:nvSpPr>
          <p:cNvPr id="8" name="Phrase note 2"/>
          <p:cNvSpPr txBox="1"/>
          <p:nvPr/>
        </p:nvSpPr>
        <p:spPr>
          <a:xfrm>
            <a:off x="347472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Short for “Give me five”; same invitation</a:t>
            </a:r>
            <a:endParaRPr lang="en-US" sz="1200" dirty="0"/>
          </a:p>
        </p:txBody>
      </p:sp>
      <p:sp>
        <p:nvSpPr>
          <p:cNvPr id="9" name="Phrase card 3"/>
          <p:cNvSpPr/>
          <p:nvPr/>
        </p:nvSpPr>
        <p:spPr>
          <a:xfrm>
            <a:off x="6126480" y="1234440"/>
            <a:ext cx="2560320" cy="1554480"/>
          </a:xfrm>
          <a:prstGeom prst="roundRect">
            <a:avLst>
              <a:gd name="adj" fmla="val 5882"/>
            </a:avLst>
          </a:prstGeom>
          <a:solidFill>
            <a:schemeClr val="bg2"/>
          </a:solidFill>
          <a:ln w="12700">
            <a:solidFill>
              <a:schemeClr val="bg2"/>
            </a:solidFill>
            <a:prstDash val="solid"/>
          </a:ln>
        </p:spPr>
      </p:sp>
      <p:sp>
        <p:nvSpPr>
          <p:cNvPr id="10" name="Phrase 3"/>
          <p:cNvSpPr txBox="1"/>
          <p:nvPr/>
        </p:nvSpPr>
        <p:spPr>
          <a:xfrm>
            <a:off x="630936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“Don't leave me hanging!”</a:t>
            </a:r>
            <a:endParaRPr lang="en-US" sz="1600" dirty="0"/>
          </a:p>
        </p:txBody>
      </p:sp>
      <p:sp>
        <p:nvSpPr>
          <p:cNvPr id="11" name="Phrase note 3"/>
          <p:cNvSpPr txBox="1"/>
          <p:nvPr/>
        </p:nvSpPr>
        <p:spPr>
          <a:xfrm>
            <a:off x="630936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When someone ignores your raised hand</a:t>
            </a:r>
            <a:endParaRPr lang="en-US" sz="1200" dirty="0"/>
          </a:p>
        </p:txBody>
      </p:sp>
      <p:sp>
        <p:nvSpPr>
          <p:cNvPr id="12" name="Phrase card 4"/>
          <p:cNvSpPr/>
          <p:nvPr/>
        </p:nvSpPr>
        <p:spPr>
          <a:xfrm>
            <a:off x="457200" y="3017520"/>
            <a:ext cx="2560320" cy="1554480"/>
          </a:xfrm>
          <a:prstGeom prst="roundRect">
            <a:avLst>
              <a:gd name="adj" fmla="val 5882"/>
            </a:avLst>
          </a:prstGeom>
          <a:solidFill>
            <a:schemeClr val="bg2"/>
          </a:solidFill>
          <a:ln w="12700">
            <a:solidFill>
              <a:schemeClr val="bg2"/>
            </a:solidFill>
            <a:prstDash val="solid"/>
          </a:ln>
        </p:spPr>
      </p:sp>
      <p:sp>
        <p:nvSpPr>
          <p:cNvPr id="13" name="Phrase 4"/>
          <p:cNvSpPr txBox="1"/>
          <p:nvPr/>
        </p:nvSpPr>
        <p:spPr>
          <a:xfrm>
            <a:off x="64008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“Down low… too slow!”</a:t>
            </a:r>
            <a:endParaRPr lang="en-US" sz="1600" dirty="0"/>
          </a:p>
        </p:txBody>
      </p:sp>
      <p:sp>
        <p:nvSpPr>
          <p:cNvPr id="14" name="Phrase note 4"/>
          <p:cNvSpPr txBox="1"/>
          <p:nvPr/>
        </p:nvSpPr>
        <p:spPr>
          <a:xfrm>
            <a:off x="64008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Kids' joke: pull your hand away at the last second</a:t>
            </a:r>
            <a:endParaRPr lang="en-US" sz="1200" dirty="0"/>
          </a:p>
        </p:txBody>
      </p:sp>
      <p:sp>
        <p:nvSpPr>
          <p:cNvPr id="15" name="Phrase card 5"/>
          <p:cNvSpPr/>
          <p:nvPr/>
        </p:nvSpPr>
        <p:spPr>
          <a:xfrm>
            <a:off x="3291840" y="3017520"/>
            <a:ext cx="2560320" cy="1554480"/>
          </a:xfrm>
          <a:prstGeom prst="roundRect">
            <a:avLst>
              <a:gd name="adj" fmla="val 5882"/>
            </a:avLst>
          </a:prstGeom>
          <a:solidFill>
            <a:schemeClr val="bg2"/>
          </a:solidFill>
          <a:ln w="12700">
            <a:solidFill>
              <a:schemeClr val="bg2"/>
            </a:solidFill>
            <a:prstDash val="solid"/>
          </a:ln>
        </p:spPr>
      </p:sp>
      <p:sp>
        <p:nvSpPr>
          <p:cNvPr id="16" name="Phrase 5"/>
          <p:cNvSpPr txBox="1"/>
          <p:nvPr/>
        </p:nvSpPr>
        <p:spPr>
          <a:xfrm>
            <a:off x="347472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“High five!”</a:t>
            </a:r>
            <a:endParaRPr lang="en-US" sz="1600" dirty="0"/>
          </a:p>
        </p:txBody>
      </p:sp>
      <p:sp>
        <p:nvSpPr>
          <p:cNvPr id="17" name="Phrase note 5"/>
          <p:cNvSpPr txBox="1"/>
          <p:nvPr/>
        </p:nvSpPr>
        <p:spPr>
          <a:xfrm>
            <a:off x="347472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Said while doing it, often after good news</a:t>
            </a:r>
            <a:endParaRPr lang="en-US" sz="1200" dirty="0"/>
          </a:p>
        </p:txBody>
      </p:sp>
      <p:sp>
        <p:nvSpPr>
          <p:cNvPr id="18" name="Phrase card 6"/>
          <p:cNvSpPr/>
          <p:nvPr/>
        </p:nvSpPr>
        <p:spPr>
          <a:xfrm>
            <a:off x="6126480" y="3017520"/>
            <a:ext cx="2560320" cy="1554480"/>
          </a:xfrm>
          <a:prstGeom prst="roundRect">
            <a:avLst>
              <a:gd name="adj" fmla="val 5882"/>
            </a:avLst>
          </a:prstGeom>
          <a:solidFill>
            <a:schemeClr val="bg2"/>
          </a:solidFill>
          <a:ln w="12700">
            <a:solidFill>
              <a:schemeClr val="bg2"/>
            </a:solidFill>
            <a:prstDash val="solid"/>
          </a:ln>
        </p:spPr>
      </p:sp>
      <p:sp>
        <p:nvSpPr>
          <p:cNvPr id="19" name="Phrase 6"/>
          <p:cNvSpPr txBox="1"/>
          <p:nvPr/>
        </p:nvSpPr>
        <p:spPr>
          <a:xfrm>
            <a:off x="630936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“Nailed it!”</a:t>
            </a:r>
            <a:endParaRPr lang="en-US" sz="1600" dirty="0"/>
          </a:p>
        </p:txBody>
      </p:sp>
      <p:sp>
        <p:nvSpPr>
          <p:cNvPr id="20" name="Phrase note 6"/>
          <p:cNvSpPr txBox="1"/>
          <p:nvPr/>
        </p:nvSpPr>
        <p:spPr>
          <a:xfrm>
            <a:off x="630936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Someone just succeeded; a high five follows</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The Dap</a:t>
            </a:r>
            <a:endParaRPr lang="en-US" sz="3400" dirty="0"/>
          </a:p>
        </p:txBody>
      </p:sp>
      <p:pic>
        <p:nvPicPr>
          <p:cNvPr id="3" name="Photo" descr="A series of photos showing different dap hand moves">    </p:cNvPr>
          <p:cNvPicPr>
            <a:picLocks noChangeAspect="1"/>
          </p:cNvPicPr>
          <p:nvPr/>
        </p:nvPicPr>
        <p:blipFill>
          <a:blip r:embed="rId1"/>
          <a:stretch>
            <a:fillRect/>
          </a:stretch>
        </p:blipFill>
        <p:spPr>
          <a:xfrm>
            <a:off x="457200" y="1973275"/>
            <a:ext cx="3291840" cy="1813255"/>
          </a:xfrm>
          <a:prstGeom prst="rect">
            <a:avLst/>
          </a:prstGeom>
        </p:spPr>
      </p:pic>
      <p:sp>
        <p:nvSpPr>
          <p:cNvPr id="4" name="Question card"/>
          <p:cNvSpPr/>
          <p:nvPr/>
        </p:nvSpPr>
        <p:spPr>
          <a:xfrm>
            <a:off x="4023360" y="1325880"/>
            <a:ext cx="4663440" cy="731520"/>
          </a:xfrm>
          <a:prstGeom prst="roundRect">
            <a:avLst>
              <a:gd name="adj" fmla="val 12500"/>
            </a:avLst>
          </a:prstGeom>
          <a:solidFill>
            <a:srgbClr val="FFF1C2"/>
          </a:solidFill>
          <a:ln w="12700">
            <a:solidFill>
              <a:srgbClr val="FFF1C2"/>
            </a:solidFill>
            <a:prstDash val="solid"/>
          </a:ln>
        </p:spPr>
      </p:sp>
      <p:sp>
        <p:nvSpPr>
          <p:cNvPr id="5" name="Question icon circle"/>
          <p:cNvSpPr/>
          <p:nvPr/>
        </p:nvSpPr>
        <p:spPr>
          <a:xfrm>
            <a:off x="4224528" y="1463040"/>
            <a:ext cx="457200" cy="457200"/>
          </a:xfrm>
          <a:prstGeom prst="ellipse">
            <a:avLst/>
          </a:prstGeom>
          <a:solidFill>
            <a:schemeClr val="accent1"/>
          </a:solidFill>
          <a:ln w="12700">
            <a:solidFill>
              <a:schemeClr val="accent1"/>
            </a:solidFill>
            <a:prstDash val="solid"/>
          </a:ln>
        </p:spPr>
      </p:sp>
      <p:sp>
        <p:nvSpPr>
          <p:cNvPr id="6" name="Question mark"/>
          <p:cNvSpPr txBox="1"/>
          <p:nvPr/>
        </p:nvSpPr>
        <p:spPr>
          <a:xfrm>
            <a:off x="4224528" y="1463040"/>
            <a:ext cx="457200" cy="457200"/>
          </a:xfrm>
          <a:prstGeom prst="rect">
            <a:avLst/>
          </a:prstGeom>
          <a:noFill/>
          <a:ln/>
        </p:spPr>
        <p:txBody>
          <a:bodyPr wrap="square" lIns="0" tIns="0" rIns="0" bIns="0" rtlCol="0" anchor="ctr"/>
          <a:lstStyle/>
          <a:p>
            <a:pPr algn="ctr" indent="0" marL="0">
              <a:buNone/>
            </a:pPr>
            <a:r>
              <a:rPr lang="en-US" sz="2000" b="1" dirty="0">
                <a:solidFill>
                  <a:schemeClr val="tx1"/>
                </a:solidFill>
              </a:rPr>
              <a:t>?</a:t>
            </a:r>
            <a:endParaRPr lang="en-US" sz="2000" dirty="0"/>
          </a:p>
        </p:txBody>
      </p:sp>
      <p:sp>
        <p:nvSpPr>
          <p:cNvPr id="7" name="Question text"/>
          <p:cNvSpPr txBox="1"/>
          <p:nvPr/>
        </p:nvSpPr>
        <p:spPr>
          <a:xfrm>
            <a:off x="4864608" y="1325880"/>
            <a:ext cx="3657600" cy="731520"/>
          </a:xfrm>
          <a:prstGeom prst="rect">
            <a:avLst/>
          </a:prstGeom>
          <a:noFill/>
          <a:ln/>
        </p:spPr>
        <p:txBody>
          <a:bodyPr wrap="square" lIns="0" tIns="0" rIns="0" bIns="0" rtlCol="0" anchor="ctr"/>
          <a:lstStyle/>
          <a:p>
            <a:pPr indent="0" marL="0">
              <a:buNone/>
            </a:pPr>
            <a:r>
              <a:rPr lang="en-US" sz="1700" b="1" dirty="0">
                <a:solidFill>
                  <a:schemeClr val="tx1"/>
                </a:solidFill>
              </a:rPr>
              <a:t>First, “dap”: what does it mean?</a:t>
            </a:r>
            <a:endParaRPr lang="en-US" sz="1700" dirty="0"/>
          </a:p>
        </p:txBody>
      </p:sp>
      <p:sp>
        <p:nvSpPr>
          <p:cNvPr id="8" name="Bullets"/>
          <p:cNvSpPr txBox="1"/>
          <p:nvPr/>
        </p:nvSpPr>
        <p:spPr>
          <a:xfrm>
            <a:off x="4023360" y="2286000"/>
            <a:ext cx="4663440" cy="2194560"/>
          </a:xfrm>
          <a:prstGeom prst="rect">
            <a:avLst/>
          </a:prstGeom>
          <a:noFill/>
          <a:ln/>
        </p:spPr>
        <p:txBody>
          <a:bodyPr wrap="square" lIns="0" tIns="0" rIns="0" bIns="0" rtlCol="0" anchor="t"/>
          <a:lstStyle/>
          <a:p>
            <a:pPr marL="228600" indent="-228600">
              <a:spcAft>
                <a:spcPts val="1400"/>
              </a:spcAft>
              <a:buSzPct val="100000"/>
              <a:buChar char="•"/>
            </a:pPr>
            <a:r>
              <a:rPr lang="en-US" sz="1500" dirty="0">
                <a:solidFill>
                  <a:schemeClr val="tx1"/>
                </a:solidFill>
              </a:rPr>
              <a:t>Originated among Black soldiers during the Vietnam War</a:t>
            </a:r>
            <a:endParaRPr lang="en-US" sz="1500" dirty="0"/>
          </a:p>
          <a:p>
            <a:pPr marL="228600" indent="-228600">
              <a:spcAft>
                <a:spcPts val="1400"/>
              </a:spcAft>
              <a:buSzPct val="100000"/>
              <a:buChar char="•"/>
            </a:pPr>
            <a:r>
              <a:rPr lang="en-US" sz="1500" dirty="0">
                <a:solidFill>
                  <a:schemeClr val="tx1"/>
                </a:solidFill>
              </a:rPr>
              <a:t>Now: most common form of greeting (amongst teenagers)</a:t>
            </a:r>
            <a:endParaRPr lang="en-US" sz="1500" dirty="0"/>
          </a:p>
          <a:p>
            <a:pPr marL="228600" indent="-228600">
              <a:spcAft>
                <a:spcPts val="1400"/>
              </a:spcAft>
              <a:buSzPct val="100000"/>
              <a:buChar char="•"/>
            </a:pPr>
            <a:r>
              <a:rPr lang="en-US" sz="1500" dirty="0">
                <a:solidFill>
                  <a:schemeClr val="tx1"/>
                </a:solidFill>
              </a:rPr>
              <a:t>Not used in professional contexts</a:t>
            </a:r>
            <a:endParaRPr lang="en-US" sz="1500" dirty="0"/>
          </a:p>
          <a:p>
            <a:pPr marL="228600" indent="-228600">
              <a:spcAft>
                <a:spcPts val="1400"/>
              </a:spcAft>
              <a:buSzPct val="100000"/>
              <a:buChar char="•"/>
            </a:pPr>
            <a:r>
              <a:rPr lang="en-US" sz="1500" dirty="0">
                <a:solidFill>
                  <a:schemeClr val="tx1"/>
                </a:solidFill>
              </a:rPr>
              <a:t>If you don't know how to do it properly, can make you seem like a loser</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85800"/>
          </a:xfrm>
          <a:prstGeom prst="rect">
            <a:avLst/>
          </a:prstGeom>
          <a:noFill/>
          <a:ln/>
        </p:spPr>
        <p:txBody>
          <a:bodyPr wrap="square" lIns="0" tIns="0" rIns="0" bIns="0" rtlCol="0" anchor="ctr"/>
          <a:lstStyle/>
          <a:p>
            <a:pPr algn="l" indent="0" marL="0">
              <a:buNone/>
            </a:pPr>
            <a:r>
              <a:rPr lang="en-US" sz="3400" b="1" dirty="0">
                <a:solidFill>
                  <a:schemeClr val="tx1"/>
                </a:solidFill>
              </a:rPr>
              <a:t>Phrases for the Dap</a:t>
            </a:r>
            <a:endParaRPr lang="en-US" sz="3400" dirty="0"/>
          </a:p>
        </p:txBody>
      </p:sp>
      <p:sp>
        <p:nvSpPr>
          <p:cNvPr id="3" name="Phrase card 1"/>
          <p:cNvSpPr/>
          <p:nvPr/>
        </p:nvSpPr>
        <p:spPr>
          <a:xfrm>
            <a:off x="457200" y="1234440"/>
            <a:ext cx="2560320" cy="1554480"/>
          </a:xfrm>
          <a:prstGeom prst="roundRect">
            <a:avLst>
              <a:gd name="adj" fmla="val 5882"/>
            </a:avLst>
          </a:prstGeom>
          <a:solidFill>
            <a:schemeClr val="bg2"/>
          </a:solidFill>
          <a:ln w="12700">
            <a:solidFill>
              <a:schemeClr val="bg2"/>
            </a:solidFill>
            <a:prstDash val="solid"/>
          </a:ln>
        </p:spPr>
      </p:sp>
      <p:sp>
        <p:nvSpPr>
          <p:cNvPr id="4" name="Phrase 1"/>
          <p:cNvSpPr txBox="1"/>
          <p:nvPr/>
        </p:nvSpPr>
        <p:spPr>
          <a:xfrm>
            <a:off x="64008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“What's up?”</a:t>
            </a:r>
            <a:endParaRPr lang="en-US" sz="1600" dirty="0"/>
          </a:p>
        </p:txBody>
      </p:sp>
      <p:sp>
        <p:nvSpPr>
          <p:cNvPr id="5" name="Phrase note 1"/>
          <p:cNvSpPr txBox="1"/>
          <p:nvPr/>
        </p:nvSpPr>
        <p:spPr>
          <a:xfrm>
            <a:off x="64008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Not a real question. Reply: “Not much, you?”</a:t>
            </a:r>
            <a:endParaRPr lang="en-US" sz="1200" dirty="0"/>
          </a:p>
        </p:txBody>
      </p:sp>
      <p:sp>
        <p:nvSpPr>
          <p:cNvPr id="6" name="Phrase card 2"/>
          <p:cNvSpPr/>
          <p:nvPr/>
        </p:nvSpPr>
        <p:spPr>
          <a:xfrm>
            <a:off x="3291840" y="1234440"/>
            <a:ext cx="2560320" cy="1554480"/>
          </a:xfrm>
          <a:prstGeom prst="roundRect">
            <a:avLst>
              <a:gd name="adj" fmla="val 5882"/>
            </a:avLst>
          </a:prstGeom>
          <a:solidFill>
            <a:schemeClr val="bg2"/>
          </a:solidFill>
          <a:ln w="12700">
            <a:solidFill>
              <a:schemeClr val="bg2"/>
            </a:solidFill>
            <a:prstDash val="solid"/>
          </a:ln>
        </p:spPr>
      </p:sp>
      <p:sp>
        <p:nvSpPr>
          <p:cNvPr id="7" name="Phrase 2"/>
          <p:cNvSpPr txBox="1"/>
          <p:nvPr/>
        </p:nvSpPr>
        <p:spPr>
          <a:xfrm>
            <a:off x="347472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“What's good?”</a:t>
            </a:r>
            <a:endParaRPr lang="en-US" sz="1600" dirty="0"/>
          </a:p>
        </p:txBody>
      </p:sp>
      <p:sp>
        <p:nvSpPr>
          <p:cNvPr id="8" name="Phrase note 2"/>
          <p:cNvSpPr txBox="1"/>
          <p:nvPr/>
        </p:nvSpPr>
        <p:spPr>
          <a:xfrm>
            <a:off x="347472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Same as “What's up?” Reply: “Chillin'.”</a:t>
            </a:r>
            <a:endParaRPr lang="en-US" sz="1200" dirty="0"/>
          </a:p>
        </p:txBody>
      </p:sp>
      <p:sp>
        <p:nvSpPr>
          <p:cNvPr id="9" name="Phrase card 3"/>
          <p:cNvSpPr/>
          <p:nvPr/>
        </p:nvSpPr>
        <p:spPr>
          <a:xfrm>
            <a:off x="6126480" y="1234440"/>
            <a:ext cx="2560320" cy="1554480"/>
          </a:xfrm>
          <a:prstGeom prst="roundRect">
            <a:avLst>
              <a:gd name="adj" fmla="val 5882"/>
            </a:avLst>
          </a:prstGeom>
          <a:solidFill>
            <a:schemeClr val="bg2"/>
          </a:solidFill>
          <a:ln w="12700">
            <a:solidFill>
              <a:schemeClr val="bg2"/>
            </a:solidFill>
            <a:prstDash val="solid"/>
          </a:ln>
        </p:spPr>
      </p:sp>
      <p:sp>
        <p:nvSpPr>
          <p:cNvPr id="10" name="Phrase 3"/>
          <p:cNvSpPr txBox="1"/>
          <p:nvPr/>
        </p:nvSpPr>
        <p:spPr>
          <a:xfrm>
            <a:off x="6309360" y="1399032"/>
            <a:ext cx="2194560" cy="658368"/>
          </a:xfrm>
          <a:prstGeom prst="rect">
            <a:avLst/>
          </a:prstGeom>
          <a:noFill/>
          <a:ln/>
        </p:spPr>
        <p:txBody>
          <a:bodyPr wrap="square" lIns="0" tIns="0" rIns="0" bIns="0" rtlCol="0" anchor="t"/>
          <a:lstStyle/>
          <a:p>
            <a:pPr indent="0" marL="0">
              <a:buNone/>
            </a:pPr>
            <a:r>
              <a:rPr lang="en-US" sz="1600" b="1" dirty="0">
                <a:solidFill>
                  <a:schemeClr val="tx1"/>
                </a:solidFill>
              </a:rPr>
              <a:t>“Yo!”</a:t>
            </a:r>
            <a:endParaRPr lang="en-US" sz="1600" dirty="0"/>
          </a:p>
        </p:txBody>
      </p:sp>
      <p:sp>
        <p:nvSpPr>
          <p:cNvPr id="11" name="Phrase note 3"/>
          <p:cNvSpPr txBox="1"/>
          <p:nvPr/>
        </p:nvSpPr>
        <p:spPr>
          <a:xfrm>
            <a:off x="6309360" y="210312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Casual hello, often across a room or street</a:t>
            </a:r>
            <a:endParaRPr lang="en-US" sz="1200" dirty="0"/>
          </a:p>
        </p:txBody>
      </p:sp>
      <p:sp>
        <p:nvSpPr>
          <p:cNvPr id="12" name="Phrase card 4"/>
          <p:cNvSpPr/>
          <p:nvPr/>
        </p:nvSpPr>
        <p:spPr>
          <a:xfrm>
            <a:off x="457200" y="3017520"/>
            <a:ext cx="2560320" cy="1554480"/>
          </a:xfrm>
          <a:prstGeom prst="roundRect">
            <a:avLst>
              <a:gd name="adj" fmla="val 5882"/>
            </a:avLst>
          </a:prstGeom>
          <a:solidFill>
            <a:schemeClr val="bg2"/>
          </a:solidFill>
          <a:ln w="12700">
            <a:solidFill>
              <a:schemeClr val="bg2"/>
            </a:solidFill>
            <a:prstDash val="solid"/>
          </a:ln>
        </p:spPr>
      </p:sp>
      <p:sp>
        <p:nvSpPr>
          <p:cNvPr id="13" name="Phrase 4"/>
          <p:cNvSpPr txBox="1"/>
          <p:nvPr/>
        </p:nvSpPr>
        <p:spPr>
          <a:xfrm>
            <a:off x="64008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“How you doin'?”</a:t>
            </a:r>
            <a:endParaRPr lang="en-US" sz="1600" dirty="0"/>
          </a:p>
        </p:txBody>
      </p:sp>
      <p:sp>
        <p:nvSpPr>
          <p:cNvPr id="14" name="Phrase note 4"/>
          <p:cNvSpPr txBox="1"/>
          <p:nvPr/>
        </p:nvSpPr>
        <p:spPr>
          <a:xfrm>
            <a:off x="64008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Classic New York; quick, no real answer needed</a:t>
            </a:r>
            <a:endParaRPr lang="en-US" sz="1200" dirty="0"/>
          </a:p>
        </p:txBody>
      </p:sp>
      <p:sp>
        <p:nvSpPr>
          <p:cNvPr id="15" name="Phrase card 5"/>
          <p:cNvSpPr/>
          <p:nvPr/>
        </p:nvSpPr>
        <p:spPr>
          <a:xfrm>
            <a:off x="3291840" y="3017520"/>
            <a:ext cx="2560320" cy="1554480"/>
          </a:xfrm>
          <a:prstGeom prst="roundRect">
            <a:avLst>
              <a:gd name="adj" fmla="val 5882"/>
            </a:avLst>
          </a:prstGeom>
          <a:solidFill>
            <a:schemeClr val="bg2"/>
          </a:solidFill>
          <a:ln w="12700">
            <a:solidFill>
              <a:schemeClr val="bg2"/>
            </a:solidFill>
            <a:prstDash val="solid"/>
          </a:ln>
        </p:spPr>
      </p:sp>
      <p:sp>
        <p:nvSpPr>
          <p:cNvPr id="16" name="Phrase 5"/>
          <p:cNvSpPr txBox="1"/>
          <p:nvPr/>
        </p:nvSpPr>
        <p:spPr>
          <a:xfrm>
            <a:off x="347472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“Dap me up.”</a:t>
            </a:r>
            <a:endParaRPr lang="en-US" sz="1600" dirty="0"/>
          </a:p>
        </p:txBody>
      </p:sp>
      <p:sp>
        <p:nvSpPr>
          <p:cNvPr id="17" name="Phrase note 5"/>
          <p:cNvSpPr txBox="1"/>
          <p:nvPr/>
        </p:nvSpPr>
        <p:spPr>
          <a:xfrm>
            <a:off x="347472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“Give me dap,” an invitation to the greeting</a:t>
            </a:r>
            <a:endParaRPr lang="en-US" sz="1200" dirty="0"/>
          </a:p>
        </p:txBody>
      </p:sp>
      <p:sp>
        <p:nvSpPr>
          <p:cNvPr id="18" name="Phrase card 6"/>
          <p:cNvSpPr/>
          <p:nvPr/>
        </p:nvSpPr>
        <p:spPr>
          <a:xfrm>
            <a:off x="6126480" y="3017520"/>
            <a:ext cx="2560320" cy="1554480"/>
          </a:xfrm>
          <a:prstGeom prst="roundRect">
            <a:avLst>
              <a:gd name="adj" fmla="val 5882"/>
            </a:avLst>
          </a:prstGeom>
          <a:solidFill>
            <a:schemeClr val="bg2"/>
          </a:solidFill>
          <a:ln w="12700">
            <a:solidFill>
              <a:schemeClr val="bg2"/>
            </a:solidFill>
            <a:prstDash val="solid"/>
          </a:ln>
        </p:spPr>
      </p:sp>
      <p:sp>
        <p:nvSpPr>
          <p:cNvPr id="19" name="Phrase 6"/>
          <p:cNvSpPr txBox="1"/>
          <p:nvPr/>
        </p:nvSpPr>
        <p:spPr>
          <a:xfrm>
            <a:off x="6309360" y="3182112"/>
            <a:ext cx="2194560" cy="658368"/>
          </a:xfrm>
          <a:prstGeom prst="rect">
            <a:avLst/>
          </a:prstGeom>
          <a:noFill/>
          <a:ln/>
        </p:spPr>
        <p:txBody>
          <a:bodyPr wrap="square" lIns="0" tIns="0" rIns="0" bIns="0" rtlCol="0" anchor="t"/>
          <a:lstStyle/>
          <a:p>
            <a:pPr indent="0" marL="0">
              <a:buNone/>
            </a:pPr>
            <a:r>
              <a:rPr lang="en-US" sz="1600" b="1" dirty="0">
                <a:solidFill>
                  <a:schemeClr val="tx1"/>
                </a:solidFill>
              </a:rPr>
              <a:t>“Aight, I'm out.”</a:t>
            </a:r>
            <a:endParaRPr lang="en-US" sz="1600" dirty="0"/>
          </a:p>
        </p:txBody>
      </p:sp>
      <p:sp>
        <p:nvSpPr>
          <p:cNvPr id="20" name="Phrase note 6"/>
          <p:cNvSpPr txBox="1"/>
          <p:nvPr/>
        </p:nvSpPr>
        <p:spPr>
          <a:xfrm>
            <a:off x="6309360" y="3886200"/>
            <a:ext cx="2194560" cy="566928"/>
          </a:xfrm>
          <a:prstGeom prst="rect">
            <a:avLst/>
          </a:prstGeom>
          <a:noFill/>
          <a:ln/>
        </p:spPr>
        <p:txBody>
          <a:bodyPr wrap="square" lIns="0" tIns="0" rIns="0" bIns="0" rtlCol="0" anchor="t"/>
          <a:lstStyle/>
          <a:p>
            <a:pPr indent="0" marL="0">
              <a:buNone/>
            </a:pPr>
            <a:r>
              <a:rPr lang="en-US" sz="1200" dirty="0">
                <a:solidFill>
                  <a:schemeClr val="accent4"/>
                </a:solidFill>
              </a:rPr>
              <a:t>Leaving; usually comes with one more dap</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Photo" descr="Two women greeting each other with an air-kiss">    </p:cNvPr>
          <p:cNvPicPr>
            <a:picLocks noChangeAspect="1"/>
          </p:cNvPicPr>
          <p:nvPr/>
        </p:nvPicPr>
        <p:blipFill>
          <a:blip r:embed="rId1"/>
          <a:stretch>
            <a:fillRect/>
          </a:stretch>
        </p:blipFill>
        <p:spPr>
          <a:xfrm>
            <a:off x="0" y="0"/>
            <a:ext cx="4389120" cy="5143500"/>
          </a:xfrm>
          <a:prstGeom prst="rect">
            <a:avLst/>
          </a:prstGeom>
        </p:spPr>
      </p:pic>
      <p:sp>
        <p:nvSpPr>
          <p:cNvPr id="3" name="Text 0"/>
          <p:cNvSpPr/>
          <p:nvPr>
            <p:ph idx="100" type="title" hasCustomPrompt="1"/>
          </p:nvPr>
        </p:nvSpPr>
        <p:spPr>
          <a:xfrm>
            <a:off x="4846320" y="868680"/>
            <a:ext cx="3840480" cy="1645920"/>
          </a:xfrm>
          <a:prstGeom prst="rect">
            <a:avLst/>
          </a:prstGeom>
          <a:noFill/>
          <a:ln/>
        </p:spPr>
        <p:txBody>
          <a:bodyPr wrap="square" lIns="0" tIns="0" rIns="0" bIns="0" rtlCol="0" anchor="b"/>
          <a:lstStyle/>
          <a:p>
            <a:pPr algn="l" indent="0" marL="0">
              <a:buNone/>
            </a:pPr>
            <a:r>
              <a:rPr lang="en-US" sz="3200" b="1" dirty="0">
                <a:solidFill>
                  <a:schemeClr val="bg1"/>
                </a:solidFill>
              </a:rPr>
              <a:t>Greetings I Would Avoid in the U.S.</a:t>
            </a:r>
            <a:endParaRPr lang="en-US" sz="3200" dirty="0"/>
          </a:p>
        </p:txBody>
      </p:sp>
      <p:sp>
        <p:nvSpPr>
          <p:cNvPr id="4" name="Avoid icon circle 1"/>
          <p:cNvSpPr/>
          <p:nvPr/>
        </p:nvSpPr>
        <p:spPr>
          <a:xfrm>
            <a:off x="4846320" y="2743200"/>
            <a:ext cx="384048" cy="384048"/>
          </a:xfrm>
          <a:prstGeom prst="ellipse">
            <a:avLst/>
          </a:prstGeom>
          <a:solidFill>
            <a:schemeClr val="accent2"/>
          </a:solidFill>
          <a:ln w="12700">
            <a:solidFill>
              <a:schemeClr val="accent2"/>
            </a:solidFill>
            <a:prstDash val="solid"/>
          </a:ln>
        </p:spPr>
      </p:sp>
      <p:pic>
        <p:nvPicPr>
          <p:cNvPr id="5" name="Avoid icon 1" descr="preencoded.png">    </p:cNvPr>
          <p:cNvPicPr>
            <a:picLocks noChangeAspect="1"/>
          </p:cNvPicPr>
          <p:nvPr/>
        </p:nvPicPr>
        <p:blipFill>
          <a:blip r:embed="rId2"/>
          <a:stretch>
            <a:fillRect/>
          </a:stretch>
        </p:blipFill>
        <p:spPr>
          <a:xfrm>
            <a:off x="4946904" y="2843784"/>
            <a:ext cx="182880" cy="182880"/>
          </a:xfrm>
          <a:prstGeom prst="rect">
            <a:avLst/>
          </a:prstGeom>
        </p:spPr>
      </p:pic>
      <p:sp>
        <p:nvSpPr>
          <p:cNvPr id="6" name="Avoid text 1"/>
          <p:cNvSpPr txBox="1"/>
          <p:nvPr/>
        </p:nvSpPr>
        <p:spPr>
          <a:xfrm>
            <a:off x="5394960" y="2743200"/>
            <a:ext cx="3291840" cy="384048"/>
          </a:xfrm>
          <a:prstGeom prst="rect">
            <a:avLst/>
          </a:prstGeom>
          <a:noFill/>
          <a:ln/>
        </p:spPr>
        <p:txBody>
          <a:bodyPr wrap="square" lIns="0" tIns="0" rIns="0" bIns="0" rtlCol="0" anchor="ctr"/>
          <a:lstStyle/>
          <a:p>
            <a:pPr indent="0" marL="0">
              <a:buNone/>
            </a:pPr>
            <a:r>
              <a:rPr lang="en-US" sz="2000" dirty="0">
                <a:solidFill>
                  <a:schemeClr val="bg1"/>
                </a:solidFill>
              </a:rPr>
              <a:t>Air-kissing</a:t>
            </a:r>
            <a:endParaRPr lang="en-US" sz="2000" dirty="0"/>
          </a:p>
        </p:txBody>
      </p:sp>
      <p:sp>
        <p:nvSpPr>
          <p:cNvPr id="7" name="Avoid icon circle 2"/>
          <p:cNvSpPr/>
          <p:nvPr/>
        </p:nvSpPr>
        <p:spPr>
          <a:xfrm>
            <a:off x="4846320" y="3291840"/>
            <a:ext cx="384048" cy="384048"/>
          </a:xfrm>
          <a:prstGeom prst="ellipse">
            <a:avLst/>
          </a:prstGeom>
          <a:solidFill>
            <a:schemeClr val="accent2"/>
          </a:solidFill>
          <a:ln w="12700">
            <a:solidFill>
              <a:schemeClr val="accent2"/>
            </a:solidFill>
            <a:prstDash val="solid"/>
          </a:ln>
        </p:spPr>
      </p:sp>
      <p:pic>
        <p:nvPicPr>
          <p:cNvPr id="8" name="Avoid icon 2" descr="preencoded.png">    </p:cNvPr>
          <p:cNvPicPr>
            <a:picLocks noChangeAspect="1"/>
          </p:cNvPicPr>
          <p:nvPr/>
        </p:nvPicPr>
        <p:blipFill>
          <a:blip r:embed="rId3"/>
          <a:stretch>
            <a:fillRect/>
          </a:stretch>
        </p:blipFill>
        <p:spPr>
          <a:xfrm>
            <a:off x="4946904" y="3392424"/>
            <a:ext cx="182880" cy="182880"/>
          </a:xfrm>
          <a:prstGeom prst="rect">
            <a:avLst/>
          </a:prstGeom>
        </p:spPr>
      </p:pic>
      <p:sp>
        <p:nvSpPr>
          <p:cNvPr id="9" name="Avoid text 2"/>
          <p:cNvSpPr txBox="1"/>
          <p:nvPr/>
        </p:nvSpPr>
        <p:spPr>
          <a:xfrm>
            <a:off x="5394960" y="3291840"/>
            <a:ext cx="3291840" cy="384048"/>
          </a:xfrm>
          <a:prstGeom prst="rect">
            <a:avLst/>
          </a:prstGeom>
          <a:noFill/>
          <a:ln/>
        </p:spPr>
        <p:txBody>
          <a:bodyPr wrap="square" lIns="0" tIns="0" rIns="0" bIns="0" rtlCol="0" anchor="ctr"/>
          <a:lstStyle/>
          <a:p>
            <a:pPr indent="0" marL="0">
              <a:buNone/>
            </a:pPr>
            <a:r>
              <a:rPr lang="en-US" sz="2000" dirty="0">
                <a:solidFill>
                  <a:schemeClr val="bg1"/>
                </a:solidFill>
              </a:rPr>
              <a:t>Bowing</a:t>
            </a:r>
            <a:endParaRPr lang="en-US" sz="2000" dirty="0"/>
          </a:p>
        </p:txBody>
      </p:sp>
      <p:sp>
        <p:nvSpPr>
          <p:cNvPr id="10" name="Avoid icon circle 3"/>
          <p:cNvSpPr/>
          <p:nvPr/>
        </p:nvSpPr>
        <p:spPr>
          <a:xfrm>
            <a:off x="4846320" y="3840480"/>
            <a:ext cx="384048" cy="384048"/>
          </a:xfrm>
          <a:prstGeom prst="ellipse">
            <a:avLst/>
          </a:prstGeom>
          <a:solidFill>
            <a:schemeClr val="accent2"/>
          </a:solidFill>
          <a:ln w="12700">
            <a:solidFill>
              <a:schemeClr val="accent2"/>
            </a:solidFill>
            <a:prstDash val="solid"/>
          </a:ln>
        </p:spPr>
      </p:sp>
      <p:pic>
        <p:nvPicPr>
          <p:cNvPr id="11" name="Avoid icon 3" descr="preencoded.png">    </p:cNvPr>
          <p:cNvPicPr>
            <a:picLocks noChangeAspect="1"/>
          </p:cNvPicPr>
          <p:nvPr/>
        </p:nvPicPr>
        <p:blipFill>
          <a:blip r:embed="rId4"/>
          <a:stretch>
            <a:fillRect/>
          </a:stretch>
        </p:blipFill>
        <p:spPr>
          <a:xfrm>
            <a:off x="4946904" y="3941064"/>
            <a:ext cx="182880" cy="182880"/>
          </a:xfrm>
          <a:prstGeom prst="rect">
            <a:avLst/>
          </a:prstGeom>
        </p:spPr>
      </p:pic>
      <p:sp>
        <p:nvSpPr>
          <p:cNvPr id="12" name="Avoid text 3"/>
          <p:cNvSpPr txBox="1"/>
          <p:nvPr/>
        </p:nvSpPr>
        <p:spPr>
          <a:xfrm>
            <a:off x="5394960" y="3840480"/>
            <a:ext cx="3291840" cy="384048"/>
          </a:xfrm>
          <a:prstGeom prst="rect">
            <a:avLst/>
          </a:prstGeom>
          <a:noFill/>
          <a:ln/>
        </p:spPr>
        <p:txBody>
          <a:bodyPr wrap="square" lIns="0" tIns="0" rIns="0" bIns="0" rtlCol="0" anchor="ctr"/>
          <a:lstStyle/>
          <a:p>
            <a:pPr indent="0" marL="0">
              <a:buNone/>
            </a:pPr>
            <a:r>
              <a:rPr lang="en-US" sz="2000" dirty="0">
                <a:solidFill>
                  <a:schemeClr val="bg1"/>
                </a:solidFill>
              </a:rPr>
              <a:t>Hugging</a:t>
            </a:r>
            <a:endParaRPr lang="en-US" sz="2000" dirty="0"/>
          </a:p>
        </p:txBody>
      </p:sp>
      <p:sp>
        <p:nvSpPr>
          <p:cNvPr id="25" name="Slide Number Placeholder 0"/>
          <p:cNvSpPr>
            <a:spLocks noGrp="1"/>
          </p:cNvSpPr>
          <p:nvPr>
            <p:ph type="sldNum" sz="quarter" idx="4294967295"/>
          </p:nvPr>
        </p:nvSpPr>
        <p:spPr>
          <a:xfrm>
            <a:off x="8229600" y="470916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6"/>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1371600"/>
            <a:ext cx="5120640" cy="1463040"/>
          </a:xfrm>
          <a:prstGeom prst="rect">
            <a:avLst/>
          </a:prstGeom>
          <a:noFill/>
          <a:ln/>
        </p:spPr>
        <p:txBody>
          <a:bodyPr wrap="square" lIns="0" tIns="0" rIns="0" bIns="0" rtlCol="0" anchor="b"/>
          <a:lstStyle/>
          <a:p>
            <a:pPr algn="l" indent="0" marL="0">
              <a:buNone/>
            </a:pPr>
            <a:r>
              <a:rPr lang="en-US" sz="4400" b="1" dirty="0">
                <a:solidFill>
                  <a:schemeClr val="bg1"/>
                </a:solidFill>
              </a:rPr>
              <a:t>Activity</a:t>
            </a:r>
            <a:endParaRPr lang="en-US" sz="4400" dirty="0"/>
          </a:p>
        </p:txBody>
      </p:sp>
      <p:sp>
        <p:nvSpPr>
          <p:cNvPr id="3" name="Text 0"/>
          <p:cNvSpPr/>
          <p:nvPr>
            <p:ph idx="101" type="body" hasCustomPrompt="1"/>
          </p:nvPr>
        </p:nvSpPr>
        <p:spPr>
          <a:xfrm>
            <a:off x="548640" y="3017520"/>
            <a:ext cx="5120640" cy="914400"/>
          </a:xfrm>
          <a:prstGeom prst="rect">
            <a:avLst/>
          </a:prstGeom>
          <a:noFill/>
          <a:ln/>
        </p:spPr>
        <p:txBody>
          <a:bodyPr wrap="square" lIns="0" tIns="0" rIns="0" bIns="0" rtlCol="0" anchor="t"/>
          <a:lstStyle/>
          <a:p>
            <a:pPr algn="l" indent="0" marL="0">
              <a:buNone/>
            </a:pPr>
            <a:r>
              <a:rPr lang="en-US" sz="1800" dirty="0">
                <a:solidFill>
                  <a:schemeClr val="accent6"/>
                </a:solidFill>
              </a:rPr>
              <a:t>Greeting Roulette: act out the greeting, keep the small talk going for 30 seconds, then the class votes: did it fit?</a:t>
            </a:r>
            <a:endParaRPr lang="en-US" sz="1800" dirty="0"/>
          </a:p>
        </p:txBody>
      </p:sp>
      <p:sp>
        <p:nvSpPr>
          <p:cNvPr id="4" name="Activity icon circle"/>
          <p:cNvSpPr/>
          <p:nvPr/>
        </p:nvSpPr>
        <p:spPr>
          <a:xfrm>
            <a:off x="6492240" y="1463040"/>
            <a:ext cx="1828800" cy="1828800"/>
          </a:xfrm>
          <a:prstGeom prst="ellipse">
            <a:avLst/>
          </a:prstGeom>
          <a:solidFill>
            <a:schemeClr val="accent1"/>
          </a:solidFill>
          <a:ln w="12700">
            <a:solidFill>
              <a:schemeClr val="accent1"/>
            </a:solidFill>
            <a:prstDash val="solid"/>
          </a:ln>
        </p:spPr>
      </p:sp>
      <p:pic>
        <p:nvPicPr>
          <p:cNvPr id="5" name="Activity icon" descr="preencoded.png">    </p:cNvPr>
          <p:cNvPicPr>
            <a:picLocks noChangeAspect="1"/>
          </p:cNvPicPr>
          <p:nvPr/>
        </p:nvPicPr>
        <p:blipFill>
          <a:blip r:embed="rId1"/>
          <a:stretch>
            <a:fillRect/>
          </a:stretch>
        </p:blipFill>
        <p:spPr>
          <a:xfrm>
            <a:off x="6949440" y="1920240"/>
            <a:ext cx="914400" cy="9144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cenario number"/>
          <p:cNvSpPr txBox="1"/>
          <p:nvPr/>
        </p:nvSpPr>
        <p:spPr>
          <a:xfrm>
            <a:off x="548640" y="1097280"/>
            <a:ext cx="502920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SCENARIO 1</a:t>
            </a:r>
            <a:endParaRPr lang="en-US" sz="1400" dirty="0"/>
          </a:p>
        </p:txBody>
      </p:sp>
      <p:sp>
        <p:nvSpPr>
          <p:cNvPr id="3" name="Scenario text"/>
          <p:cNvSpPr txBox="1"/>
          <p:nvPr/>
        </p:nvSpPr>
        <p:spPr>
          <a:xfrm>
            <a:off x="548640" y="1600200"/>
            <a:ext cx="5120640" cy="2194560"/>
          </a:xfrm>
          <a:prstGeom prst="rect">
            <a:avLst/>
          </a:prstGeom>
          <a:noFill/>
          <a:ln/>
        </p:spPr>
        <p:txBody>
          <a:bodyPr wrap="square" lIns="0" tIns="0" rIns="0" bIns="0" rtlCol="0" anchor="t"/>
          <a:lstStyle/>
          <a:p>
            <a:pPr indent="0" marL="0">
              <a:buNone/>
            </a:pPr>
            <a:r>
              <a:rPr lang="en-US" sz="3400" b="1" dirty="0">
                <a:solidFill>
                  <a:schemeClr val="tx1"/>
                </a:solidFill>
                <a:latin typeface="Georgia" pitchFamily="34" charset="0"/>
                <a:ea typeface="Georgia" pitchFamily="34" charset="-122"/>
                <a:cs typeface="Georgia" pitchFamily="34" charset="-120"/>
              </a:rPr>
              <a:t>Meeting your new boss on your first day</a:t>
            </a:r>
            <a:endParaRPr lang="en-US" sz="3400" dirty="0"/>
          </a:p>
        </p:txBody>
      </p:sp>
      <p:sp>
        <p:nvSpPr>
          <p:cNvPr id="4" name="Scenario icon circle"/>
          <p:cNvSpPr/>
          <p:nvPr/>
        </p:nvSpPr>
        <p:spPr>
          <a:xfrm>
            <a:off x="6400800" y="1371600"/>
            <a:ext cx="2011680" cy="2011680"/>
          </a:xfrm>
          <a:prstGeom prst="ellipse">
            <a:avLst/>
          </a:prstGeom>
          <a:solidFill>
            <a:schemeClr val="accent1"/>
          </a:solidFill>
          <a:ln w="12700">
            <a:solidFill>
              <a:schemeClr val="accent1"/>
            </a:solidFill>
            <a:prstDash val="solid"/>
          </a:ln>
        </p:spPr>
      </p:sp>
      <p:pic>
        <p:nvPicPr>
          <p:cNvPr id="5" name="Scenario icon" descr="preencoded.png">    </p:cNvPr>
          <p:cNvPicPr>
            <a:picLocks noChangeAspect="1"/>
          </p:cNvPicPr>
          <p:nvPr/>
        </p:nvPicPr>
        <p:blipFill>
          <a:blip r:embed="rId1"/>
          <a:stretch>
            <a:fillRect/>
          </a:stretch>
        </p:blipFill>
        <p:spPr>
          <a:xfrm>
            <a:off x="6949440" y="192024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cenario number"/>
          <p:cNvSpPr txBox="1"/>
          <p:nvPr/>
        </p:nvSpPr>
        <p:spPr>
          <a:xfrm>
            <a:off x="548640" y="1097280"/>
            <a:ext cx="502920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SCENARIO 2</a:t>
            </a:r>
            <a:endParaRPr lang="en-US" sz="1400" dirty="0"/>
          </a:p>
        </p:txBody>
      </p:sp>
      <p:sp>
        <p:nvSpPr>
          <p:cNvPr id="3" name="Scenario text"/>
          <p:cNvSpPr txBox="1"/>
          <p:nvPr/>
        </p:nvSpPr>
        <p:spPr>
          <a:xfrm>
            <a:off x="548640" y="1600200"/>
            <a:ext cx="5120640" cy="2194560"/>
          </a:xfrm>
          <a:prstGeom prst="rect">
            <a:avLst/>
          </a:prstGeom>
          <a:noFill/>
          <a:ln/>
        </p:spPr>
        <p:txBody>
          <a:bodyPr wrap="square" lIns="0" tIns="0" rIns="0" bIns="0" rtlCol="0" anchor="t"/>
          <a:lstStyle/>
          <a:p>
            <a:pPr indent="0" marL="0">
              <a:buNone/>
            </a:pPr>
            <a:r>
              <a:rPr lang="en-US" sz="3400" b="1" dirty="0">
                <a:solidFill>
                  <a:schemeClr val="tx1"/>
                </a:solidFill>
                <a:latin typeface="Georgia" pitchFamily="34" charset="0"/>
                <a:ea typeface="Georgia" pitchFamily="34" charset="-122"/>
                <a:cs typeface="Georgia" pitchFamily="34" charset="-120"/>
              </a:rPr>
              <a:t>Your teammate just scored the winning goal</a:t>
            </a:r>
            <a:endParaRPr lang="en-US" sz="3400" dirty="0"/>
          </a:p>
        </p:txBody>
      </p:sp>
      <p:sp>
        <p:nvSpPr>
          <p:cNvPr id="4" name="Scenario icon circle"/>
          <p:cNvSpPr/>
          <p:nvPr/>
        </p:nvSpPr>
        <p:spPr>
          <a:xfrm>
            <a:off x="6400800" y="1371600"/>
            <a:ext cx="2011680" cy="2011680"/>
          </a:xfrm>
          <a:prstGeom prst="ellipse">
            <a:avLst/>
          </a:prstGeom>
          <a:solidFill>
            <a:schemeClr val="accent1"/>
          </a:solidFill>
          <a:ln w="12700">
            <a:solidFill>
              <a:schemeClr val="accent1"/>
            </a:solidFill>
            <a:prstDash val="solid"/>
          </a:ln>
        </p:spPr>
      </p:sp>
      <p:pic>
        <p:nvPicPr>
          <p:cNvPr id="5" name="Scenario icon" descr="preencoded.png">    </p:cNvPr>
          <p:cNvPicPr>
            <a:picLocks noChangeAspect="1"/>
          </p:cNvPicPr>
          <p:nvPr/>
        </p:nvPicPr>
        <p:blipFill>
          <a:blip r:embed="rId1"/>
          <a:stretch>
            <a:fillRect/>
          </a:stretch>
        </p:blipFill>
        <p:spPr>
          <a:xfrm>
            <a:off x="6949440" y="192024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cenario number"/>
          <p:cNvSpPr txBox="1"/>
          <p:nvPr/>
        </p:nvSpPr>
        <p:spPr>
          <a:xfrm>
            <a:off x="548640" y="1097280"/>
            <a:ext cx="502920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SCENARIO 3</a:t>
            </a:r>
            <a:endParaRPr lang="en-US" sz="1400" dirty="0"/>
          </a:p>
        </p:txBody>
      </p:sp>
      <p:sp>
        <p:nvSpPr>
          <p:cNvPr id="3" name="Scenario text"/>
          <p:cNvSpPr txBox="1"/>
          <p:nvPr/>
        </p:nvSpPr>
        <p:spPr>
          <a:xfrm>
            <a:off x="548640" y="1600200"/>
            <a:ext cx="5120640" cy="2194560"/>
          </a:xfrm>
          <a:prstGeom prst="rect">
            <a:avLst/>
          </a:prstGeom>
          <a:noFill/>
          <a:ln/>
        </p:spPr>
        <p:txBody>
          <a:bodyPr wrap="square" lIns="0" tIns="0" rIns="0" bIns="0" rtlCol="0" anchor="t"/>
          <a:lstStyle/>
          <a:p>
            <a:pPr indent="0" marL="0">
              <a:buNone/>
            </a:pPr>
            <a:r>
              <a:rPr lang="en-US" sz="3400" b="1" dirty="0">
                <a:solidFill>
                  <a:schemeClr val="tx1"/>
                </a:solidFill>
                <a:latin typeface="Georgia" pitchFamily="34" charset="0"/>
                <a:ea typeface="Georgia" pitchFamily="34" charset="-122"/>
                <a:cs typeface="Georgia" pitchFamily="34" charset="-120"/>
              </a:rPr>
              <a:t>Running into your teacher at the supermarket</a:t>
            </a:r>
            <a:endParaRPr lang="en-US" sz="3400" dirty="0"/>
          </a:p>
        </p:txBody>
      </p:sp>
      <p:sp>
        <p:nvSpPr>
          <p:cNvPr id="4" name="Scenario icon circle"/>
          <p:cNvSpPr/>
          <p:nvPr/>
        </p:nvSpPr>
        <p:spPr>
          <a:xfrm>
            <a:off x="6400800" y="1371600"/>
            <a:ext cx="2011680" cy="2011680"/>
          </a:xfrm>
          <a:prstGeom prst="ellipse">
            <a:avLst/>
          </a:prstGeom>
          <a:solidFill>
            <a:schemeClr val="accent1"/>
          </a:solidFill>
          <a:ln w="12700">
            <a:solidFill>
              <a:schemeClr val="accent1"/>
            </a:solidFill>
            <a:prstDash val="solid"/>
          </a:ln>
        </p:spPr>
      </p:sp>
      <p:pic>
        <p:nvPicPr>
          <p:cNvPr id="5" name="Scenario icon" descr="preencoded.png">    </p:cNvPr>
          <p:cNvPicPr>
            <a:picLocks noChangeAspect="1"/>
          </p:cNvPicPr>
          <p:nvPr/>
        </p:nvPicPr>
        <p:blipFill>
          <a:blip r:embed="rId1"/>
          <a:stretch>
            <a:fillRect/>
          </a:stretch>
        </p:blipFill>
        <p:spPr>
          <a:xfrm>
            <a:off x="6949440" y="192024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cenario number"/>
          <p:cNvSpPr txBox="1"/>
          <p:nvPr/>
        </p:nvSpPr>
        <p:spPr>
          <a:xfrm>
            <a:off x="548640" y="1097280"/>
            <a:ext cx="502920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SCENARIO 4</a:t>
            </a:r>
            <a:endParaRPr lang="en-US" sz="1400" dirty="0"/>
          </a:p>
        </p:txBody>
      </p:sp>
      <p:sp>
        <p:nvSpPr>
          <p:cNvPr id="3" name="Scenario text"/>
          <p:cNvSpPr txBox="1"/>
          <p:nvPr/>
        </p:nvSpPr>
        <p:spPr>
          <a:xfrm>
            <a:off x="548640" y="1600200"/>
            <a:ext cx="5120640" cy="2194560"/>
          </a:xfrm>
          <a:prstGeom prst="rect">
            <a:avLst/>
          </a:prstGeom>
          <a:noFill/>
          <a:ln/>
        </p:spPr>
        <p:txBody>
          <a:bodyPr wrap="square" lIns="0" tIns="0" rIns="0" bIns="0" rtlCol="0" anchor="t"/>
          <a:lstStyle/>
          <a:p>
            <a:pPr indent="0" marL="0">
              <a:buNone/>
            </a:pPr>
            <a:r>
              <a:rPr lang="en-US" sz="3400" b="1" dirty="0">
                <a:solidFill>
                  <a:schemeClr val="tx1"/>
                </a:solidFill>
                <a:latin typeface="Georgia" pitchFamily="34" charset="0"/>
                <a:ea typeface="Georgia" pitchFamily="34" charset="-122"/>
                <a:cs typeface="Georgia" pitchFamily="34" charset="-120"/>
              </a:rPr>
              <a:t>Meeting your American friend's parents for dinner</a:t>
            </a:r>
            <a:endParaRPr lang="en-US" sz="3400" dirty="0"/>
          </a:p>
        </p:txBody>
      </p:sp>
      <p:sp>
        <p:nvSpPr>
          <p:cNvPr id="4" name="Scenario icon circle"/>
          <p:cNvSpPr/>
          <p:nvPr/>
        </p:nvSpPr>
        <p:spPr>
          <a:xfrm>
            <a:off x="6400800" y="1371600"/>
            <a:ext cx="2011680" cy="2011680"/>
          </a:xfrm>
          <a:prstGeom prst="ellipse">
            <a:avLst/>
          </a:prstGeom>
          <a:solidFill>
            <a:schemeClr val="accent1"/>
          </a:solidFill>
          <a:ln w="12700">
            <a:solidFill>
              <a:schemeClr val="accent1"/>
            </a:solidFill>
            <a:prstDash val="solid"/>
          </a:ln>
        </p:spPr>
      </p:sp>
      <p:pic>
        <p:nvPicPr>
          <p:cNvPr id="5" name="Scenario icon" descr="preencoded.png">    </p:cNvPr>
          <p:cNvPicPr>
            <a:picLocks noChangeAspect="1"/>
          </p:cNvPicPr>
          <p:nvPr/>
        </p:nvPicPr>
        <p:blipFill>
          <a:blip r:embed="rId1"/>
          <a:stretch>
            <a:fillRect/>
          </a:stretch>
        </p:blipFill>
        <p:spPr>
          <a:xfrm>
            <a:off x="6949440" y="192024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cenario number"/>
          <p:cNvSpPr txBox="1"/>
          <p:nvPr/>
        </p:nvSpPr>
        <p:spPr>
          <a:xfrm>
            <a:off x="548640" y="1097280"/>
            <a:ext cx="502920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SCENARIO 5</a:t>
            </a:r>
            <a:endParaRPr lang="en-US" sz="1400" dirty="0"/>
          </a:p>
        </p:txBody>
      </p:sp>
      <p:sp>
        <p:nvSpPr>
          <p:cNvPr id="3" name="Scenario text"/>
          <p:cNvSpPr txBox="1"/>
          <p:nvPr/>
        </p:nvSpPr>
        <p:spPr>
          <a:xfrm>
            <a:off x="548640" y="1600200"/>
            <a:ext cx="5120640" cy="2194560"/>
          </a:xfrm>
          <a:prstGeom prst="rect">
            <a:avLst/>
          </a:prstGeom>
          <a:noFill/>
          <a:ln/>
        </p:spPr>
        <p:txBody>
          <a:bodyPr wrap="square" lIns="0" tIns="0" rIns="0" bIns="0" rtlCol="0" anchor="t"/>
          <a:lstStyle/>
          <a:p>
            <a:pPr indent="0" marL="0">
              <a:buNone/>
            </a:pPr>
            <a:r>
              <a:rPr lang="en-US" sz="3400" b="1" dirty="0">
                <a:solidFill>
                  <a:schemeClr val="tx1"/>
                </a:solidFill>
                <a:latin typeface="Georgia" pitchFamily="34" charset="0"/>
                <a:ea typeface="Georgia" pitchFamily="34" charset="-122"/>
                <a:cs typeface="Georgia" pitchFamily="34" charset="-120"/>
              </a:rPr>
              <a:t>A job interview in Manhattan</a:t>
            </a:r>
            <a:endParaRPr lang="en-US" sz="3400" dirty="0"/>
          </a:p>
        </p:txBody>
      </p:sp>
      <p:sp>
        <p:nvSpPr>
          <p:cNvPr id="4" name="Scenario icon circle"/>
          <p:cNvSpPr/>
          <p:nvPr/>
        </p:nvSpPr>
        <p:spPr>
          <a:xfrm>
            <a:off x="6400800" y="1371600"/>
            <a:ext cx="2011680" cy="2011680"/>
          </a:xfrm>
          <a:prstGeom prst="ellipse">
            <a:avLst/>
          </a:prstGeom>
          <a:solidFill>
            <a:schemeClr val="accent1"/>
          </a:solidFill>
          <a:ln w="12700">
            <a:solidFill>
              <a:schemeClr val="accent1"/>
            </a:solidFill>
            <a:prstDash val="solid"/>
          </a:ln>
        </p:spPr>
      </p:sp>
      <p:pic>
        <p:nvPicPr>
          <p:cNvPr id="5" name="Scenario icon" descr="preencoded.png">    </p:cNvPr>
          <p:cNvPicPr>
            <a:picLocks noChangeAspect="1"/>
          </p:cNvPicPr>
          <p:nvPr/>
        </p:nvPicPr>
        <p:blipFill>
          <a:blip r:embed="rId1"/>
          <a:stretch>
            <a:fillRect/>
          </a:stretch>
        </p:blipFill>
        <p:spPr>
          <a:xfrm>
            <a:off x="6949440" y="192024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cenario number"/>
          <p:cNvSpPr txBox="1"/>
          <p:nvPr/>
        </p:nvSpPr>
        <p:spPr>
          <a:xfrm>
            <a:off x="548640" y="1097280"/>
            <a:ext cx="502920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SCENARIO 6</a:t>
            </a:r>
            <a:endParaRPr lang="en-US" sz="1400" dirty="0"/>
          </a:p>
        </p:txBody>
      </p:sp>
      <p:sp>
        <p:nvSpPr>
          <p:cNvPr id="3" name="Scenario text"/>
          <p:cNvSpPr txBox="1"/>
          <p:nvPr/>
        </p:nvSpPr>
        <p:spPr>
          <a:xfrm>
            <a:off x="548640" y="1600200"/>
            <a:ext cx="5120640" cy="2194560"/>
          </a:xfrm>
          <a:prstGeom prst="rect">
            <a:avLst/>
          </a:prstGeom>
          <a:noFill/>
          <a:ln/>
        </p:spPr>
        <p:txBody>
          <a:bodyPr wrap="square" lIns="0" tIns="0" rIns="0" bIns="0" rtlCol="0" anchor="t"/>
          <a:lstStyle/>
          <a:p>
            <a:pPr indent="0" marL="0">
              <a:buNone/>
            </a:pPr>
            <a:r>
              <a:rPr lang="en-US" sz="3400" b="1" dirty="0">
                <a:solidFill>
                  <a:schemeClr val="tx1"/>
                </a:solidFill>
                <a:latin typeface="Georgia" pitchFamily="34" charset="0"/>
                <a:ea typeface="Georgia" pitchFamily="34" charset="-122"/>
                <a:cs typeface="Georgia" pitchFamily="34" charset="-120"/>
              </a:rPr>
              <a:t>Seeing your best friend at a party</a:t>
            </a:r>
            <a:endParaRPr lang="en-US" sz="3400" dirty="0"/>
          </a:p>
        </p:txBody>
      </p:sp>
      <p:sp>
        <p:nvSpPr>
          <p:cNvPr id="4" name="Scenario icon circle"/>
          <p:cNvSpPr/>
          <p:nvPr/>
        </p:nvSpPr>
        <p:spPr>
          <a:xfrm>
            <a:off x="6400800" y="1371600"/>
            <a:ext cx="2011680" cy="2011680"/>
          </a:xfrm>
          <a:prstGeom prst="ellipse">
            <a:avLst/>
          </a:prstGeom>
          <a:solidFill>
            <a:schemeClr val="accent1"/>
          </a:solidFill>
          <a:ln w="12700">
            <a:solidFill>
              <a:schemeClr val="accent1"/>
            </a:solidFill>
            <a:prstDash val="solid"/>
          </a:ln>
        </p:spPr>
      </p:sp>
      <p:pic>
        <p:nvPicPr>
          <p:cNvPr id="5" name="Scenario icon" descr="preencoded.png">    </p:cNvPr>
          <p:cNvPicPr>
            <a:picLocks noChangeAspect="1"/>
          </p:cNvPicPr>
          <p:nvPr/>
        </p:nvPicPr>
        <p:blipFill>
          <a:blip r:embed="rId1"/>
          <a:stretch>
            <a:fillRect/>
          </a:stretch>
        </p:blipFill>
        <p:spPr>
          <a:xfrm>
            <a:off x="6949440" y="192024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cenario number"/>
          <p:cNvSpPr txBox="1"/>
          <p:nvPr/>
        </p:nvSpPr>
        <p:spPr>
          <a:xfrm>
            <a:off x="548640" y="1097280"/>
            <a:ext cx="502920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SCENARIO 7</a:t>
            </a:r>
            <a:endParaRPr lang="en-US" sz="1400" dirty="0"/>
          </a:p>
        </p:txBody>
      </p:sp>
      <p:sp>
        <p:nvSpPr>
          <p:cNvPr id="3" name="Scenario text"/>
          <p:cNvSpPr txBox="1"/>
          <p:nvPr/>
        </p:nvSpPr>
        <p:spPr>
          <a:xfrm>
            <a:off x="548640" y="1600200"/>
            <a:ext cx="5120640" cy="2194560"/>
          </a:xfrm>
          <a:prstGeom prst="rect">
            <a:avLst/>
          </a:prstGeom>
          <a:noFill/>
          <a:ln/>
        </p:spPr>
        <p:txBody>
          <a:bodyPr wrap="square" lIns="0" tIns="0" rIns="0" bIns="0" rtlCol="0" anchor="t"/>
          <a:lstStyle/>
          <a:p>
            <a:pPr indent="0" marL="0">
              <a:buNone/>
            </a:pPr>
            <a:r>
              <a:rPr lang="en-US" sz="3400" b="1" dirty="0">
                <a:solidFill>
                  <a:schemeClr val="tx1"/>
                </a:solidFill>
                <a:latin typeface="Georgia" pitchFamily="34" charset="0"/>
                <a:ea typeface="Georgia" pitchFamily="34" charset="-122"/>
                <a:cs typeface="Georgia" pitchFamily="34" charset="-120"/>
              </a:rPr>
              <a:t>A Japanese business partner arrives at the office</a:t>
            </a:r>
            <a:endParaRPr lang="en-US" sz="3400" dirty="0"/>
          </a:p>
        </p:txBody>
      </p:sp>
      <p:sp>
        <p:nvSpPr>
          <p:cNvPr id="4" name="Scenario icon circle"/>
          <p:cNvSpPr/>
          <p:nvPr/>
        </p:nvSpPr>
        <p:spPr>
          <a:xfrm>
            <a:off x="6400800" y="1371600"/>
            <a:ext cx="2011680" cy="2011680"/>
          </a:xfrm>
          <a:prstGeom prst="ellipse">
            <a:avLst/>
          </a:prstGeom>
          <a:solidFill>
            <a:schemeClr val="accent1"/>
          </a:solidFill>
          <a:ln w="12700">
            <a:solidFill>
              <a:schemeClr val="accent1"/>
            </a:solidFill>
            <a:prstDash val="solid"/>
          </a:ln>
        </p:spPr>
      </p:sp>
      <p:pic>
        <p:nvPicPr>
          <p:cNvPr id="5" name="Scenario icon" descr="preencoded.png">    </p:cNvPr>
          <p:cNvPicPr>
            <a:picLocks noChangeAspect="1"/>
          </p:cNvPicPr>
          <p:nvPr/>
        </p:nvPicPr>
        <p:blipFill>
          <a:blip r:embed="rId1"/>
          <a:stretch>
            <a:fillRect/>
          </a:stretch>
        </p:blipFill>
        <p:spPr>
          <a:xfrm>
            <a:off x="6949440" y="192024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cenario number"/>
          <p:cNvSpPr txBox="1"/>
          <p:nvPr/>
        </p:nvSpPr>
        <p:spPr>
          <a:xfrm>
            <a:off x="548640" y="1097280"/>
            <a:ext cx="5029200" cy="365760"/>
          </a:xfrm>
          <a:prstGeom prst="rect">
            <a:avLst/>
          </a:prstGeom>
          <a:noFill/>
          <a:ln/>
        </p:spPr>
        <p:txBody>
          <a:bodyPr wrap="square" lIns="0" tIns="0" rIns="0" bIns="0" rtlCol="0" anchor="ctr"/>
          <a:lstStyle/>
          <a:p>
            <a:pPr indent="0" marL="0">
              <a:buNone/>
            </a:pPr>
            <a:r>
              <a:rPr lang="en-US" sz="1400" b="1" spc="200" kern="0" dirty="0">
                <a:solidFill>
                  <a:schemeClr val="accent4"/>
                </a:solidFill>
              </a:rPr>
              <a:t>SCENARIO 8</a:t>
            </a:r>
            <a:endParaRPr lang="en-US" sz="1400" dirty="0"/>
          </a:p>
        </p:txBody>
      </p:sp>
      <p:sp>
        <p:nvSpPr>
          <p:cNvPr id="3" name="Scenario text"/>
          <p:cNvSpPr txBox="1"/>
          <p:nvPr/>
        </p:nvSpPr>
        <p:spPr>
          <a:xfrm>
            <a:off x="548640" y="1600200"/>
            <a:ext cx="5120640" cy="2194560"/>
          </a:xfrm>
          <a:prstGeom prst="rect">
            <a:avLst/>
          </a:prstGeom>
          <a:noFill/>
          <a:ln/>
        </p:spPr>
        <p:txBody>
          <a:bodyPr wrap="square" lIns="0" tIns="0" rIns="0" bIns="0" rtlCol="0" anchor="t"/>
          <a:lstStyle/>
          <a:p>
            <a:pPr indent="0" marL="0">
              <a:buNone/>
            </a:pPr>
            <a:r>
              <a:rPr lang="en-US" sz="3400" b="1" dirty="0">
                <a:solidFill>
                  <a:schemeClr val="tx1"/>
                </a:solidFill>
                <a:latin typeface="Georgia" pitchFamily="34" charset="0"/>
                <a:ea typeface="Georgia" pitchFamily="34" charset="-122"/>
                <a:cs typeface="Georgia" pitchFamily="34" charset="-120"/>
              </a:rPr>
              <a:t>Your cousin's new boyfriend says hi</a:t>
            </a:r>
            <a:endParaRPr lang="en-US" sz="3400" dirty="0"/>
          </a:p>
        </p:txBody>
      </p:sp>
      <p:sp>
        <p:nvSpPr>
          <p:cNvPr id="4" name="Scenario icon circle"/>
          <p:cNvSpPr/>
          <p:nvPr/>
        </p:nvSpPr>
        <p:spPr>
          <a:xfrm>
            <a:off x="6400800" y="1371600"/>
            <a:ext cx="2011680" cy="2011680"/>
          </a:xfrm>
          <a:prstGeom prst="ellipse">
            <a:avLst/>
          </a:prstGeom>
          <a:solidFill>
            <a:schemeClr val="accent1"/>
          </a:solidFill>
          <a:ln w="12700">
            <a:solidFill>
              <a:schemeClr val="accent1"/>
            </a:solidFill>
            <a:prstDash val="solid"/>
          </a:ln>
        </p:spPr>
      </p:sp>
      <p:pic>
        <p:nvPicPr>
          <p:cNvPr id="5" name="Scenario icon" descr="preencoded.png">    </p:cNvPr>
          <p:cNvPicPr>
            <a:picLocks noChangeAspect="1"/>
          </p:cNvPicPr>
          <p:nvPr/>
        </p:nvPicPr>
        <p:blipFill>
          <a:blip r:embed="rId1"/>
          <a:stretch>
            <a:fillRect/>
          </a:stretch>
        </p:blipFill>
        <p:spPr>
          <a:xfrm>
            <a:off x="6949440" y="1920240"/>
            <a:ext cx="914400" cy="914400"/>
          </a:xfrm>
          <a:prstGeom prst="rect">
            <a:avLst/>
          </a:prstGeom>
        </p:spPr>
      </p:pic>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NYC Greetings">
  <a:themeElements>
    <a:clrScheme name="NYC Greetings">
      <a:dk1>
        <a:srgbClr val="1C1C1C"/>
      </a:dk1>
      <a:lt1>
        <a:srgbClr val="FFFFFF"/>
      </a:lt1>
      <a:dk2>
        <a:srgbClr val="24262B"/>
      </a:dk2>
      <a:lt2>
        <a:srgbClr val="F1F2F4"/>
      </a:lt2>
      <a:accent1>
        <a:srgbClr val="F5B700"/>
      </a:accent1>
      <a:accent2>
        <a:srgbClr val="C8102E"/>
      </a:accent2>
      <a:accent3>
        <a:srgbClr val="2E7D4F"/>
      </a:accent3>
      <a:accent4>
        <a:srgbClr val="6B7280"/>
      </a:accent4>
      <a:accent5>
        <a:srgbClr val="3A5A8C"/>
      </a:accent5>
      <a:accent6>
        <a:srgbClr val="D9DCE1"/>
      </a:accent6>
      <a:hlink>
        <a:srgbClr val="3A5A8C"/>
      </a:hlink>
      <a:folHlink>
        <a:srgbClr val="6B7280"/>
      </a:folHlink>
    </a:clrScheme>
    <a:fontScheme name="NYC Greetings">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American &amp; NYC Greetings</dc:title>
  <dc:subject>PptxGenJS Presentation</dc:subject>
  <dc:creator>PptxGenJS</dc:creator>
  <cp:lastModifiedBy>PptxGenJS</cp:lastModifiedBy>
  <cp:revision>1</cp:revision>
  <dcterms:created xsi:type="dcterms:W3CDTF">2026-10-15T09:23:12Z</dcterms:created>
  <dcterms:modified xsi:type="dcterms:W3CDTF">2026-10-15T09:23:12Z</dcterms:modified>
</cp:coreProperties>
</file>