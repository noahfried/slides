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jpe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2.jpeg" ContentType="image/jpeg"/>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3.jpeg" ContentType="image/jpe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1C1C1C"/>
        </a:fontRef>
        <a:srgbClr val="1C1C1C"/>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BE5CA"/>
          </a:solidFill>
        </a:fill>
      </a:tcStyle>
    </a:wholeTbl>
    <a:band2H>
      <a:tcTxStyle b="def" i="def"/>
      <a:tcStyle>
        <a:tcBdr/>
        <a:fill>
          <a:solidFill>
            <a:srgbClr val="FDF3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1C1C1C"/>
        </a:fontRef>
        <a:srgbClr val="1C1C1C"/>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6CF"/>
          </a:solidFill>
        </a:fill>
      </a:tcStyle>
    </a:wholeTbl>
    <a:band2H>
      <a:tcTxStyle b="def" i="def"/>
      <a:tcStyle>
        <a:tcBdr/>
        <a:fill>
          <a:solidFill>
            <a:srgbClr val="E7EC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1C1C1C"/>
        </a:fontRef>
        <a:srgbClr val="1C1C1C"/>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1F2F4"/>
          </a:solidFill>
        </a:fill>
      </a:tcStyle>
    </a:wholeTbl>
    <a:band2H>
      <a:tcTxStyle b="def" i="def"/>
      <a:tcStyle>
        <a:tcBdr/>
        <a:fill>
          <a:solidFill>
            <a:srgbClr val="F8F8F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1C1C1C"/>
        </a:fontRef>
        <a:srgbClr val="1C1C1C"/>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1C1C1C"/>
        </a:fontRef>
        <a:srgbClr val="1C1C1C"/>
      </a:tcTxStyle>
      <a:tcStyle>
        <a:tcBdr>
          <a:left>
            <a:ln w="12700" cap="flat">
              <a:noFill/>
              <a:miter lim="400000"/>
            </a:ln>
          </a:left>
          <a:right>
            <a:ln w="12700" cap="flat">
              <a:noFill/>
              <a:miter lim="400000"/>
            </a:ln>
          </a:right>
          <a:top>
            <a:ln w="50800" cap="flat">
              <a:solidFill>
                <a:srgbClr val="1C1C1C"/>
              </a:solidFill>
              <a:prstDash val="solid"/>
              <a:round/>
            </a:ln>
          </a:top>
          <a:bottom>
            <a:ln w="25400" cap="flat">
              <a:solidFill>
                <a:srgbClr val="1C1C1C"/>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1C1C1C"/>
              </a:solidFill>
              <a:prstDash val="solid"/>
              <a:round/>
            </a:ln>
          </a:top>
          <a:bottom>
            <a:ln w="25400" cap="flat">
              <a:solidFill>
                <a:srgbClr val="1C1C1C"/>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1C1C1C"/>
        </a:fontRef>
        <a:srgbClr val="1C1C1C"/>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C1C1C"/>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C1C1C"/>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C1C1C"/>
          </a:solidFill>
        </a:fill>
      </a:tcStyle>
    </a:firstRow>
  </a:tblStyle>
  <a:tblStyle styleId="{2708684C-4D16-4618-839F-0558EEFCDFE6}" styleName="">
    <a:tblBg/>
    <a:wholeTbl>
      <a:tcTxStyle b="off" i="off">
        <a:fontRef idx="minor">
          <a:srgbClr val="1C1C1C"/>
        </a:fontRef>
        <a:srgbClr val="1C1C1C"/>
      </a:tcTxStyle>
      <a:tcStyle>
        <a:tcBdr>
          <a:left>
            <a:ln w="12700" cap="flat">
              <a:solidFill>
                <a:srgbClr val="1C1C1C"/>
              </a:solidFill>
              <a:prstDash val="solid"/>
              <a:round/>
            </a:ln>
          </a:left>
          <a:right>
            <a:ln w="12700" cap="flat">
              <a:solidFill>
                <a:srgbClr val="1C1C1C"/>
              </a:solidFill>
              <a:prstDash val="solid"/>
              <a:round/>
            </a:ln>
          </a:right>
          <a:top>
            <a:ln w="12700" cap="flat">
              <a:solidFill>
                <a:srgbClr val="1C1C1C"/>
              </a:solidFill>
              <a:prstDash val="solid"/>
              <a:round/>
            </a:ln>
          </a:top>
          <a:bottom>
            <a:ln w="12700" cap="flat">
              <a:solidFill>
                <a:srgbClr val="1C1C1C"/>
              </a:solidFill>
              <a:prstDash val="solid"/>
              <a:round/>
            </a:ln>
          </a:bottom>
          <a:insideH>
            <a:ln w="12700" cap="flat">
              <a:solidFill>
                <a:srgbClr val="1C1C1C"/>
              </a:solidFill>
              <a:prstDash val="solid"/>
              <a:round/>
            </a:ln>
          </a:insideH>
          <a:insideV>
            <a:ln w="12700" cap="flat">
              <a:solidFill>
                <a:srgbClr val="1C1C1C"/>
              </a:solidFill>
              <a:prstDash val="solid"/>
              <a:round/>
            </a:ln>
          </a:insideV>
        </a:tcBdr>
        <a:fill>
          <a:solidFill>
            <a:srgbClr val="1C1C1C">
              <a:alpha val="20000"/>
            </a:srgbClr>
          </a:solidFill>
        </a:fill>
      </a:tcStyle>
    </a:wholeTbl>
    <a:band2H>
      <a:tcTxStyle b="def" i="def"/>
      <a:tcStyle>
        <a:tcBdr/>
        <a:fill>
          <a:solidFill>
            <a:srgbClr val="FFFFFF"/>
          </a:solidFill>
        </a:fill>
      </a:tcStyle>
    </a:band2H>
    <a:firstCol>
      <a:tcTxStyle b="on" i="off">
        <a:fontRef idx="minor">
          <a:srgbClr val="1C1C1C"/>
        </a:fontRef>
        <a:srgbClr val="1C1C1C"/>
      </a:tcTxStyle>
      <a:tcStyle>
        <a:tcBdr>
          <a:left>
            <a:ln w="12700" cap="flat">
              <a:solidFill>
                <a:srgbClr val="1C1C1C"/>
              </a:solidFill>
              <a:prstDash val="solid"/>
              <a:round/>
            </a:ln>
          </a:left>
          <a:right>
            <a:ln w="12700" cap="flat">
              <a:solidFill>
                <a:srgbClr val="1C1C1C"/>
              </a:solidFill>
              <a:prstDash val="solid"/>
              <a:round/>
            </a:ln>
          </a:right>
          <a:top>
            <a:ln w="12700" cap="flat">
              <a:solidFill>
                <a:srgbClr val="1C1C1C"/>
              </a:solidFill>
              <a:prstDash val="solid"/>
              <a:round/>
            </a:ln>
          </a:top>
          <a:bottom>
            <a:ln w="12700" cap="flat">
              <a:solidFill>
                <a:srgbClr val="1C1C1C"/>
              </a:solidFill>
              <a:prstDash val="solid"/>
              <a:round/>
            </a:ln>
          </a:bottom>
          <a:insideH>
            <a:ln w="12700" cap="flat">
              <a:solidFill>
                <a:srgbClr val="1C1C1C"/>
              </a:solidFill>
              <a:prstDash val="solid"/>
              <a:round/>
            </a:ln>
          </a:insideH>
          <a:insideV>
            <a:ln w="12700" cap="flat">
              <a:solidFill>
                <a:srgbClr val="1C1C1C"/>
              </a:solidFill>
              <a:prstDash val="solid"/>
              <a:round/>
            </a:ln>
          </a:insideV>
        </a:tcBdr>
        <a:fill>
          <a:solidFill>
            <a:srgbClr val="1C1C1C">
              <a:alpha val="20000"/>
            </a:srgbClr>
          </a:solidFill>
        </a:fill>
      </a:tcStyle>
    </a:firstCol>
    <a:lastRow>
      <a:tcTxStyle b="on" i="off">
        <a:fontRef idx="minor">
          <a:srgbClr val="1C1C1C"/>
        </a:fontRef>
        <a:srgbClr val="1C1C1C"/>
      </a:tcTxStyle>
      <a:tcStyle>
        <a:tcBdr>
          <a:left>
            <a:ln w="12700" cap="flat">
              <a:solidFill>
                <a:srgbClr val="1C1C1C"/>
              </a:solidFill>
              <a:prstDash val="solid"/>
              <a:round/>
            </a:ln>
          </a:left>
          <a:right>
            <a:ln w="12700" cap="flat">
              <a:solidFill>
                <a:srgbClr val="1C1C1C"/>
              </a:solidFill>
              <a:prstDash val="solid"/>
              <a:round/>
            </a:ln>
          </a:right>
          <a:top>
            <a:ln w="50800" cap="flat">
              <a:solidFill>
                <a:srgbClr val="1C1C1C"/>
              </a:solidFill>
              <a:prstDash val="solid"/>
              <a:round/>
            </a:ln>
          </a:top>
          <a:bottom>
            <a:ln w="12700" cap="flat">
              <a:solidFill>
                <a:srgbClr val="1C1C1C"/>
              </a:solidFill>
              <a:prstDash val="solid"/>
              <a:round/>
            </a:ln>
          </a:bottom>
          <a:insideH>
            <a:ln w="12700" cap="flat">
              <a:solidFill>
                <a:srgbClr val="1C1C1C"/>
              </a:solidFill>
              <a:prstDash val="solid"/>
              <a:round/>
            </a:ln>
          </a:insideH>
          <a:insideV>
            <a:ln w="12700" cap="flat">
              <a:solidFill>
                <a:srgbClr val="1C1C1C"/>
              </a:solidFill>
              <a:prstDash val="solid"/>
              <a:round/>
            </a:ln>
          </a:insideV>
        </a:tcBdr>
        <a:fill>
          <a:noFill/>
        </a:fill>
      </a:tcStyle>
    </a:lastRow>
    <a:firstRow>
      <a:tcTxStyle b="on" i="off">
        <a:fontRef idx="minor">
          <a:srgbClr val="1C1C1C"/>
        </a:fontRef>
        <a:srgbClr val="1C1C1C"/>
      </a:tcTxStyle>
      <a:tcStyle>
        <a:tcBdr>
          <a:left>
            <a:ln w="12700" cap="flat">
              <a:solidFill>
                <a:srgbClr val="1C1C1C"/>
              </a:solidFill>
              <a:prstDash val="solid"/>
              <a:round/>
            </a:ln>
          </a:left>
          <a:right>
            <a:ln w="12700" cap="flat">
              <a:solidFill>
                <a:srgbClr val="1C1C1C"/>
              </a:solidFill>
              <a:prstDash val="solid"/>
              <a:round/>
            </a:ln>
          </a:right>
          <a:top>
            <a:ln w="12700" cap="flat">
              <a:solidFill>
                <a:srgbClr val="1C1C1C"/>
              </a:solidFill>
              <a:prstDash val="solid"/>
              <a:round/>
            </a:ln>
          </a:top>
          <a:bottom>
            <a:ln w="25400" cap="flat">
              <a:solidFill>
                <a:srgbClr val="1C1C1C"/>
              </a:solidFill>
              <a:prstDash val="solid"/>
              <a:round/>
            </a:ln>
          </a:bottom>
          <a:insideH>
            <a:ln w="12700" cap="flat">
              <a:solidFill>
                <a:srgbClr val="1C1C1C"/>
              </a:solidFill>
              <a:prstDash val="solid"/>
              <a:round/>
            </a:ln>
          </a:insideH>
          <a:insideV>
            <a:ln w="12700" cap="flat">
              <a:solidFill>
                <a:srgbClr val="1C1C1C"/>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2" name="Shape 52"/>
          <p:cNvSpPr/>
          <p:nvPr>
            <p:ph type="sldImg"/>
          </p:nvPr>
        </p:nvSpPr>
        <p:spPr>
          <a:xfrm>
            <a:off x="1143000" y="685800"/>
            <a:ext cx="4572000" cy="3429000"/>
          </a:xfrm>
          <a:prstGeom prst="rect">
            <a:avLst/>
          </a:prstGeom>
        </p:spPr>
        <p:txBody>
          <a:bodyPr/>
          <a:lstStyle/>
          <a:p>
            <a:pPr/>
          </a:p>
        </p:txBody>
      </p:sp>
      <p:sp>
        <p:nvSpPr>
          <p:cNvPr id="53" name="Shape 5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C1C1C"/>
        </a:solidFill>
        <a:latin typeface="+mn-lt"/>
        <a:ea typeface="+mn-ea"/>
        <a:cs typeface="+mn-cs"/>
        <a:sym typeface="Arial"/>
      </a:defRPr>
    </a:lvl1pPr>
    <a:lvl2pPr indent="228600" latinLnBrk="0">
      <a:defRPr sz="1200">
        <a:solidFill>
          <a:srgbClr val="1C1C1C"/>
        </a:solidFill>
        <a:latin typeface="+mn-lt"/>
        <a:ea typeface="+mn-ea"/>
        <a:cs typeface="+mn-cs"/>
        <a:sym typeface="Arial"/>
      </a:defRPr>
    </a:lvl2pPr>
    <a:lvl3pPr indent="457200" latinLnBrk="0">
      <a:defRPr sz="1200">
        <a:solidFill>
          <a:srgbClr val="1C1C1C"/>
        </a:solidFill>
        <a:latin typeface="+mn-lt"/>
        <a:ea typeface="+mn-ea"/>
        <a:cs typeface="+mn-cs"/>
        <a:sym typeface="Arial"/>
      </a:defRPr>
    </a:lvl3pPr>
    <a:lvl4pPr indent="685800" latinLnBrk="0">
      <a:defRPr sz="1200">
        <a:solidFill>
          <a:srgbClr val="1C1C1C"/>
        </a:solidFill>
        <a:latin typeface="+mn-lt"/>
        <a:ea typeface="+mn-ea"/>
        <a:cs typeface="+mn-cs"/>
        <a:sym typeface="Arial"/>
      </a:defRPr>
    </a:lvl4pPr>
    <a:lvl5pPr indent="914400" latinLnBrk="0">
      <a:defRPr sz="1200">
        <a:solidFill>
          <a:srgbClr val="1C1C1C"/>
        </a:solidFill>
        <a:latin typeface="+mn-lt"/>
        <a:ea typeface="+mn-ea"/>
        <a:cs typeface="+mn-cs"/>
        <a:sym typeface="Arial"/>
      </a:defRPr>
    </a:lvl5pPr>
    <a:lvl6pPr indent="1143000" latinLnBrk="0">
      <a:defRPr sz="1200">
        <a:solidFill>
          <a:srgbClr val="1C1C1C"/>
        </a:solidFill>
        <a:latin typeface="+mn-lt"/>
        <a:ea typeface="+mn-ea"/>
        <a:cs typeface="+mn-cs"/>
        <a:sym typeface="Arial"/>
      </a:defRPr>
    </a:lvl6pPr>
    <a:lvl7pPr indent="1371600" latinLnBrk="0">
      <a:defRPr sz="1200">
        <a:solidFill>
          <a:srgbClr val="1C1C1C"/>
        </a:solidFill>
        <a:latin typeface="+mn-lt"/>
        <a:ea typeface="+mn-ea"/>
        <a:cs typeface="+mn-cs"/>
        <a:sym typeface="Arial"/>
      </a:defRPr>
    </a:lvl7pPr>
    <a:lvl8pPr indent="1600200" latinLnBrk="0">
      <a:defRPr sz="1200">
        <a:solidFill>
          <a:srgbClr val="1C1C1C"/>
        </a:solidFill>
        <a:latin typeface="+mn-lt"/>
        <a:ea typeface="+mn-ea"/>
        <a:cs typeface="+mn-cs"/>
        <a:sym typeface="Arial"/>
      </a:defRPr>
    </a:lvl8pPr>
    <a:lvl9pPr indent="1828800" latinLnBrk="0">
      <a:defRPr sz="1200">
        <a:solidFill>
          <a:srgbClr val="1C1C1C"/>
        </a:solidFill>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64"/>
          <p:cNvSpPr/>
          <p:nvPr>
            <p:ph type="sldImg"/>
          </p:nvPr>
        </p:nvSpPr>
        <p:spPr>
          <a:prstGeom prst="rect">
            <a:avLst/>
          </a:prstGeom>
        </p:spPr>
        <p:txBody>
          <a:bodyPr/>
          <a:lstStyle/>
          <a:p>
            <a:pPr/>
          </a:p>
        </p:txBody>
      </p:sp>
      <p:sp>
        <p:nvSpPr>
          <p:cNvPr id="65" name="Shape 65"/>
          <p:cNvSpPr/>
          <p:nvPr>
            <p:ph type="body" sz="quarter" idx="1"/>
          </p:nvPr>
        </p:nvSpPr>
        <p:spPr>
          <a:prstGeom prst="rect">
            <a:avLst/>
          </a:prstGeom>
        </p:spPr>
        <p:txBody>
          <a:bodyPr/>
          <a:lstStyle/>
          <a:p>
            <a:pPr/>
            <a:r>
              <a:t>Click the yellow button during the slideshow to open the sketch in your browser: https://www.youtube.com/watch?v=nopWOC4SRm4</a:t>
            </a:r>
          </a:p>
          <a:p>
            <a:pPr/>
          </a:p>
          <a:p>
            <a:pPr/>
            <a:r>
              <a:t>Before playing: ask students to count or note the different greetings they see. After: How did the greeting change depending on who was being greeted?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Shape 75"/>
          <p:cNvSpPr/>
          <p:nvPr>
            <p:ph type="sldImg"/>
          </p:nvPr>
        </p:nvSpPr>
        <p:spPr>
          <a:prstGeom prst="rect">
            <a:avLst/>
          </a:prstGeom>
        </p:spPr>
        <p:txBody>
          <a:bodyPr/>
          <a:lstStyle/>
          <a:p>
            <a:pPr/>
          </a:p>
        </p:txBody>
      </p:sp>
      <p:sp>
        <p:nvSpPr>
          <p:cNvPr id="76" name="Shape 76"/>
          <p:cNvSpPr/>
          <p:nvPr>
            <p:ph type="body" sz="quarter" idx="1"/>
          </p:nvPr>
        </p:nvSpPr>
        <p:spPr>
          <a:prstGeom prst="rect">
            <a:avLst/>
          </a:prstGeom>
        </p:spPr>
        <p:txBody>
          <a:bodyPr/>
          <a:lstStyle/>
          <a:p>
            <a:pPr/>
            <a:r>
              <a:t>Introduce the theme: greetings change with the setting and the relationship, and choosing the wrong one says something about you.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Prompt: When would an Austrian shake hands where an American wouldn't, and vice versa?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Shape 96"/>
          <p:cNvSpPr/>
          <p:nvPr>
            <p:ph type="sldImg"/>
          </p:nvPr>
        </p:nvSpPr>
        <p:spPr>
          <a:prstGeom prst="rect">
            <a:avLst/>
          </a:prstGeom>
        </p:spPr>
        <p:txBody>
          <a:bodyPr/>
          <a:lstStyle/>
          <a:p>
            <a:pPr/>
          </a:p>
        </p:txBody>
      </p:sp>
      <p:sp>
        <p:nvSpPr>
          <p:cNvPr id="97" name="Shape 97"/>
          <p:cNvSpPr/>
          <p:nvPr>
            <p:ph type="body" sz="quarter" idx="1"/>
          </p:nvPr>
        </p:nvSpPr>
        <p:spPr>
          <a:prstGeom prst="rect">
            <a:avLst/>
          </a:prstGeom>
        </p:spPr>
        <p:txBody>
          <a:bodyPr/>
          <a:lstStyle/>
          <a:p>
            <a:pPr/>
            <a:r>
              <a:t>Practice: pair up and shake hands; partner gives feedback on grip and eye contact.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The photo shows the "dead fish" handshake, the English idiom for a limp grip.</a:t>
            </a:r>
          </a:p>
          <a:p>
            <a:pPr/>
          </a:p>
          <a:p>
            <a:pPr/>
            <a:r>
              <a:t>Prompt: Which of these would bother you most? Why might over-squeezing read as insecurity?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Another well-known example: Justin Trudeau placing his left hand on Donald Trump's arm at the White House in February 2017; VOA Learning English covered this in an article on presidential handshakes: https://learningenglish.voanews.com/a/trump-handshakes-analysis/3903689.html</a:t>
            </a:r>
          </a:p>
          <a:p>
            <a:pPr/>
          </a:p>
          <a:p>
            <a:pPr/>
            <a:r>
              <a:t>Prompt: Warm or overbearing? What changes the reading (relationship, status, length of the shake)?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Shape 153"/>
          <p:cNvSpPr/>
          <p:nvPr>
            <p:ph type="sldImg"/>
          </p:nvPr>
        </p:nvSpPr>
        <p:spPr>
          <a:prstGeom prst="rect">
            <a:avLst/>
          </a:prstGeom>
        </p:spPr>
        <p:txBody>
          <a:bodyPr/>
          <a:lstStyle/>
          <a:p>
            <a:pPr/>
          </a:p>
        </p:txBody>
      </p:sp>
      <p:sp>
        <p:nvSpPr>
          <p:cNvPr id="154" name="Shape 154"/>
          <p:cNvSpPr/>
          <p:nvPr>
            <p:ph type="body" sz="quarter" idx="1"/>
          </p:nvPr>
        </p:nvSpPr>
        <p:spPr>
          <a:prstGeom prst="rect">
            <a:avLst/>
          </a:prstGeom>
        </p:spPr>
        <p:txBody>
          <a:bodyPr/>
          <a:lstStyle/>
          <a:p>
            <a:pPr/>
            <a:r>
              <a:t>Practice: students pair up, shake hands and use two phrases each. Point out that Americans move to first names quickly, unlike Herr/Frau in Austria.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r>
              <a:t>Prompt: Your boss fist-bumps you after a meeting. How does that land? Note "millennialism": slang for a habit that marks someone as a millennial trying a bit too hard.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Quick drill: call out a situation ("I passed my driving test!") and a student responds with a fist bump and a phrase.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The usual story: on October 2, 1977, at Dodger Stadium, Glenn Burke greeted his Los Angeles Dodgers teammate Dusty Baker with a raised hand after Baker's 30th home run of the season. A competing claim puts it at University of Louisville basketball practice in 1978-79 (Derek Smith telling Wiley Brown "Up high"). Magic Johnson has said he and Greg Kelser invented it at Michigan State, though he gave no date and didn't claim the name.</a:t>
            </a:r>
          </a:p>
          <a:p>
            <a:pPr/>
            <a:r>
              <a:t>Sources: https://sabr.org/gamesproj/game/october-2-1977-dusty-baker-hits-30th-homer-receives-first-ever-high-five-from-glenn-burke-in-dodgers-loss-to-astros/ ; https://en.wikipedia.org/wiki/High_five</a:t>
            </a:r>
          </a:p>
          <a:p>
            <a:pPr/>
          </a:p>
          <a:p>
            <a:pPr/>
            <a:r>
              <a:t>Prompt: Who would you high-five, and who would you never high-five?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hape 226"/>
          <p:cNvSpPr/>
          <p:nvPr>
            <p:ph type="sldImg"/>
          </p:nvPr>
        </p:nvSpPr>
        <p:spPr>
          <a:prstGeom prst="rect">
            <a:avLst/>
          </a:prstGeom>
        </p:spPr>
        <p:txBody>
          <a:bodyPr/>
          <a:lstStyle/>
          <a:p>
            <a:pPr/>
          </a:p>
        </p:txBody>
      </p:sp>
      <p:sp>
        <p:nvSpPr>
          <p:cNvPr id="227" name="Shape 227"/>
          <p:cNvSpPr/>
          <p:nvPr>
            <p:ph type="body" sz="quarter" idx="1"/>
          </p:nvPr>
        </p:nvSpPr>
        <p:spPr>
          <a:prstGeom prst="rect">
            <a:avLst/>
          </a:prstGeom>
        </p:spPr>
        <p:txBody>
          <a:bodyPr/>
          <a:lstStyle/>
          <a:p>
            <a:pPr/>
            <a:r>
              <a:t>A classic playground prank that almost every American knows, from kids to adults. Demonstrate it on a student, then let pairs try it.</a:t>
            </a:r>
          </a:p>
          <a:p>
            <a:pPr/>
          </a:p>
          <a:p>
            <a:pPr/>
            <a:r>
              <a:t>Language note: "too slow" is said with a teasing, sing-song tone; the person who falls for it usually rolls their eyes (photo 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Act it out: "Don't leave me hanging" and "Down low... too slow" are fun to demonstrate with a student.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260"/>
          <p:cNvSpPr/>
          <p:nvPr>
            <p:ph type="sldImg"/>
          </p:nvPr>
        </p:nvSpPr>
        <p:spPr>
          <a:prstGeom prst="rect">
            <a:avLst/>
          </a:prstGeom>
        </p:spPr>
        <p:txBody>
          <a:bodyPr/>
          <a:lstStyle/>
          <a:p>
            <a:pPr/>
          </a:p>
        </p:txBody>
      </p:sp>
      <p:sp>
        <p:nvSpPr>
          <p:cNvPr id="261" name="Shape 261"/>
          <p:cNvSpPr/>
          <p:nvPr>
            <p:ph type="body" sz="quarter" idx="1"/>
          </p:nvPr>
        </p:nvSpPr>
        <p:spPr>
          <a:prstGeom prst="rect">
            <a:avLst/>
          </a:prstGeom>
        </p:spPr>
        <p:txBody>
          <a:bodyPr/>
          <a:lstStyle/>
          <a:p>
            <a:pPr/>
            <a:r>
              <a:t>The photo series shows how many variations a dap can have; ask students to describe each move.</a:t>
            </a:r>
          </a:p>
          <a:p>
            <a:pPr/>
          </a:p>
          <a:p>
            <a:pPr/>
            <a:r>
              <a:t>What "dap" means: a handshake-style greeting, typically some mix of slapping palms, clasping hands, bumping fists or snapping fingers. To "give dap" / "dap someone up" is to greet them this way.</a:t>
            </a:r>
          </a:p>
          <a:p>
            <a:pPr/>
          </a:p>
          <a:p>
            <a:pPr/>
            <a:r>
              <a:t>Background: it spread among Black GIs in Vietnam as a sign of unity and solidarity; it first appeared in print in 1971. The word's origin is uncertain: soldiers said it came from Vietnamese "dep" (beautiful); dictionaries suggest "tap" or "dab". The popular "Dignity And Pride" acronym is a later explanation (backronym), a nice discussion point.</a:t>
            </a:r>
          </a:p>
          <a:p>
            <a:pPr/>
            <a:r>
              <a:t>Source: https://grammarphobia.com/blog/2020/12/dap.html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hape 283"/>
          <p:cNvSpPr/>
          <p:nvPr>
            <p:ph type="sldImg"/>
          </p:nvPr>
        </p:nvSpPr>
        <p:spPr>
          <a:prstGeom prst="rect">
            <a:avLst/>
          </a:prstGeom>
        </p:spPr>
        <p:txBody>
          <a:bodyPr/>
          <a:lstStyle/>
          <a:p>
            <a:pPr/>
          </a:p>
        </p:txBody>
      </p:sp>
      <p:sp>
        <p:nvSpPr>
          <p:cNvPr id="284" name="Shape 284"/>
          <p:cNvSpPr/>
          <p:nvPr>
            <p:ph type="body" sz="quarter" idx="1"/>
          </p:nvPr>
        </p:nvSpPr>
        <p:spPr>
          <a:prstGeom prst="rect">
            <a:avLst/>
          </a:prstGeom>
        </p:spPr>
        <p:txBody>
          <a:bodyPr/>
          <a:lstStyle/>
          <a:p>
            <a:pPr/>
            <a:r>
              <a:t>Point out the pronunciation: "What's up" often becomes "Wassup" or just "Sup"; "Aight" = "all right". Ask: which of these would sound strange coming from a teacher?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Prompt: Austrians often greet friends with a Bussi on each cheek. How might an American react, and why?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319"/>
          <p:cNvSpPr/>
          <p:nvPr>
            <p:ph type="sldImg"/>
          </p:nvPr>
        </p:nvSpPr>
        <p:spPr>
          <a:prstGeom prst="rect">
            <a:avLst/>
          </a:prstGeom>
        </p:spPr>
        <p:txBody>
          <a:bodyPr/>
          <a:lstStyle/>
          <a:p>
            <a:pPr/>
          </a:p>
        </p:txBody>
      </p:sp>
      <p:sp>
        <p:nvSpPr>
          <p:cNvPr id="320" name="Shape 320"/>
          <p:cNvSpPr/>
          <p:nvPr>
            <p:ph type="body" sz="quarter" idx="1"/>
          </p:nvPr>
        </p:nvSpPr>
        <p:spPr>
          <a:prstGeom prst="rect">
            <a:avLst/>
          </a:prstGeom>
        </p:spPr>
        <p:txBody>
          <a:bodyPr/>
          <a:lstStyle/>
          <a:p>
            <a:pPr/>
            <a:r>
              <a:t>How it runs: a pair gets a scenario slide, acts out the greeting plus ~30 seconds of small talk, then the class votes whether the greeting fit, and one student explains why.</a:t>
            </a:r>
          </a:p>
          <a:p>
            <a:pPr/>
          </a:p>
          <a:p>
            <a:pPr/>
            <a:r>
              <a:t>Twist: now and then, secretly tell a pair to use the WRONG greeting; the class spots it and suggests a fix. Each scenario slide's notes have a suggested right greeting and a wrong-greeting twist.</a:t>
            </a:r>
          </a:p>
          <a:p>
            <a:pPr/>
          </a:p>
          <a:p>
            <a:pPr/>
            <a:r>
              <a:t>Short on time: do only a few scenarios, or run the wrong-greeting rounds as a whole class.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Shape 327"/>
          <p:cNvSpPr/>
          <p:nvPr>
            <p:ph type="sldImg"/>
          </p:nvPr>
        </p:nvSpPr>
        <p:spPr>
          <a:prstGeom prst="rect">
            <a:avLst/>
          </a:prstGeom>
        </p:spPr>
        <p:txBody>
          <a:bodyPr/>
          <a:lstStyle/>
          <a:p>
            <a:pPr/>
          </a:p>
        </p:txBody>
      </p:sp>
      <p:sp>
        <p:nvSpPr>
          <p:cNvPr id="328" name="Shape 328"/>
          <p:cNvSpPr/>
          <p:nvPr>
            <p:ph type="body" sz="quarter" idx="1"/>
          </p:nvPr>
        </p:nvSpPr>
        <p:spPr>
          <a:prstGeom prst="rect">
            <a:avLst/>
          </a:prstGeom>
        </p:spPr>
        <p:txBody>
          <a:bodyPr/>
          <a:lstStyle/>
          <a:p>
            <a:pPr/>
            <a:r>
              <a:t>Fits: firm handshake + “Nice to meet you.” Twist: a fist bump, or “Yo, what's up?”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hape 335"/>
          <p:cNvSpPr/>
          <p:nvPr>
            <p:ph type="sldImg"/>
          </p:nvPr>
        </p:nvSpPr>
        <p:spPr>
          <a:prstGeom prst="rect">
            <a:avLst/>
          </a:prstGeom>
        </p:spPr>
        <p:txBody>
          <a:bodyPr/>
          <a:lstStyle/>
          <a:p>
            <a:pPr/>
          </a:p>
        </p:txBody>
      </p:sp>
      <p:sp>
        <p:nvSpPr>
          <p:cNvPr id="336" name="Shape 336"/>
          <p:cNvSpPr/>
          <p:nvPr>
            <p:ph type="body" sz="quarter" idx="1"/>
          </p:nvPr>
        </p:nvSpPr>
        <p:spPr>
          <a:prstGeom prst="rect">
            <a:avLst/>
          </a:prstGeom>
        </p:spPr>
        <p:txBody>
          <a:bodyPr/>
          <a:lstStyle/>
          <a:p>
            <a:pPr/>
            <a:r>
              <a:t>Fits: fist bump (or a hug, between close teammates) + “Let's go!” Twist: a formal handshake + “It's a pleasure to meet you.”</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r>
              <a:t>Fits: a wave or a quick handshake + “Oh, hi! How are you?” Twist: a dap + “What's good?”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Shape 351"/>
          <p:cNvSpPr/>
          <p:nvPr>
            <p:ph type="sldImg"/>
          </p:nvPr>
        </p:nvSpPr>
        <p:spPr>
          <a:prstGeom prst="rect">
            <a:avLst/>
          </a:prstGeom>
        </p:spPr>
        <p:txBody>
          <a:bodyPr/>
          <a:lstStyle/>
          <a:p>
            <a:pPr/>
          </a:p>
        </p:txBody>
      </p:sp>
      <p:sp>
        <p:nvSpPr>
          <p:cNvPr id="352" name="Shape 352"/>
          <p:cNvSpPr/>
          <p:nvPr>
            <p:ph type="body" sz="quarter" idx="1"/>
          </p:nvPr>
        </p:nvSpPr>
        <p:spPr>
          <a:prstGeom prst="rect">
            <a:avLst/>
          </a:prstGeom>
        </p:spPr>
        <p:txBody>
          <a:bodyPr/>
          <a:lstStyle/>
          <a:p>
            <a:pPr/>
            <a:r>
              <a:t>Fits: handshake + “Thanks for having me.” Twist: an air-kiss on both cheeks.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hape 359"/>
          <p:cNvSpPr/>
          <p:nvPr>
            <p:ph type="sldImg"/>
          </p:nvPr>
        </p:nvSpPr>
        <p:spPr>
          <a:prstGeom prst="rect">
            <a:avLst/>
          </a:prstGeom>
        </p:spPr>
        <p:txBody>
          <a:bodyPr/>
          <a:lstStyle/>
          <a:p>
            <a:pPr/>
          </a:p>
        </p:txBody>
      </p:sp>
      <p:sp>
        <p:nvSpPr>
          <p:cNvPr id="360" name="Shape 360"/>
          <p:cNvSpPr/>
          <p:nvPr>
            <p:ph type="body" sz="quarter" idx="1"/>
          </p:nvPr>
        </p:nvSpPr>
        <p:spPr>
          <a:prstGeom prst="rect">
            <a:avLst/>
          </a:prstGeom>
        </p:spPr>
        <p:txBody>
          <a:bodyPr/>
          <a:lstStyle/>
          <a:p>
            <a:pPr/>
            <a:r>
              <a:t>Fits: firm handshake, eye contact + “It's a pleasure to meet you.” Twist: a limp or bone-crushing handshake, or the two-handed shake.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Shape 367"/>
          <p:cNvSpPr/>
          <p:nvPr>
            <p:ph type="sldImg"/>
          </p:nvPr>
        </p:nvSpPr>
        <p:spPr>
          <a:prstGeom prst="rect">
            <a:avLst/>
          </a:prstGeom>
        </p:spPr>
        <p:txBody>
          <a:bodyPr/>
          <a:lstStyle/>
          <a:p>
            <a:pPr/>
          </a:p>
        </p:txBody>
      </p:sp>
      <p:sp>
        <p:nvSpPr>
          <p:cNvPr id="368" name="Shape 368"/>
          <p:cNvSpPr/>
          <p:nvPr>
            <p:ph type="body" sz="quarter" idx="1"/>
          </p:nvPr>
        </p:nvSpPr>
        <p:spPr>
          <a:prstGeom prst="rect">
            <a:avLst/>
          </a:prstGeom>
        </p:spPr>
        <p:txBody>
          <a:bodyPr/>
          <a:lstStyle/>
          <a:p>
            <a:pPr/>
            <a:r>
              <a:t>Fits: a dap or a hug + “Yo, what's up?” Twist: a stiff formal handshake + “Good evening.”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Shape 375"/>
          <p:cNvSpPr/>
          <p:nvPr>
            <p:ph type="sldImg"/>
          </p:nvPr>
        </p:nvSpPr>
        <p:spPr>
          <a:prstGeom prst="rect">
            <a:avLst/>
          </a:prstGeom>
        </p:spPr>
        <p:txBody>
          <a:bodyPr/>
          <a:lstStyle/>
          <a:p>
            <a:pPr/>
          </a:p>
        </p:txBody>
      </p:sp>
      <p:sp>
        <p:nvSpPr>
          <p:cNvPr id="376" name="Shape 376"/>
          <p:cNvSpPr/>
          <p:nvPr>
            <p:ph type="body" sz="quarter" idx="1"/>
          </p:nvPr>
        </p:nvSpPr>
        <p:spPr>
          <a:prstGeom prst="rect">
            <a:avLst/>
          </a:prstGeom>
        </p:spPr>
        <p:txBody>
          <a:bodyPr/>
          <a:lstStyle/>
          <a:p>
            <a:pPr/>
            <a:r>
              <a:t>Fits: a handshake, perhaps with a slight nod. Discussion: should you bow? Twist: a deep bow, or a fist bump.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Shape 383"/>
          <p:cNvSpPr/>
          <p:nvPr>
            <p:ph type="sldImg"/>
          </p:nvPr>
        </p:nvSpPr>
        <p:spPr>
          <a:prstGeom prst="rect">
            <a:avLst/>
          </a:prstGeom>
        </p:spPr>
        <p:txBody>
          <a:bodyPr/>
          <a:lstStyle/>
          <a:p>
            <a:pPr/>
          </a:p>
        </p:txBody>
      </p:sp>
      <p:sp>
        <p:nvSpPr>
          <p:cNvPr id="384" name="Shape 384"/>
          <p:cNvSpPr/>
          <p:nvPr>
            <p:ph type="body" sz="quarter" idx="1"/>
          </p:nvPr>
        </p:nvSpPr>
        <p:spPr>
          <a:prstGeom prst="rect">
            <a:avLst/>
          </a:prstGeom>
        </p:spPr>
        <p:txBody>
          <a:bodyPr/>
          <a:lstStyle/>
          <a:p>
            <a:pPr/>
            <a:r>
              <a:t>Fits: a casual handshake + “Hey, nice to meet you.” Twist: a big hug, or a dap he doesn't know how to do.</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_TITLE">
    <p:bg>
      <p:bgPr>
        <a:solidFill>
          <a:srgbClr val="24262B"/>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548640" y="1371600"/>
            <a:ext cx="5120641" cy="1463040"/>
          </a:xfrm>
          <a:prstGeom prst="rect">
            <a:avLst/>
          </a:prstGeom>
        </p:spPr>
        <p:txBody>
          <a:bodyPr anchor="t">
            <a:normAutofit fontScale="100000" lnSpcReduction="0"/>
          </a:bodyPr>
          <a:lstStyle>
            <a:lvl1pPr algn="l">
              <a:defRPr b="1">
                <a:solidFill>
                  <a:srgbClr val="FFFFFF"/>
                </a:solidFill>
              </a:defRPr>
            </a:lvl1pPr>
          </a:lstStyle>
          <a:p>
            <a:pPr/>
            <a:r>
              <a:t>Click to add title</a:t>
            </a:r>
          </a:p>
        </p:txBody>
      </p:sp>
      <p:sp>
        <p:nvSpPr>
          <p:cNvPr id="19" name="Body Level One…"/>
          <p:cNvSpPr txBox="1"/>
          <p:nvPr>
            <p:ph type="body" sz="quarter" idx="1" hasCustomPrompt="1"/>
          </p:nvPr>
        </p:nvSpPr>
        <p:spPr>
          <a:xfrm>
            <a:off x="548640" y="3017520"/>
            <a:ext cx="5120641" cy="914401"/>
          </a:xfrm>
          <a:prstGeom prst="rect">
            <a:avLst/>
          </a:prstGeom>
        </p:spPr>
        <p:txBody>
          <a:bodyPr>
            <a:normAutofit fontScale="100000" lnSpcReduction="0"/>
          </a:bodyPr>
          <a:lstStyle>
            <a:lvl1pPr marL="0" indent="0">
              <a:spcBef>
                <a:spcPts val="400"/>
              </a:spcBef>
              <a:buSzTx/>
              <a:buFontTx/>
              <a:buNone/>
              <a:defRPr sz="1800">
                <a:solidFill>
                  <a:schemeClr val="accent6"/>
                </a:solidFill>
              </a:defRPr>
            </a:lvl1pPr>
            <a:lvl2pPr marL="640896" indent="-183696">
              <a:spcBef>
                <a:spcPts val="400"/>
              </a:spcBef>
              <a:buFontTx/>
              <a:defRPr sz="1800">
                <a:solidFill>
                  <a:schemeClr val="accent6"/>
                </a:solidFill>
              </a:defRPr>
            </a:lvl2pPr>
            <a:lvl3pPr marL="1085850" indent="-171450">
              <a:spcBef>
                <a:spcPts val="400"/>
              </a:spcBef>
              <a:buFontTx/>
              <a:defRPr sz="1800">
                <a:solidFill>
                  <a:schemeClr val="accent6"/>
                </a:solidFill>
              </a:defRPr>
            </a:lvl3pPr>
            <a:lvl4pPr marL="1577339" indent="-205739">
              <a:spcBef>
                <a:spcPts val="400"/>
              </a:spcBef>
              <a:buFontTx/>
              <a:defRPr sz="1800">
                <a:solidFill>
                  <a:schemeClr val="accent6"/>
                </a:solidFill>
              </a:defRPr>
            </a:lvl4pPr>
            <a:lvl5pPr marL="2034539" indent="-205739">
              <a:spcBef>
                <a:spcPts val="400"/>
              </a:spcBef>
              <a:buFontTx/>
              <a:defRPr sz="1800">
                <a:solidFill>
                  <a:schemeClr val="accent6"/>
                </a:solidFill>
              </a:defRPr>
            </a:lvl5pPr>
          </a:lstStyle>
          <a:p>
            <a:pPr/>
            <a:r>
              <a:t>Click to add text</a:t>
            </a:r>
          </a:p>
          <a:p>
            <a:pPr lvl="1"/>
            <a:r>
              <a:t/>
            </a:r>
          </a:p>
          <a:p>
            <a:pPr lvl="2"/>
            <a:r>
              <a:t/>
            </a:r>
          </a:p>
          <a:p>
            <a:pPr lvl="3"/>
            <a:r>
              <a:t/>
            </a:r>
          </a:p>
          <a:p>
            <a:pPr lvl="4"/>
            <a:r>
              <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_SPLIT">
    <p:bg>
      <p:bgPr>
        <a:solidFill>
          <a:srgbClr val="24262B"/>
        </a:solidFill>
      </p:bgPr>
    </p:bg>
    <p:spTree>
      <p:nvGrpSpPr>
        <p:cNvPr id="1" name=""/>
        <p:cNvGrpSpPr/>
        <p:nvPr/>
      </p:nvGrpSpPr>
      <p:grpSpPr>
        <a:xfrm>
          <a:off x="0" y="0"/>
          <a:ext cx="0" cy="0"/>
          <a:chOff x="0" y="0"/>
          <a:chExt cx="0" cy="0"/>
        </a:xfrm>
      </p:grpSpPr>
      <p:sp>
        <p:nvSpPr>
          <p:cNvPr id="27" name="Click to add title"/>
          <p:cNvSpPr txBox="1"/>
          <p:nvPr>
            <p:ph type="title" hasCustomPrompt="1"/>
          </p:nvPr>
        </p:nvSpPr>
        <p:spPr>
          <a:xfrm>
            <a:off x="4846320" y="868680"/>
            <a:ext cx="3840480" cy="1645921"/>
          </a:xfrm>
          <a:prstGeom prst="rect">
            <a:avLst/>
          </a:prstGeom>
        </p:spPr>
        <p:txBody>
          <a:bodyPr anchor="t">
            <a:normAutofit fontScale="100000" lnSpcReduction="0"/>
          </a:bodyPr>
          <a:lstStyle>
            <a:lvl1pPr algn="l">
              <a:defRPr b="1" sz="3200">
                <a:solidFill>
                  <a:srgbClr val="FFFFFF"/>
                </a:solidFill>
              </a:defRPr>
            </a:lvl1pPr>
          </a:lstStyle>
          <a:p>
            <a:pPr/>
            <a:r>
              <a:t>Click to add title</a:t>
            </a:r>
          </a:p>
        </p:txBody>
      </p:sp>
      <p:sp>
        <p:nvSpPr>
          <p:cNvPr id="28" name="Text 0"/>
          <p:cNvSpPr txBox="1"/>
          <p:nvPr/>
        </p:nvSpPr>
        <p:spPr>
          <a:xfrm>
            <a:off x="4846320" y="4778547"/>
            <a:ext cx="320040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6"/>
                </a:solidFill>
              </a:defRPr>
            </a:lvl1pPr>
          </a:lstStyle>
          <a:p>
            <a:pPr/>
            <a:r>
              <a:t>American &amp; NYC Greetings</a:t>
            </a:r>
          </a:p>
        </p:txBody>
      </p:sp>
      <p:sp>
        <p:nvSpPr>
          <p:cNvPr id="29" name="Slide Number"/>
          <p:cNvSpPr txBox="1"/>
          <p:nvPr>
            <p:ph type="sldNum" sz="quarter" idx="2"/>
          </p:nvPr>
        </p:nvSpPr>
        <p:spPr>
          <a:xfrm>
            <a:off x="8441397" y="4709159"/>
            <a:ext cx="245404" cy="22698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IGHT_TITLE">
    <p:spTree>
      <p:nvGrpSpPr>
        <p:cNvPr id="1" name=""/>
        <p:cNvGrpSpPr/>
        <p:nvPr/>
      </p:nvGrpSpPr>
      <p:grpSpPr>
        <a:xfrm>
          <a:off x="0" y="0"/>
          <a:ext cx="0" cy="0"/>
          <a:chOff x="0" y="0"/>
          <a:chExt cx="0" cy="0"/>
        </a:xfrm>
      </p:grpSpPr>
      <p:sp>
        <p:nvSpPr>
          <p:cNvPr id="36" name="Click to add title"/>
          <p:cNvSpPr txBox="1"/>
          <p:nvPr>
            <p:ph type="title" hasCustomPrompt="1"/>
          </p:nvPr>
        </p:nvSpPr>
        <p:spPr>
          <a:xfrm>
            <a:off x="457200" y="274320"/>
            <a:ext cx="8229600" cy="685801"/>
          </a:xfrm>
          <a:prstGeom prst="rect">
            <a:avLst/>
          </a:prstGeom>
        </p:spPr>
        <p:txBody>
          <a:bodyPr anchor="t">
            <a:normAutofit fontScale="100000" lnSpcReduction="0"/>
          </a:bodyPr>
          <a:lstStyle>
            <a:lvl1pPr algn="l">
              <a:defRPr b="1" sz="3400"/>
            </a:lvl1pPr>
          </a:lstStyle>
          <a:p>
            <a:pPr/>
            <a:r>
              <a:t>Click to add title</a:t>
            </a:r>
          </a:p>
        </p:txBody>
      </p:sp>
      <p:sp>
        <p:nvSpPr>
          <p:cNvPr id="37" name="Text 0"/>
          <p:cNvSpPr txBox="1"/>
          <p:nvPr/>
        </p:nvSpPr>
        <p:spPr>
          <a:xfrm>
            <a:off x="457200" y="4824267"/>
            <a:ext cx="320040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4"/>
                </a:solidFill>
              </a:defRPr>
            </a:lvl1pPr>
          </a:lstStyle>
          <a:p>
            <a:pPr/>
            <a:r>
              <a:t>American &amp; NYC Greetings</a:t>
            </a:r>
          </a:p>
        </p:txBody>
      </p:sp>
      <p:sp>
        <p:nvSpPr>
          <p:cNvPr id="38" name="Slide Number"/>
          <p:cNvSpPr txBox="1"/>
          <p:nvPr>
            <p:ph type="sldNum" sz="quarter" idx="2"/>
          </p:nvPr>
        </p:nvSpPr>
        <p:spPr>
          <a:xfrm>
            <a:off x="8441397" y="4754879"/>
            <a:ext cx="245404" cy="226987"/>
          </a:xfrm>
          <a:prstGeom prst="rect">
            <a:avLst/>
          </a:prstGeom>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CENARIO">
    <p:spTree>
      <p:nvGrpSpPr>
        <p:cNvPr id="1" name=""/>
        <p:cNvGrpSpPr/>
        <p:nvPr/>
      </p:nvGrpSpPr>
      <p:grpSpPr>
        <a:xfrm>
          <a:off x="0" y="0"/>
          <a:ext cx="0" cy="0"/>
          <a:chOff x="0" y="0"/>
          <a:chExt cx="0" cy="0"/>
        </a:xfrm>
      </p:grpSpPr>
      <p:sp>
        <p:nvSpPr>
          <p:cNvPr id="45" name="Text 0"/>
          <p:cNvSpPr txBox="1"/>
          <p:nvPr/>
        </p:nvSpPr>
        <p:spPr>
          <a:xfrm>
            <a:off x="457200" y="4824267"/>
            <a:ext cx="320040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4"/>
                </a:solidFill>
              </a:defRPr>
            </a:lvl1pPr>
          </a:lstStyle>
          <a:p>
            <a:pPr/>
            <a:r>
              <a:t>Activity: Greeting Roulette</a:t>
            </a:r>
          </a:p>
        </p:txBody>
      </p:sp>
      <p:sp>
        <p:nvSpPr>
          <p:cNvPr id="46" name="Slide Number"/>
          <p:cNvSpPr txBox="1"/>
          <p:nvPr>
            <p:ph type="sldNum" sz="quarter" idx="2"/>
          </p:nvPr>
        </p:nvSpPr>
        <p:spPr>
          <a:xfrm>
            <a:off x="8441397" y="4754879"/>
            <a:ext cx="245404" cy="226987"/>
          </a:xfrm>
          <a:prstGeom prst="rect">
            <a:avLst/>
          </a:prstGeom>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767262"/>
            <a:ext cx="2133600" cy="279401"/>
          </a:xfrm>
          <a:prstGeom prst="rect">
            <a:avLst/>
          </a:prstGeom>
          <a:ln w="12700">
            <a:miter lim="400000"/>
          </a:ln>
        </p:spPr>
        <p:txBody>
          <a:bodyPr wrap="none" lIns="45719" rIns="45719">
            <a:spAutoFit/>
          </a:bodyPr>
          <a:lstStyle>
            <a:lvl1pPr algn="r">
              <a:defRPr sz="1000">
                <a:solidFill>
                  <a:schemeClr val="accent6"/>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C1C1C"/>
          </a:solidFill>
          <a:uFillTx/>
          <a:latin typeface="Georgia"/>
          <a:ea typeface="Georgia"/>
          <a:cs typeface="Georgia"/>
          <a:sym typeface="Georg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C1C1C"/>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www.youtube.com/watch?v=nopWOC4SRm4" TargetMode="External"/><Relationship Id="rId4"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eg"/><Relationship Id="rId4" Type="http://schemas.openxmlformats.org/officeDocument/2006/relationships/image" Target="../media/image16.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apa.org/topics/personality"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 name="Text 0"/>
          <p:cNvSpPr txBox="1"/>
          <p:nvPr>
            <p:ph type="title"/>
          </p:nvPr>
        </p:nvSpPr>
        <p:spPr>
          <a:xfrm>
            <a:off x="548639" y="1371599"/>
            <a:ext cx="5120642" cy="1463042"/>
          </a:xfrm>
          <a:prstGeom prst="rect">
            <a:avLst/>
          </a:prstGeom>
        </p:spPr>
        <p:txBody>
          <a:bodyPr lIns="0" tIns="0" rIns="0" bIns="0" anchor="b"/>
          <a:lstStyle/>
          <a:p>
            <a:pPr/>
            <a:r>
              <a:t>Warmup</a:t>
            </a:r>
          </a:p>
        </p:txBody>
      </p:sp>
      <p:sp>
        <p:nvSpPr>
          <p:cNvPr id="56" name="Text 0"/>
          <p:cNvSpPr txBox="1"/>
          <p:nvPr>
            <p:ph type="body" sz="quarter" idx="1"/>
          </p:nvPr>
        </p:nvSpPr>
        <p:spPr>
          <a:xfrm>
            <a:off x="548639" y="3017520"/>
            <a:ext cx="5120642" cy="914401"/>
          </a:xfrm>
          <a:prstGeom prst="rect">
            <a:avLst/>
          </a:prstGeom>
        </p:spPr>
        <p:txBody>
          <a:bodyPr lIns="0" tIns="0" rIns="0" bIns="0"/>
          <a:lstStyle/>
          <a:p>
            <a:pPr/>
            <a:r>
              <a:t>What form of greeting do you use?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 name="Kicker"/>
          <p:cNvSpPr txBox="1"/>
          <p:nvPr/>
        </p:nvSpPr>
        <p:spPr>
          <a:xfrm>
            <a:off x="548640" y="1067168"/>
            <a:ext cx="36576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1"/>
                </a:solidFill>
              </a:defRPr>
            </a:lvl1pPr>
          </a:lstStyle>
          <a:p>
            <a:pPr/>
            <a:r>
              <a:t>WATCH FIRST</a:t>
            </a:r>
          </a:p>
        </p:txBody>
      </p:sp>
      <p:sp>
        <p:nvSpPr>
          <p:cNvPr id="59" name="Text 0"/>
          <p:cNvSpPr txBox="1"/>
          <p:nvPr>
            <p:ph type="title"/>
          </p:nvPr>
        </p:nvSpPr>
        <p:spPr>
          <a:xfrm>
            <a:off x="548639" y="1371599"/>
            <a:ext cx="5120642" cy="1463042"/>
          </a:xfrm>
          <a:prstGeom prst="rect">
            <a:avLst/>
          </a:prstGeom>
        </p:spPr>
        <p:txBody>
          <a:bodyPr lIns="0" tIns="0" rIns="0" bIns="0" anchor="b"/>
          <a:lstStyle/>
          <a:p>
            <a:pPr/>
            <a:r>
              <a:t>Key &amp; Peele</a:t>
            </a:r>
          </a:p>
        </p:txBody>
      </p:sp>
      <p:sp>
        <p:nvSpPr>
          <p:cNvPr id="60" name="Text 0"/>
          <p:cNvSpPr txBox="1"/>
          <p:nvPr>
            <p:ph type="body" sz="quarter" idx="1"/>
          </p:nvPr>
        </p:nvSpPr>
        <p:spPr>
          <a:xfrm>
            <a:off x="548639" y="3017520"/>
            <a:ext cx="5120642" cy="914401"/>
          </a:xfrm>
          <a:prstGeom prst="rect">
            <a:avLst/>
          </a:prstGeom>
        </p:spPr>
        <p:txBody>
          <a:bodyPr lIns="0" tIns="0" rIns="0" bIns="0"/>
          <a:lstStyle/>
          <a:p>
            <a:pPr/>
            <a:r>
              <a:t>How many different greetings can you spot?</a:t>
            </a:r>
          </a:p>
        </p:txBody>
      </p:sp>
      <p:sp>
        <p:nvSpPr>
          <p:cNvPr id="61" name="Play button">
            <a:hlinkClick r:id="rId3" invalidUrl="" action="" tgtFrame="" tooltip="" history="1" highlightClick="0" endSnd="0"/>
          </p:cNvPr>
          <p:cNvSpPr/>
          <p:nvPr/>
        </p:nvSpPr>
        <p:spPr>
          <a:xfrm>
            <a:off x="6309359" y="1234439"/>
            <a:ext cx="2194561" cy="2194561"/>
          </a:xfrm>
          <a:prstGeom prst="ellipse">
            <a:avLst/>
          </a:prstGeom>
          <a:solidFill>
            <a:schemeClr val="accent1"/>
          </a:solidFill>
          <a:ln w="12700">
            <a:solidFill>
              <a:schemeClr val="accent1"/>
            </a:solidFill>
          </a:ln>
        </p:spPr>
        <p:txBody>
          <a:bodyPr lIns="45719" rIns="45719"/>
          <a:lstStyle/>
          <a:p>
            <a:pPr/>
          </a:p>
        </p:txBody>
      </p:sp>
      <p:pic>
        <p:nvPicPr>
          <p:cNvPr id="62" name="Play icon" descr="Play icon">
            <a:hlinkClick r:id="rId3" invalidUrl="" action="" tgtFrame="" tooltip="" history="1" highlightClick="0" endSnd="0"/>
          </p:cNvPr>
          <p:cNvPicPr>
            <a:picLocks noChangeAspect="1"/>
          </p:cNvPicPr>
          <p:nvPr/>
        </p:nvPicPr>
        <p:blipFill>
          <a:blip r:embed="rId4">
            <a:extLst/>
          </a:blip>
          <a:stretch>
            <a:fillRect/>
          </a:stretch>
        </p:blipFill>
        <p:spPr>
          <a:xfrm>
            <a:off x="7178040" y="1965960"/>
            <a:ext cx="731521" cy="731521"/>
          </a:xfrm>
          <a:prstGeom prst="rect">
            <a:avLst/>
          </a:prstGeom>
          <a:ln w="12700">
            <a:miter lim="400000"/>
          </a:ln>
        </p:spPr>
      </p:pic>
      <p:sp>
        <p:nvSpPr>
          <p:cNvPr id="63" name="Play caption"/>
          <p:cNvSpPr txBox="1"/>
          <p:nvPr/>
        </p:nvSpPr>
        <p:spPr>
          <a:xfrm>
            <a:off x="6035040" y="3708352"/>
            <a:ext cx="27432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u="sng">
                <a:solidFill>
                  <a:schemeClr val="accent5"/>
                </a:solidFill>
                <a:uFill>
                  <a:solidFill>
                    <a:schemeClr val="accent5"/>
                  </a:solidFill>
                </a:uFill>
                <a:hlinkClick r:id="rId3" invalidUrl="" action="" tgtFrame="" tooltip="" history="1" highlightClick="0" endSnd="0"/>
              </a:defRPr>
            </a:lvl1pPr>
          </a:lstStyle>
          <a:p>
            <a:pPr>
              <a:defRPr>
                <a:solidFill>
                  <a:schemeClr val="accent6"/>
                </a:solidFill>
                <a:uFillTx/>
              </a:defRPr>
            </a:pPr>
            <a:r>
              <a:rPr>
                <a:solidFill>
                  <a:schemeClr val="accent5"/>
                </a:solidFill>
                <a:uFill>
                  <a:solidFill>
                    <a:schemeClr val="accent5"/>
                  </a:solidFill>
                </a:uFill>
                <a:hlinkClick r:id="rId3" invalidUrl="" action="" tgtFrame="" tooltip="" history="1" highlightClick="0" endSnd="0"/>
              </a:rPr>
              <a:t>Click to open on YouTube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0"/>
          <p:cNvSpPr txBox="1"/>
          <p:nvPr>
            <p:ph type="title"/>
          </p:nvPr>
        </p:nvSpPr>
        <p:spPr>
          <a:xfrm>
            <a:off x="548639" y="1371599"/>
            <a:ext cx="5120642" cy="1463042"/>
          </a:xfrm>
          <a:prstGeom prst="rect">
            <a:avLst/>
          </a:prstGeom>
        </p:spPr>
        <p:txBody>
          <a:bodyPr lIns="0" tIns="0" rIns="0" bIns="0" anchor="b"/>
          <a:lstStyle/>
          <a:p>
            <a:pPr/>
            <a:r>
              <a:t>American &amp; NYC Greetings</a:t>
            </a:r>
          </a:p>
        </p:txBody>
      </p:sp>
      <p:sp>
        <p:nvSpPr>
          <p:cNvPr id="68" name="Text 0"/>
          <p:cNvSpPr txBox="1"/>
          <p:nvPr>
            <p:ph type="body" sz="quarter" idx="1"/>
          </p:nvPr>
        </p:nvSpPr>
        <p:spPr>
          <a:xfrm>
            <a:off x="548639" y="3017520"/>
            <a:ext cx="5120642" cy="914401"/>
          </a:xfrm>
          <a:prstGeom prst="rect">
            <a:avLst/>
          </a:prstGeom>
        </p:spPr>
        <p:txBody>
          <a:bodyPr lIns="0" tIns="0" rIns="0" bIns="0"/>
          <a:lstStyle/>
          <a:p>
            <a:pPr/>
            <a:r>
              <a:t>Handshakes, fist bumps, daps, and what they say about you</a:t>
            </a:r>
          </a:p>
        </p:txBody>
      </p:sp>
      <p:sp>
        <p:nvSpPr>
          <p:cNvPr id="69" name="Theme icon circle 1"/>
          <p:cNvSpPr/>
          <p:nvPr/>
        </p:nvSpPr>
        <p:spPr>
          <a:xfrm>
            <a:off x="6949440" y="914399"/>
            <a:ext cx="914401" cy="914401"/>
          </a:xfrm>
          <a:prstGeom prst="ellipse">
            <a:avLst/>
          </a:prstGeom>
          <a:solidFill>
            <a:schemeClr val="accent1"/>
          </a:solidFill>
          <a:ln w="12700">
            <a:solidFill>
              <a:schemeClr val="accent1"/>
            </a:solidFill>
          </a:ln>
        </p:spPr>
        <p:txBody>
          <a:bodyPr lIns="45719" rIns="45719"/>
          <a:lstStyle/>
          <a:p>
            <a:pPr/>
          </a:p>
        </p:txBody>
      </p:sp>
      <p:pic>
        <p:nvPicPr>
          <p:cNvPr id="70" name="Theme icon 1" descr="Theme icon 1"/>
          <p:cNvPicPr>
            <a:picLocks noChangeAspect="1"/>
          </p:cNvPicPr>
          <p:nvPr/>
        </p:nvPicPr>
        <p:blipFill>
          <a:blip r:embed="rId3">
            <a:extLst/>
          </a:blip>
          <a:stretch>
            <a:fillRect/>
          </a:stretch>
        </p:blipFill>
        <p:spPr>
          <a:xfrm>
            <a:off x="7178040" y="1143000"/>
            <a:ext cx="457201" cy="457200"/>
          </a:xfrm>
          <a:prstGeom prst="rect">
            <a:avLst/>
          </a:prstGeom>
          <a:ln w="12700">
            <a:miter lim="400000"/>
          </a:ln>
        </p:spPr>
      </p:pic>
      <p:sp>
        <p:nvSpPr>
          <p:cNvPr id="71" name="Theme icon circle 2"/>
          <p:cNvSpPr/>
          <p:nvPr/>
        </p:nvSpPr>
        <p:spPr>
          <a:xfrm>
            <a:off x="6949440" y="2057400"/>
            <a:ext cx="914401" cy="914400"/>
          </a:xfrm>
          <a:prstGeom prst="ellipse">
            <a:avLst/>
          </a:prstGeom>
          <a:solidFill>
            <a:schemeClr val="accent1"/>
          </a:solidFill>
          <a:ln w="12700">
            <a:solidFill>
              <a:schemeClr val="accent1"/>
            </a:solidFill>
          </a:ln>
        </p:spPr>
        <p:txBody>
          <a:bodyPr lIns="45719" rIns="45719"/>
          <a:lstStyle/>
          <a:p>
            <a:pPr/>
          </a:p>
        </p:txBody>
      </p:sp>
      <p:pic>
        <p:nvPicPr>
          <p:cNvPr id="72" name="Theme icon 2" descr="Theme icon 2"/>
          <p:cNvPicPr>
            <a:picLocks noChangeAspect="1"/>
          </p:cNvPicPr>
          <p:nvPr/>
        </p:nvPicPr>
        <p:blipFill>
          <a:blip r:embed="rId4">
            <a:extLst/>
          </a:blip>
          <a:stretch>
            <a:fillRect/>
          </a:stretch>
        </p:blipFill>
        <p:spPr>
          <a:xfrm>
            <a:off x="7178040" y="2286000"/>
            <a:ext cx="457201" cy="457200"/>
          </a:xfrm>
          <a:prstGeom prst="rect">
            <a:avLst/>
          </a:prstGeom>
          <a:ln w="12700">
            <a:miter lim="400000"/>
          </a:ln>
        </p:spPr>
      </p:pic>
      <p:sp>
        <p:nvSpPr>
          <p:cNvPr id="73" name="Theme icon circle 3"/>
          <p:cNvSpPr/>
          <p:nvPr/>
        </p:nvSpPr>
        <p:spPr>
          <a:xfrm>
            <a:off x="6949440" y="3200400"/>
            <a:ext cx="914401" cy="914400"/>
          </a:xfrm>
          <a:prstGeom prst="ellipse">
            <a:avLst/>
          </a:prstGeom>
          <a:solidFill>
            <a:schemeClr val="accent1"/>
          </a:solidFill>
          <a:ln w="12700">
            <a:solidFill>
              <a:schemeClr val="accent1"/>
            </a:solidFill>
          </a:ln>
        </p:spPr>
        <p:txBody>
          <a:bodyPr lIns="45719" rIns="45719"/>
          <a:lstStyle/>
          <a:p>
            <a:pPr/>
          </a:p>
        </p:txBody>
      </p:sp>
      <p:pic>
        <p:nvPicPr>
          <p:cNvPr id="74" name="Theme icon 3" descr="Theme icon 3"/>
          <p:cNvPicPr>
            <a:picLocks noChangeAspect="1"/>
          </p:cNvPicPr>
          <p:nvPr/>
        </p:nvPicPr>
        <p:blipFill>
          <a:blip r:embed="rId5">
            <a:extLst/>
          </a:blip>
          <a:stretch>
            <a:fillRect/>
          </a:stretch>
        </p:blipFill>
        <p:spPr>
          <a:xfrm>
            <a:off x="7178040" y="3429000"/>
            <a:ext cx="457201" cy="4572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8" name="Photo" descr="Photo"/>
          <p:cNvPicPr>
            <a:picLocks noChangeAspect="1"/>
          </p:cNvPicPr>
          <p:nvPr/>
        </p:nvPicPr>
        <p:blipFill>
          <a:blip r:embed="rId3">
            <a:extLst/>
          </a:blip>
          <a:stretch>
            <a:fillRect/>
          </a:stretch>
        </p:blipFill>
        <p:spPr>
          <a:xfrm>
            <a:off x="0" y="0"/>
            <a:ext cx="4389121" cy="5143500"/>
          </a:xfrm>
          <a:prstGeom prst="rect">
            <a:avLst/>
          </a:prstGeom>
          <a:ln w="12700">
            <a:miter lim="400000"/>
          </a:ln>
        </p:spPr>
      </p:pic>
      <p:sp>
        <p:nvSpPr>
          <p:cNvPr id="79" name="Text 0"/>
          <p:cNvSpPr txBox="1"/>
          <p:nvPr>
            <p:ph type="title"/>
          </p:nvPr>
        </p:nvSpPr>
        <p:spPr>
          <a:xfrm>
            <a:off x="4846320" y="868679"/>
            <a:ext cx="3840481" cy="1645922"/>
          </a:xfrm>
          <a:prstGeom prst="rect">
            <a:avLst/>
          </a:prstGeom>
        </p:spPr>
        <p:txBody>
          <a:bodyPr lIns="0" tIns="0" rIns="0" bIns="0" anchor="b"/>
          <a:lstStyle/>
          <a:p>
            <a:pPr/>
            <a:r>
              <a:t>The Handshake</a:t>
            </a:r>
          </a:p>
        </p:txBody>
      </p:sp>
      <p:sp>
        <p:nvSpPr>
          <p:cNvPr id="80" name="Bullets"/>
          <p:cNvSpPr txBox="1"/>
          <p:nvPr/>
        </p:nvSpPr>
        <p:spPr>
          <a:xfrm>
            <a:off x="4846320" y="2697479"/>
            <a:ext cx="3840481" cy="9704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1400"/>
              </a:spcBef>
              <a:buSzPct val="100000"/>
              <a:buChar char="•"/>
              <a:defRPr>
                <a:solidFill>
                  <a:srgbClr val="FFFFFF"/>
                </a:solidFill>
              </a:defRPr>
            </a:pPr>
            <a:r>
              <a:t>Appropriate for nearly all settings (can be too formal)</a:t>
            </a:r>
          </a:p>
          <a:p>
            <a:pPr marL="228600" indent="-228600">
              <a:spcBef>
                <a:spcPts val="1400"/>
              </a:spcBef>
              <a:buSzPct val="100000"/>
              <a:buChar char="•"/>
              <a:defRPr>
                <a:solidFill>
                  <a:srgbClr val="FFFFFF"/>
                </a:solidFill>
              </a:defRPr>
            </a:pPr>
            <a:r>
              <a:t>Conveys formality</a:t>
            </a:r>
          </a:p>
        </p:txBody>
      </p:sp>
      <p:sp>
        <p:nvSpPr>
          <p:cNvPr id="81" name="Slide Number Placeholder 0"/>
          <p:cNvSpPr txBox="1"/>
          <p:nvPr>
            <p:ph type="sldNum" sz="quarter" idx="4294967295"/>
          </p:nvPr>
        </p:nvSpPr>
        <p:spPr>
          <a:xfrm>
            <a:off x="8512028" y="4709159"/>
            <a:ext cx="174773" cy="2269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Text 0"/>
          <p:cNvSpPr txBox="1"/>
          <p:nvPr>
            <p:ph type="title"/>
          </p:nvPr>
        </p:nvSpPr>
        <p:spPr>
          <a:prstGeom prst="rect">
            <a:avLst/>
          </a:prstGeom>
        </p:spPr>
        <p:txBody>
          <a:bodyPr lIns="0" tIns="0" rIns="0" bIns="0" anchor="ctr"/>
          <a:lstStyle/>
          <a:p>
            <a:pPr/>
            <a:r>
              <a:t>Do's and Don'ts of the Handshake</a:t>
            </a:r>
          </a:p>
        </p:txBody>
      </p:sp>
      <p:sp>
        <p:nvSpPr>
          <p:cNvPr id="86" name="Do card 1"/>
          <p:cNvSpPr/>
          <p:nvPr/>
        </p:nvSpPr>
        <p:spPr>
          <a:xfrm>
            <a:off x="457200" y="1325880"/>
            <a:ext cx="4297680" cy="1097281"/>
          </a:xfrm>
          <a:prstGeom prst="roundRect">
            <a:avLst>
              <a:gd name="adj" fmla="val 8333"/>
            </a:avLst>
          </a:prstGeom>
          <a:solidFill>
            <a:srgbClr val="F1F2F4"/>
          </a:solidFill>
          <a:ln w="12700">
            <a:solidFill>
              <a:srgbClr val="F1F2F4"/>
            </a:solidFill>
          </a:ln>
        </p:spPr>
        <p:txBody>
          <a:bodyPr lIns="45719" rIns="45719"/>
          <a:lstStyle/>
          <a:p>
            <a:pPr/>
          </a:p>
        </p:txBody>
      </p:sp>
      <p:sp>
        <p:nvSpPr>
          <p:cNvPr id="87" name="Do icon circle 1"/>
          <p:cNvSpPr/>
          <p:nvPr/>
        </p:nvSpPr>
        <p:spPr>
          <a:xfrm>
            <a:off x="731519" y="1600199"/>
            <a:ext cx="548641" cy="548642"/>
          </a:xfrm>
          <a:prstGeom prst="ellipse">
            <a:avLst/>
          </a:prstGeom>
          <a:solidFill>
            <a:schemeClr val="accent3"/>
          </a:solidFill>
          <a:ln w="12700">
            <a:solidFill>
              <a:schemeClr val="accent3"/>
            </a:solidFill>
          </a:ln>
        </p:spPr>
        <p:txBody>
          <a:bodyPr lIns="45719" rIns="45719"/>
          <a:lstStyle/>
          <a:p>
            <a:pPr/>
          </a:p>
        </p:txBody>
      </p:sp>
      <p:pic>
        <p:nvPicPr>
          <p:cNvPr id="88" name="Do icon 1" descr="Do icon 1"/>
          <p:cNvPicPr>
            <a:picLocks noChangeAspect="1"/>
          </p:cNvPicPr>
          <p:nvPr/>
        </p:nvPicPr>
        <p:blipFill>
          <a:blip r:embed="rId3">
            <a:extLst/>
          </a:blip>
          <a:stretch>
            <a:fillRect/>
          </a:stretch>
        </p:blipFill>
        <p:spPr>
          <a:xfrm>
            <a:off x="868680" y="1737360"/>
            <a:ext cx="274321" cy="274321"/>
          </a:xfrm>
          <a:prstGeom prst="rect">
            <a:avLst/>
          </a:prstGeom>
          <a:ln w="12700">
            <a:miter lim="400000"/>
          </a:ln>
        </p:spPr>
      </p:pic>
      <p:sp>
        <p:nvSpPr>
          <p:cNvPr id="89" name="Do text 1"/>
          <p:cNvSpPr txBox="1"/>
          <p:nvPr/>
        </p:nvSpPr>
        <p:spPr>
          <a:xfrm>
            <a:off x="1508760" y="1643724"/>
            <a:ext cx="3108961" cy="4615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pc="200" sz="1200">
                <a:solidFill>
                  <a:schemeClr val="accent3"/>
                </a:solidFill>
              </a:defRPr>
            </a:pPr>
            <a:r>
              <a:t>DO</a:t>
            </a:r>
          </a:p>
          <a:p>
            <a:pPr>
              <a:defRPr sz="2000"/>
            </a:pPr>
            <a:r>
              <a:t>Make eye contact</a:t>
            </a:r>
          </a:p>
        </p:txBody>
      </p:sp>
      <p:sp>
        <p:nvSpPr>
          <p:cNvPr id="90" name="Do card 2"/>
          <p:cNvSpPr/>
          <p:nvPr/>
        </p:nvSpPr>
        <p:spPr>
          <a:xfrm>
            <a:off x="457200" y="2697479"/>
            <a:ext cx="4297680" cy="1097281"/>
          </a:xfrm>
          <a:prstGeom prst="roundRect">
            <a:avLst>
              <a:gd name="adj" fmla="val 8333"/>
            </a:avLst>
          </a:prstGeom>
          <a:solidFill>
            <a:srgbClr val="F1F2F4"/>
          </a:solidFill>
          <a:ln w="12700">
            <a:solidFill>
              <a:srgbClr val="F1F2F4"/>
            </a:solidFill>
          </a:ln>
        </p:spPr>
        <p:txBody>
          <a:bodyPr lIns="45719" rIns="45719"/>
          <a:lstStyle/>
          <a:p>
            <a:pPr/>
          </a:p>
        </p:txBody>
      </p:sp>
      <p:sp>
        <p:nvSpPr>
          <p:cNvPr id="91" name="Do icon circle 2"/>
          <p:cNvSpPr/>
          <p:nvPr/>
        </p:nvSpPr>
        <p:spPr>
          <a:xfrm>
            <a:off x="731519" y="2971799"/>
            <a:ext cx="548641" cy="548642"/>
          </a:xfrm>
          <a:prstGeom prst="ellipse">
            <a:avLst/>
          </a:prstGeom>
          <a:solidFill>
            <a:schemeClr val="accent3"/>
          </a:solidFill>
          <a:ln w="12700">
            <a:solidFill>
              <a:schemeClr val="accent3"/>
            </a:solidFill>
          </a:ln>
        </p:spPr>
        <p:txBody>
          <a:bodyPr lIns="45719" rIns="45719"/>
          <a:lstStyle/>
          <a:p>
            <a:pPr/>
          </a:p>
        </p:txBody>
      </p:sp>
      <p:pic>
        <p:nvPicPr>
          <p:cNvPr id="92" name="Do icon 2" descr="Do icon 2"/>
          <p:cNvPicPr>
            <a:picLocks noChangeAspect="1"/>
          </p:cNvPicPr>
          <p:nvPr/>
        </p:nvPicPr>
        <p:blipFill>
          <a:blip r:embed="rId3">
            <a:extLst/>
          </a:blip>
          <a:stretch>
            <a:fillRect/>
          </a:stretch>
        </p:blipFill>
        <p:spPr>
          <a:xfrm>
            <a:off x="868680" y="3108960"/>
            <a:ext cx="274321" cy="274321"/>
          </a:xfrm>
          <a:prstGeom prst="rect">
            <a:avLst/>
          </a:prstGeom>
          <a:ln w="12700">
            <a:miter lim="400000"/>
          </a:ln>
        </p:spPr>
      </p:pic>
      <p:sp>
        <p:nvSpPr>
          <p:cNvPr id="93" name="Do text 2"/>
          <p:cNvSpPr txBox="1"/>
          <p:nvPr/>
        </p:nvSpPr>
        <p:spPr>
          <a:xfrm>
            <a:off x="1508760" y="3015324"/>
            <a:ext cx="3108961" cy="4615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pc="200" sz="1200">
                <a:solidFill>
                  <a:schemeClr val="accent3"/>
                </a:solidFill>
              </a:defRPr>
            </a:pPr>
            <a:r>
              <a:t>DO</a:t>
            </a:r>
          </a:p>
          <a:p>
            <a:pPr>
              <a:defRPr sz="2000"/>
            </a:pPr>
            <a:r>
              <a:t>Utilize a firm grip</a:t>
            </a:r>
          </a:p>
        </p:txBody>
      </p:sp>
      <p:pic>
        <p:nvPicPr>
          <p:cNvPr id="94" name="Photo" descr="Photo"/>
          <p:cNvPicPr>
            <a:picLocks noChangeAspect="1"/>
          </p:cNvPicPr>
          <p:nvPr/>
        </p:nvPicPr>
        <p:blipFill>
          <a:blip r:embed="rId4">
            <a:extLst/>
          </a:blip>
          <a:stretch>
            <a:fillRect/>
          </a:stretch>
        </p:blipFill>
        <p:spPr>
          <a:xfrm>
            <a:off x="5120640" y="1325880"/>
            <a:ext cx="3566160" cy="3108961"/>
          </a:xfrm>
          <a:prstGeom prst="rect">
            <a:avLst/>
          </a:prstGeom>
          <a:ln w="12700">
            <a:miter lim="400000"/>
          </a:ln>
        </p:spPr>
      </p:pic>
      <p:sp>
        <p:nvSpPr>
          <p:cNvPr id="95" name="Slide Number Placeholder 0"/>
          <p:cNvSpPr txBox="1"/>
          <p:nvPr>
            <p:ph type="sldNum" sz="quarter" idx="4294967295"/>
          </p:nvPr>
        </p:nvSpPr>
        <p:spPr>
          <a:xfrm>
            <a:off x="8512028" y="4754879"/>
            <a:ext cx="174773"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Text 0"/>
          <p:cNvSpPr txBox="1"/>
          <p:nvPr>
            <p:ph type="title"/>
          </p:nvPr>
        </p:nvSpPr>
        <p:spPr>
          <a:prstGeom prst="rect">
            <a:avLst/>
          </a:prstGeom>
        </p:spPr>
        <p:txBody>
          <a:bodyPr lIns="0" tIns="0" rIns="0" bIns="0" anchor="ctr"/>
          <a:lstStyle/>
          <a:p>
            <a:pPr/>
            <a:r>
              <a:t>Don'ts of the Handshake</a:t>
            </a:r>
          </a:p>
        </p:txBody>
      </p:sp>
      <p:pic>
        <p:nvPicPr>
          <p:cNvPr id="100" name="Photo" descr="Photo"/>
          <p:cNvPicPr>
            <a:picLocks noChangeAspect="1"/>
          </p:cNvPicPr>
          <p:nvPr/>
        </p:nvPicPr>
        <p:blipFill>
          <a:blip r:embed="rId3">
            <a:extLst/>
          </a:blip>
          <a:stretch>
            <a:fillRect/>
          </a:stretch>
        </p:blipFill>
        <p:spPr>
          <a:xfrm>
            <a:off x="457200" y="1325880"/>
            <a:ext cx="3200400" cy="3108961"/>
          </a:xfrm>
          <a:prstGeom prst="rect">
            <a:avLst/>
          </a:prstGeom>
          <a:ln w="12700">
            <a:miter lim="400000"/>
          </a:ln>
        </p:spPr>
      </p:pic>
      <p:sp>
        <p:nvSpPr>
          <p:cNvPr id="101" name="Don't card 1"/>
          <p:cNvSpPr/>
          <p:nvPr/>
        </p:nvSpPr>
        <p:spPr>
          <a:xfrm>
            <a:off x="3931920" y="1325880"/>
            <a:ext cx="2240280" cy="1463040"/>
          </a:xfrm>
          <a:prstGeom prst="roundRect">
            <a:avLst>
              <a:gd name="adj" fmla="val 6250"/>
            </a:avLst>
          </a:prstGeom>
          <a:solidFill>
            <a:srgbClr val="F1F2F4"/>
          </a:solidFill>
          <a:ln w="12700">
            <a:solidFill>
              <a:srgbClr val="F1F2F4"/>
            </a:solidFill>
          </a:ln>
        </p:spPr>
        <p:txBody>
          <a:bodyPr lIns="45719" rIns="45719"/>
          <a:lstStyle/>
          <a:p>
            <a:pPr/>
          </a:p>
        </p:txBody>
      </p:sp>
      <p:sp>
        <p:nvSpPr>
          <p:cNvPr id="102" name="Don't icon circle 1"/>
          <p:cNvSpPr/>
          <p:nvPr/>
        </p:nvSpPr>
        <p:spPr>
          <a:xfrm>
            <a:off x="4114800" y="1508760"/>
            <a:ext cx="384048" cy="384049"/>
          </a:xfrm>
          <a:prstGeom prst="ellipse">
            <a:avLst/>
          </a:prstGeom>
          <a:solidFill>
            <a:schemeClr val="accent2"/>
          </a:solidFill>
          <a:ln w="12700">
            <a:solidFill>
              <a:schemeClr val="accent2"/>
            </a:solidFill>
          </a:ln>
        </p:spPr>
        <p:txBody>
          <a:bodyPr lIns="45719" rIns="45719"/>
          <a:lstStyle/>
          <a:p>
            <a:pPr/>
          </a:p>
        </p:txBody>
      </p:sp>
      <p:pic>
        <p:nvPicPr>
          <p:cNvPr id="103" name="Don't icon 1" descr="Don't icon 1"/>
          <p:cNvPicPr>
            <a:picLocks noChangeAspect="1"/>
          </p:cNvPicPr>
          <p:nvPr/>
        </p:nvPicPr>
        <p:blipFill>
          <a:blip r:embed="rId4">
            <a:extLst/>
          </a:blip>
          <a:stretch>
            <a:fillRect/>
          </a:stretch>
        </p:blipFill>
        <p:spPr>
          <a:xfrm>
            <a:off x="4215384" y="1609344"/>
            <a:ext cx="182881" cy="182881"/>
          </a:xfrm>
          <a:prstGeom prst="rect">
            <a:avLst/>
          </a:prstGeom>
          <a:ln w="12700">
            <a:miter lim="400000"/>
          </a:ln>
        </p:spPr>
      </p:pic>
      <p:sp>
        <p:nvSpPr>
          <p:cNvPr id="104" name="Text 3"/>
          <p:cNvSpPr txBox="1"/>
          <p:nvPr/>
        </p:nvSpPr>
        <p:spPr>
          <a:xfrm>
            <a:off x="4617720" y="1614376"/>
            <a:ext cx="13716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chemeClr val="accent2"/>
                </a:solidFill>
              </a:defRPr>
            </a:lvl1pPr>
          </a:lstStyle>
          <a:p>
            <a:pPr/>
            <a:r>
              <a:t>DON'T</a:t>
            </a:r>
          </a:p>
        </p:txBody>
      </p:sp>
      <p:sp>
        <p:nvSpPr>
          <p:cNvPr id="105" name="Don&amp;apos;t text 1"/>
          <p:cNvSpPr txBox="1"/>
          <p:nvPr/>
        </p:nvSpPr>
        <p:spPr>
          <a:xfrm>
            <a:off x="4114800" y="1984248"/>
            <a:ext cx="192024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Leave your hand limp</a:t>
            </a:r>
          </a:p>
        </p:txBody>
      </p:sp>
      <p:sp>
        <p:nvSpPr>
          <p:cNvPr id="106" name="Don't card 2"/>
          <p:cNvSpPr/>
          <p:nvPr/>
        </p:nvSpPr>
        <p:spPr>
          <a:xfrm>
            <a:off x="6446520" y="1325880"/>
            <a:ext cx="2240280" cy="1463040"/>
          </a:xfrm>
          <a:prstGeom prst="roundRect">
            <a:avLst>
              <a:gd name="adj" fmla="val 6250"/>
            </a:avLst>
          </a:prstGeom>
          <a:solidFill>
            <a:srgbClr val="F1F2F4"/>
          </a:solidFill>
          <a:ln w="12700">
            <a:solidFill>
              <a:srgbClr val="F1F2F4"/>
            </a:solidFill>
          </a:ln>
        </p:spPr>
        <p:txBody>
          <a:bodyPr lIns="45719" rIns="45719"/>
          <a:lstStyle/>
          <a:p>
            <a:pPr/>
          </a:p>
        </p:txBody>
      </p:sp>
      <p:sp>
        <p:nvSpPr>
          <p:cNvPr id="107" name="Don't icon circle 2"/>
          <p:cNvSpPr/>
          <p:nvPr/>
        </p:nvSpPr>
        <p:spPr>
          <a:xfrm>
            <a:off x="6629400" y="1508760"/>
            <a:ext cx="384048" cy="384049"/>
          </a:xfrm>
          <a:prstGeom prst="ellipse">
            <a:avLst/>
          </a:prstGeom>
          <a:solidFill>
            <a:schemeClr val="accent2"/>
          </a:solidFill>
          <a:ln w="12700">
            <a:solidFill>
              <a:schemeClr val="accent2"/>
            </a:solidFill>
          </a:ln>
        </p:spPr>
        <p:txBody>
          <a:bodyPr lIns="45719" rIns="45719"/>
          <a:lstStyle/>
          <a:p>
            <a:pPr/>
          </a:p>
        </p:txBody>
      </p:sp>
      <p:pic>
        <p:nvPicPr>
          <p:cNvPr id="108" name="Don't icon 2" descr="Don't icon 2"/>
          <p:cNvPicPr>
            <a:picLocks noChangeAspect="1"/>
          </p:cNvPicPr>
          <p:nvPr/>
        </p:nvPicPr>
        <p:blipFill>
          <a:blip r:embed="rId4">
            <a:extLst/>
          </a:blip>
          <a:stretch>
            <a:fillRect/>
          </a:stretch>
        </p:blipFill>
        <p:spPr>
          <a:xfrm>
            <a:off x="6729983" y="1609344"/>
            <a:ext cx="182881" cy="182881"/>
          </a:xfrm>
          <a:prstGeom prst="rect">
            <a:avLst/>
          </a:prstGeom>
          <a:ln w="12700">
            <a:miter lim="400000"/>
          </a:ln>
        </p:spPr>
      </p:pic>
      <p:sp>
        <p:nvSpPr>
          <p:cNvPr id="109" name="Text 7"/>
          <p:cNvSpPr txBox="1"/>
          <p:nvPr/>
        </p:nvSpPr>
        <p:spPr>
          <a:xfrm>
            <a:off x="7132319" y="1614376"/>
            <a:ext cx="13716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chemeClr val="accent2"/>
                </a:solidFill>
              </a:defRPr>
            </a:lvl1pPr>
          </a:lstStyle>
          <a:p>
            <a:pPr/>
            <a:r>
              <a:t>DON'T</a:t>
            </a:r>
          </a:p>
        </p:txBody>
      </p:sp>
      <p:sp>
        <p:nvSpPr>
          <p:cNvPr id="110" name="Don&amp;apos;t text 2"/>
          <p:cNvSpPr txBox="1"/>
          <p:nvPr/>
        </p:nvSpPr>
        <p:spPr>
          <a:xfrm>
            <a:off x="6629400" y="1984248"/>
            <a:ext cx="192024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Squeeze too hard (conveys insecurity)</a:t>
            </a:r>
          </a:p>
        </p:txBody>
      </p:sp>
      <p:sp>
        <p:nvSpPr>
          <p:cNvPr id="111" name="Don't card 3"/>
          <p:cNvSpPr/>
          <p:nvPr/>
        </p:nvSpPr>
        <p:spPr>
          <a:xfrm>
            <a:off x="3931920" y="2971800"/>
            <a:ext cx="2240280" cy="1463040"/>
          </a:xfrm>
          <a:prstGeom prst="roundRect">
            <a:avLst>
              <a:gd name="adj" fmla="val 6250"/>
            </a:avLst>
          </a:prstGeom>
          <a:solidFill>
            <a:srgbClr val="F1F2F4"/>
          </a:solidFill>
          <a:ln w="12700">
            <a:solidFill>
              <a:srgbClr val="F1F2F4"/>
            </a:solidFill>
          </a:ln>
        </p:spPr>
        <p:txBody>
          <a:bodyPr lIns="45719" rIns="45719"/>
          <a:lstStyle/>
          <a:p>
            <a:pPr/>
          </a:p>
        </p:txBody>
      </p:sp>
      <p:sp>
        <p:nvSpPr>
          <p:cNvPr id="112" name="Don't icon circle 3"/>
          <p:cNvSpPr/>
          <p:nvPr/>
        </p:nvSpPr>
        <p:spPr>
          <a:xfrm>
            <a:off x="4114800" y="3154679"/>
            <a:ext cx="384048" cy="384049"/>
          </a:xfrm>
          <a:prstGeom prst="ellipse">
            <a:avLst/>
          </a:prstGeom>
          <a:solidFill>
            <a:schemeClr val="accent2"/>
          </a:solidFill>
          <a:ln w="12700">
            <a:solidFill>
              <a:schemeClr val="accent2"/>
            </a:solidFill>
          </a:ln>
        </p:spPr>
        <p:txBody>
          <a:bodyPr lIns="45719" rIns="45719"/>
          <a:lstStyle/>
          <a:p>
            <a:pPr/>
          </a:p>
        </p:txBody>
      </p:sp>
      <p:pic>
        <p:nvPicPr>
          <p:cNvPr id="113" name="Don't icon 3" descr="Don't icon 3"/>
          <p:cNvPicPr>
            <a:picLocks noChangeAspect="1"/>
          </p:cNvPicPr>
          <p:nvPr/>
        </p:nvPicPr>
        <p:blipFill>
          <a:blip r:embed="rId4">
            <a:extLst/>
          </a:blip>
          <a:stretch>
            <a:fillRect/>
          </a:stretch>
        </p:blipFill>
        <p:spPr>
          <a:xfrm>
            <a:off x="4215384" y="3255264"/>
            <a:ext cx="182881" cy="182881"/>
          </a:xfrm>
          <a:prstGeom prst="rect">
            <a:avLst/>
          </a:prstGeom>
          <a:ln w="12700">
            <a:miter lim="400000"/>
          </a:ln>
        </p:spPr>
      </p:pic>
      <p:sp>
        <p:nvSpPr>
          <p:cNvPr id="114" name="Text 11"/>
          <p:cNvSpPr txBox="1"/>
          <p:nvPr/>
        </p:nvSpPr>
        <p:spPr>
          <a:xfrm>
            <a:off x="4617720" y="3260296"/>
            <a:ext cx="13716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chemeClr val="accent2"/>
                </a:solidFill>
              </a:defRPr>
            </a:lvl1pPr>
          </a:lstStyle>
          <a:p>
            <a:pPr/>
            <a:r>
              <a:t>DON'T</a:t>
            </a:r>
          </a:p>
        </p:txBody>
      </p:sp>
      <p:sp>
        <p:nvSpPr>
          <p:cNvPr id="115" name="Don&amp;apos;t text 3"/>
          <p:cNvSpPr txBox="1"/>
          <p:nvPr/>
        </p:nvSpPr>
        <p:spPr>
          <a:xfrm>
            <a:off x="4114800" y="3630167"/>
            <a:ext cx="1920240" cy="4255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Pull the person too hard towards you</a:t>
            </a:r>
          </a:p>
        </p:txBody>
      </p:sp>
      <p:sp>
        <p:nvSpPr>
          <p:cNvPr id="116" name="Don't card 4"/>
          <p:cNvSpPr/>
          <p:nvPr/>
        </p:nvSpPr>
        <p:spPr>
          <a:xfrm>
            <a:off x="6446520" y="2971800"/>
            <a:ext cx="2240280" cy="1463040"/>
          </a:xfrm>
          <a:prstGeom prst="roundRect">
            <a:avLst>
              <a:gd name="adj" fmla="val 6250"/>
            </a:avLst>
          </a:prstGeom>
          <a:solidFill>
            <a:srgbClr val="F1F2F4"/>
          </a:solidFill>
          <a:ln w="12700">
            <a:solidFill>
              <a:srgbClr val="F1F2F4"/>
            </a:solidFill>
          </a:ln>
        </p:spPr>
        <p:txBody>
          <a:bodyPr lIns="45719" rIns="45719"/>
          <a:lstStyle/>
          <a:p>
            <a:pPr/>
          </a:p>
        </p:txBody>
      </p:sp>
      <p:sp>
        <p:nvSpPr>
          <p:cNvPr id="117" name="Don't icon circle 4"/>
          <p:cNvSpPr/>
          <p:nvPr/>
        </p:nvSpPr>
        <p:spPr>
          <a:xfrm>
            <a:off x="6629400" y="3154679"/>
            <a:ext cx="384048" cy="384049"/>
          </a:xfrm>
          <a:prstGeom prst="ellipse">
            <a:avLst/>
          </a:prstGeom>
          <a:solidFill>
            <a:schemeClr val="accent2"/>
          </a:solidFill>
          <a:ln w="12700">
            <a:solidFill>
              <a:schemeClr val="accent2"/>
            </a:solidFill>
          </a:ln>
        </p:spPr>
        <p:txBody>
          <a:bodyPr lIns="45719" rIns="45719"/>
          <a:lstStyle/>
          <a:p>
            <a:pPr/>
          </a:p>
        </p:txBody>
      </p:sp>
      <p:pic>
        <p:nvPicPr>
          <p:cNvPr id="118" name="Don't icon 4" descr="Don't icon 4"/>
          <p:cNvPicPr>
            <a:picLocks noChangeAspect="1"/>
          </p:cNvPicPr>
          <p:nvPr/>
        </p:nvPicPr>
        <p:blipFill>
          <a:blip r:embed="rId4">
            <a:extLst/>
          </a:blip>
          <a:stretch>
            <a:fillRect/>
          </a:stretch>
        </p:blipFill>
        <p:spPr>
          <a:xfrm>
            <a:off x="6729983" y="3255264"/>
            <a:ext cx="182881" cy="182881"/>
          </a:xfrm>
          <a:prstGeom prst="rect">
            <a:avLst/>
          </a:prstGeom>
          <a:ln w="12700">
            <a:miter lim="400000"/>
          </a:ln>
        </p:spPr>
      </p:pic>
      <p:sp>
        <p:nvSpPr>
          <p:cNvPr id="119" name="Text 15"/>
          <p:cNvSpPr txBox="1"/>
          <p:nvPr/>
        </p:nvSpPr>
        <p:spPr>
          <a:xfrm>
            <a:off x="7132319" y="3260296"/>
            <a:ext cx="13716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200">
                <a:solidFill>
                  <a:schemeClr val="accent2"/>
                </a:solidFill>
              </a:defRPr>
            </a:lvl1pPr>
          </a:lstStyle>
          <a:p>
            <a:pPr/>
            <a:r>
              <a:t>DON'T</a:t>
            </a:r>
          </a:p>
        </p:txBody>
      </p:sp>
      <p:sp>
        <p:nvSpPr>
          <p:cNvPr id="120" name="Don&amp;apos;t text 4"/>
          <p:cNvSpPr txBox="1"/>
          <p:nvPr/>
        </p:nvSpPr>
        <p:spPr>
          <a:xfrm>
            <a:off x="6629400" y="3630167"/>
            <a:ext cx="192024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Have sweaty palms</a:t>
            </a:r>
          </a:p>
        </p:txBody>
      </p:sp>
      <p:sp>
        <p:nvSpPr>
          <p:cNvPr id="121" name="Slide Number Placeholder 0"/>
          <p:cNvSpPr txBox="1"/>
          <p:nvPr>
            <p:ph type="sldNum" sz="quarter" idx="4294967295"/>
          </p:nvPr>
        </p:nvSpPr>
        <p:spPr>
          <a:xfrm>
            <a:off x="8512028" y="4754879"/>
            <a:ext cx="174773"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5" name="Photo" descr="Photo"/>
          <p:cNvPicPr>
            <a:picLocks noChangeAspect="1"/>
          </p:cNvPicPr>
          <p:nvPr/>
        </p:nvPicPr>
        <p:blipFill>
          <a:blip r:embed="rId3">
            <a:extLst/>
          </a:blip>
          <a:stretch>
            <a:fillRect/>
          </a:stretch>
        </p:blipFill>
        <p:spPr>
          <a:xfrm>
            <a:off x="365759" y="1351483"/>
            <a:ext cx="3657601" cy="2440534"/>
          </a:xfrm>
          <a:prstGeom prst="rect">
            <a:avLst/>
          </a:prstGeom>
          <a:ln w="12700">
            <a:miter lim="400000"/>
          </a:ln>
        </p:spPr>
      </p:pic>
      <p:sp>
        <p:nvSpPr>
          <p:cNvPr id="126" name="Kicker"/>
          <p:cNvSpPr txBox="1"/>
          <p:nvPr/>
        </p:nvSpPr>
        <p:spPr>
          <a:xfrm>
            <a:off x="4846320" y="518528"/>
            <a:ext cx="38404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1"/>
                </a:solidFill>
              </a:defRPr>
            </a:lvl1pPr>
          </a:lstStyle>
          <a:p>
            <a:pPr/>
            <a:r>
              <a:t>POSSIBLE VARIANT</a:t>
            </a:r>
          </a:p>
        </p:txBody>
      </p:sp>
      <p:sp>
        <p:nvSpPr>
          <p:cNvPr id="127" name="Text 0"/>
          <p:cNvSpPr txBox="1"/>
          <p:nvPr>
            <p:ph type="title"/>
          </p:nvPr>
        </p:nvSpPr>
        <p:spPr>
          <a:xfrm>
            <a:off x="4846320" y="868679"/>
            <a:ext cx="3840481" cy="1645922"/>
          </a:xfrm>
          <a:prstGeom prst="rect">
            <a:avLst/>
          </a:prstGeom>
        </p:spPr>
        <p:txBody>
          <a:bodyPr lIns="0" tIns="0" rIns="0" bIns="0" anchor="b"/>
          <a:lstStyle/>
          <a:p>
            <a:pPr/>
            <a:r>
              <a:t>The</a:t>
            </a:r>
          </a:p>
          <a:p>
            <a:pPr/>
            <a:r>
              <a:t>Two-Handed</a:t>
            </a:r>
          </a:p>
          <a:p>
            <a:pPr/>
            <a:r>
              <a:t>Shake</a:t>
            </a:r>
          </a:p>
        </p:txBody>
      </p:sp>
      <p:sp>
        <p:nvSpPr>
          <p:cNvPr id="128" name="Bullets"/>
          <p:cNvSpPr txBox="1"/>
          <p:nvPr/>
        </p:nvSpPr>
        <p:spPr>
          <a:xfrm>
            <a:off x="4846320" y="2697479"/>
            <a:ext cx="3840481" cy="10593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228600" indent="-228600">
              <a:spcBef>
                <a:spcPts val="1400"/>
              </a:spcBef>
              <a:buSzPct val="100000"/>
              <a:buChar char="•"/>
              <a:defRPr>
                <a:solidFill>
                  <a:srgbClr val="FFFFFF"/>
                </a:solidFill>
              </a:defRPr>
            </a:lvl1pPr>
          </a:lstStyle>
          <a:p>
            <a:pPr/>
            <a:r>
              <a:t>Can convey a greater sense of personability when executed properly, but also carries greater risk</a:t>
            </a:r>
          </a:p>
        </p:txBody>
      </p:sp>
      <p:sp>
        <p:nvSpPr>
          <p:cNvPr id="129" name="Slide Number Placeholder 0"/>
          <p:cNvSpPr txBox="1"/>
          <p:nvPr>
            <p:ph type="sldNum" sz="quarter" idx="4294967295"/>
          </p:nvPr>
        </p:nvSpPr>
        <p:spPr>
          <a:xfrm>
            <a:off x="8512028" y="4709159"/>
            <a:ext cx="174773" cy="2269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ext 0"/>
          <p:cNvSpPr txBox="1"/>
          <p:nvPr>
            <p:ph type="title"/>
          </p:nvPr>
        </p:nvSpPr>
        <p:spPr>
          <a:prstGeom prst="rect">
            <a:avLst/>
          </a:prstGeom>
        </p:spPr>
        <p:txBody>
          <a:bodyPr lIns="0" tIns="0" rIns="0" bIns="0" anchor="ctr"/>
          <a:lstStyle/>
          <a:p>
            <a:pPr/>
            <a:r>
              <a:t>Phrases for the Handshake</a:t>
            </a:r>
          </a:p>
        </p:txBody>
      </p:sp>
      <p:sp>
        <p:nvSpPr>
          <p:cNvPr id="134" name="Phrase card 1"/>
          <p:cNvSpPr/>
          <p:nvPr/>
        </p:nvSpPr>
        <p:spPr>
          <a:xfrm>
            <a:off x="45720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35" name="Phrase 1"/>
          <p:cNvSpPr txBox="1"/>
          <p:nvPr/>
        </p:nvSpPr>
        <p:spPr>
          <a:xfrm>
            <a:off x="640079" y="1399032"/>
            <a:ext cx="2194562"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“Nice to meet you.”</a:t>
            </a:r>
          </a:p>
        </p:txBody>
      </p:sp>
      <p:sp>
        <p:nvSpPr>
          <p:cNvPr id="136" name="Phrase note 1"/>
          <p:cNvSpPr txBox="1"/>
          <p:nvPr/>
        </p:nvSpPr>
        <p:spPr>
          <a:xfrm>
            <a:off x="640079" y="2103120"/>
            <a:ext cx="219456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Reply: “Nice to meet you too.”</a:t>
            </a:r>
          </a:p>
        </p:txBody>
      </p:sp>
      <p:sp>
        <p:nvSpPr>
          <p:cNvPr id="137" name="Phrase card 2"/>
          <p:cNvSpPr/>
          <p:nvPr/>
        </p:nvSpPr>
        <p:spPr>
          <a:xfrm>
            <a:off x="329184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38" name="Phrase 2"/>
          <p:cNvSpPr txBox="1"/>
          <p:nvPr/>
        </p:nvSpPr>
        <p:spPr>
          <a:xfrm>
            <a:off x="3474720" y="1399032"/>
            <a:ext cx="2194561" cy="4505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“It's a pleasure to meet you.”</a:t>
            </a:r>
          </a:p>
        </p:txBody>
      </p:sp>
      <p:sp>
        <p:nvSpPr>
          <p:cNvPr id="139" name="Phrase note 2"/>
          <p:cNvSpPr txBox="1"/>
          <p:nvPr/>
        </p:nvSpPr>
        <p:spPr>
          <a:xfrm>
            <a:off x="3474720"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A notch more formal: interviews, important people</a:t>
            </a:r>
          </a:p>
        </p:txBody>
      </p:sp>
      <p:sp>
        <p:nvSpPr>
          <p:cNvPr id="140" name="Phrase card 3"/>
          <p:cNvSpPr/>
          <p:nvPr/>
        </p:nvSpPr>
        <p:spPr>
          <a:xfrm>
            <a:off x="6126479"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41" name="Phrase 3"/>
          <p:cNvSpPr txBox="1"/>
          <p:nvPr/>
        </p:nvSpPr>
        <p:spPr>
          <a:xfrm>
            <a:off x="6309359"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“How are you?”</a:t>
            </a:r>
          </a:p>
        </p:txBody>
      </p:sp>
      <p:sp>
        <p:nvSpPr>
          <p:cNvPr id="142" name="Phrase note 3"/>
          <p:cNvSpPr txBox="1"/>
          <p:nvPr/>
        </p:nvSpPr>
        <p:spPr>
          <a:xfrm>
            <a:off x="6309359"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Not a real question. Reply: “Good, thanks. And you?”</a:t>
            </a:r>
          </a:p>
        </p:txBody>
      </p:sp>
      <p:sp>
        <p:nvSpPr>
          <p:cNvPr id="143" name="Phrase card 4"/>
          <p:cNvSpPr/>
          <p:nvPr/>
        </p:nvSpPr>
        <p:spPr>
          <a:xfrm>
            <a:off x="45720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44" name="Phrase 4"/>
          <p:cNvSpPr txBox="1"/>
          <p:nvPr/>
        </p:nvSpPr>
        <p:spPr>
          <a:xfrm>
            <a:off x="640079" y="3182111"/>
            <a:ext cx="2194562"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“Good to see you again.”</a:t>
            </a:r>
          </a:p>
        </p:txBody>
      </p:sp>
      <p:sp>
        <p:nvSpPr>
          <p:cNvPr id="145" name="Phrase note 4"/>
          <p:cNvSpPr txBox="1"/>
          <p:nvPr/>
        </p:nvSpPr>
        <p:spPr>
          <a:xfrm>
            <a:off x="640079" y="388620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For someone you've already met</a:t>
            </a:r>
          </a:p>
        </p:txBody>
      </p:sp>
      <p:sp>
        <p:nvSpPr>
          <p:cNvPr id="146" name="Phrase card 5"/>
          <p:cNvSpPr/>
          <p:nvPr/>
        </p:nvSpPr>
        <p:spPr>
          <a:xfrm>
            <a:off x="329184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47" name="Phrase 5"/>
          <p:cNvSpPr txBox="1"/>
          <p:nvPr/>
        </p:nvSpPr>
        <p:spPr>
          <a:xfrm>
            <a:off x="3474720"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“Please, call me ___.”</a:t>
            </a:r>
          </a:p>
        </p:txBody>
      </p:sp>
      <p:sp>
        <p:nvSpPr>
          <p:cNvPr id="148" name="Phrase note 5"/>
          <p:cNvSpPr txBox="1"/>
          <p:nvPr/>
        </p:nvSpPr>
        <p:spPr>
          <a:xfrm>
            <a:off x="3474720"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Invites first names; very American</a:t>
            </a:r>
          </a:p>
        </p:txBody>
      </p:sp>
      <p:sp>
        <p:nvSpPr>
          <p:cNvPr id="149" name="Phrase card 6"/>
          <p:cNvSpPr/>
          <p:nvPr/>
        </p:nvSpPr>
        <p:spPr>
          <a:xfrm>
            <a:off x="6126479"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50" name="Phrase 6"/>
          <p:cNvSpPr txBox="1"/>
          <p:nvPr/>
        </p:nvSpPr>
        <p:spPr>
          <a:xfrm>
            <a:off x="6309359" y="3182111"/>
            <a:ext cx="2194561"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“Thanks for having me.”</a:t>
            </a:r>
          </a:p>
        </p:txBody>
      </p:sp>
      <p:sp>
        <p:nvSpPr>
          <p:cNvPr id="151" name="Phrase note 6"/>
          <p:cNvSpPr txBox="1"/>
          <p:nvPr/>
        </p:nvSpPr>
        <p:spPr>
          <a:xfrm>
            <a:off x="6309359" y="3886200"/>
            <a:ext cx="219456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When you're the guest or visitor</a:t>
            </a:r>
          </a:p>
        </p:txBody>
      </p:sp>
      <p:sp>
        <p:nvSpPr>
          <p:cNvPr id="152" name="Slide Number Placeholder 0"/>
          <p:cNvSpPr txBox="1"/>
          <p:nvPr>
            <p:ph type="sldNum" sz="quarter" idx="4294967295"/>
          </p:nvPr>
        </p:nvSpPr>
        <p:spPr>
          <a:xfrm>
            <a:off x="8512028" y="4754879"/>
            <a:ext cx="174773"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ext 0"/>
          <p:cNvSpPr txBox="1"/>
          <p:nvPr>
            <p:ph type="title"/>
          </p:nvPr>
        </p:nvSpPr>
        <p:spPr>
          <a:prstGeom prst="rect">
            <a:avLst/>
          </a:prstGeom>
        </p:spPr>
        <p:txBody>
          <a:bodyPr lIns="0" tIns="0" rIns="0" bIns="0" anchor="ctr"/>
          <a:lstStyle/>
          <a:p>
            <a:pPr/>
            <a:r>
              <a:t>The Fist Bump</a:t>
            </a:r>
          </a:p>
        </p:txBody>
      </p:sp>
      <p:sp>
        <p:nvSpPr>
          <p:cNvPr id="157" name="Bullets"/>
          <p:cNvSpPr txBox="1"/>
          <p:nvPr/>
        </p:nvSpPr>
        <p:spPr>
          <a:xfrm>
            <a:off x="457199" y="1325880"/>
            <a:ext cx="5394962" cy="11105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1400"/>
              </a:spcBef>
              <a:buSzPct val="100000"/>
              <a:buChar char="•"/>
              <a:defRPr sz="1700"/>
            </a:pPr>
            <a:r>
              <a:t>Very informal, usually used in sports contexts</a:t>
            </a:r>
          </a:p>
          <a:p>
            <a:pPr marL="228600" indent="-228600">
              <a:spcBef>
                <a:spcPts val="1400"/>
              </a:spcBef>
              <a:buSzPct val="100000"/>
              <a:buChar char="•"/>
              <a:defRPr sz="1700"/>
            </a:pPr>
            <a:r>
              <a:t>Generally only comes after an achievement</a:t>
            </a:r>
          </a:p>
          <a:p>
            <a:pPr marL="228600" indent="-228600">
              <a:spcBef>
                <a:spcPts val="1400"/>
              </a:spcBef>
              <a:buSzPct val="100000"/>
              <a:buChar char="•"/>
              <a:defRPr sz="1700"/>
            </a:pPr>
            <a:r>
              <a:t>Can make you seem out of touch (millennialism)</a:t>
            </a:r>
          </a:p>
        </p:txBody>
      </p:sp>
      <p:sp>
        <p:nvSpPr>
          <p:cNvPr id="158" name="Don't card"/>
          <p:cNvSpPr/>
          <p:nvPr/>
        </p:nvSpPr>
        <p:spPr>
          <a:xfrm>
            <a:off x="457200" y="3429000"/>
            <a:ext cx="5394960" cy="1005840"/>
          </a:xfrm>
          <a:prstGeom prst="roundRect">
            <a:avLst>
              <a:gd name="adj" fmla="val 9091"/>
            </a:avLst>
          </a:prstGeom>
          <a:solidFill>
            <a:srgbClr val="F9E3E6"/>
          </a:solidFill>
          <a:ln w="12700">
            <a:solidFill>
              <a:srgbClr val="F9E3E6"/>
            </a:solidFill>
          </a:ln>
        </p:spPr>
        <p:txBody>
          <a:bodyPr lIns="45719" rIns="45719"/>
          <a:lstStyle/>
          <a:p>
            <a:pPr/>
          </a:p>
        </p:txBody>
      </p:sp>
      <p:sp>
        <p:nvSpPr>
          <p:cNvPr id="159" name="Don't icon circle"/>
          <p:cNvSpPr/>
          <p:nvPr/>
        </p:nvSpPr>
        <p:spPr>
          <a:xfrm>
            <a:off x="731519" y="3694176"/>
            <a:ext cx="475489" cy="475489"/>
          </a:xfrm>
          <a:prstGeom prst="ellipse">
            <a:avLst/>
          </a:prstGeom>
          <a:solidFill>
            <a:schemeClr val="accent2"/>
          </a:solidFill>
          <a:ln w="12700">
            <a:solidFill>
              <a:schemeClr val="accent2"/>
            </a:solidFill>
          </a:ln>
        </p:spPr>
        <p:txBody>
          <a:bodyPr lIns="45719" rIns="45719"/>
          <a:lstStyle/>
          <a:p>
            <a:pPr/>
          </a:p>
        </p:txBody>
      </p:sp>
      <p:pic>
        <p:nvPicPr>
          <p:cNvPr id="160" name="Don't icon" descr="Don't icon"/>
          <p:cNvPicPr>
            <a:picLocks noChangeAspect="1"/>
          </p:cNvPicPr>
          <p:nvPr/>
        </p:nvPicPr>
        <p:blipFill>
          <a:blip r:embed="rId3">
            <a:extLst/>
          </a:blip>
          <a:stretch>
            <a:fillRect/>
          </a:stretch>
        </p:blipFill>
        <p:spPr>
          <a:xfrm>
            <a:off x="850391" y="3813047"/>
            <a:ext cx="237745" cy="237745"/>
          </a:xfrm>
          <a:prstGeom prst="rect">
            <a:avLst/>
          </a:prstGeom>
          <a:ln w="12700">
            <a:miter lim="400000"/>
          </a:ln>
        </p:spPr>
      </p:pic>
      <p:sp>
        <p:nvSpPr>
          <p:cNvPr id="161" name="Don't text"/>
          <p:cNvSpPr txBox="1"/>
          <p:nvPr/>
        </p:nvSpPr>
        <p:spPr>
          <a:xfrm>
            <a:off x="1417320" y="3713409"/>
            <a:ext cx="4297680" cy="4370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pc="200" sz="1200">
                <a:solidFill>
                  <a:schemeClr val="accent2"/>
                </a:solidFill>
              </a:defRPr>
            </a:pPr>
            <a:r>
              <a:t>DON'T</a:t>
            </a:r>
          </a:p>
          <a:p>
            <a:pPr/>
            <a:r>
              <a:t>Let it linger afterwards</a:t>
            </a:r>
          </a:p>
        </p:txBody>
      </p:sp>
      <p:pic>
        <p:nvPicPr>
          <p:cNvPr id="162" name="Photo" descr="Photo"/>
          <p:cNvPicPr>
            <a:picLocks noChangeAspect="1"/>
          </p:cNvPicPr>
          <p:nvPr/>
        </p:nvPicPr>
        <p:blipFill>
          <a:blip r:embed="rId4">
            <a:extLst/>
          </a:blip>
          <a:stretch>
            <a:fillRect/>
          </a:stretch>
        </p:blipFill>
        <p:spPr>
          <a:xfrm>
            <a:off x="6309359" y="320040"/>
            <a:ext cx="2377441" cy="4251960"/>
          </a:xfrm>
          <a:prstGeom prst="rect">
            <a:avLst/>
          </a:prstGeom>
          <a:ln w="12700">
            <a:miter lim="400000"/>
          </a:ln>
        </p:spPr>
      </p:pic>
      <p:sp>
        <p:nvSpPr>
          <p:cNvPr id="163" name="Slide Number Placeholder 0"/>
          <p:cNvSpPr txBox="1"/>
          <p:nvPr>
            <p:ph type="sldNum" sz="quarter" idx="4294967295"/>
          </p:nvPr>
        </p:nvSpPr>
        <p:spPr>
          <a:xfrm>
            <a:off x="8512028" y="4754879"/>
            <a:ext cx="174773"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Text 0"/>
          <p:cNvSpPr txBox="1"/>
          <p:nvPr>
            <p:ph type="title"/>
          </p:nvPr>
        </p:nvSpPr>
        <p:spPr>
          <a:prstGeom prst="rect">
            <a:avLst/>
          </a:prstGeom>
        </p:spPr>
        <p:txBody>
          <a:bodyPr lIns="0" tIns="0" rIns="0" bIns="0" anchor="ctr"/>
          <a:lstStyle/>
          <a:p>
            <a:pPr/>
            <a:r>
              <a:t>Phrases for the Fist Bump</a:t>
            </a:r>
          </a:p>
        </p:txBody>
      </p:sp>
      <p:sp>
        <p:nvSpPr>
          <p:cNvPr id="168" name="Phrase card 1"/>
          <p:cNvSpPr/>
          <p:nvPr/>
        </p:nvSpPr>
        <p:spPr>
          <a:xfrm>
            <a:off x="45720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69" name="Phrase 1"/>
          <p:cNvSpPr txBox="1"/>
          <p:nvPr/>
        </p:nvSpPr>
        <p:spPr>
          <a:xfrm>
            <a:off x="640079" y="1399032"/>
            <a:ext cx="2194562"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“Let's go!”</a:t>
            </a:r>
          </a:p>
        </p:txBody>
      </p:sp>
      <p:sp>
        <p:nvSpPr>
          <p:cNvPr id="170" name="Phrase note 1"/>
          <p:cNvSpPr txBox="1"/>
          <p:nvPr/>
        </p:nvSpPr>
        <p:spPr>
          <a:xfrm>
            <a:off x="640079" y="210312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Celebrating a win or a big moment</a:t>
            </a:r>
          </a:p>
        </p:txBody>
      </p:sp>
      <p:sp>
        <p:nvSpPr>
          <p:cNvPr id="171" name="Phrase card 2"/>
          <p:cNvSpPr/>
          <p:nvPr/>
        </p:nvSpPr>
        <p:spPr>
          <a:xfrm>
            <a:off x="329184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72" name="Phrase 2"/>
          <p:cNvSpPr txBox="1"/>
          <p:nvPr/>
        </p:nvSpPr>
        <p:spPr>
          <a:xfrm>
            <a:off x="3474720"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“Nice one!”</a:t>
            </a:r>
          </a:p>
        </p:txBody>
      </p:sp>
      <p:sp>
        <p:nvSpPr>
          <p:cNvPr id="173" name="Phrase note 2"/>
          <p:cNvSpPr txBox="1"/>
          <p:nvPr/>
        </p:nvSpPr>
        <p:spPr>
          <a:xfrm>
            <a:off x="3474720"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Quick praise right after something good</a:t>
            </a:r>
          </a:p>
        </p:txBody>
      </p:sp>
      <p:sp>
        <p:nvSpPr>
          <p:cNvPr id="174" name="Phrase card 3"/>
          <p:cNvSpPr/>
          <p:nvPr/>
        </p:nvSpPr>
        <p:spPr>
          <a:xfrm>
            <a:off x="6126479"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75" name="Phrase 3"/>
          <p:cNvSpPr txBox="1"/>
          <p:nvPr/>
        </p:nvSpPr>
        <p:spPr>
          <a:xfrm>
            <a:off x="6309359"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“Good game.”</a:t>
            </a:r>
          </a:p>
        </p:txBody>
      </p:sp>
      <p:sp>
        <p:nvSpPr>
          <p:cNvPr id="176" name="Phrase note 3"/>
          <p:cNvSpPr txBox="1"/>
          <p:nvPr/>
        </p:nvSpPr>
        <p:spPr>
          <a:xfrm>
            <a:off x="6309359"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After a match, often to the other team too</a:t>
            </a:r>
          </a:p>
        </p:txBody>
      </p:sp>
      <p:sp>
        <p:nvSpPr>
          <p:cNvPr id="177" name="Phrase card 4"/>
          <p:cNvSpPr/>
          <p:nvPr/>
        </p:nvSpPr>
        <p:spPr>
          <a:xfrm>
            <a:off x="45720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78" name="Phrase 4"/>
          <p:cNvSpPr txBox="1"/>
          <p:nvPr/>
        </p:nvSpPr>
        <p:spPr>
          <a:xfrm>
            <a:off x="640079" y="3182111"/>
            <a:ext cx="219456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“Way to go!”</a:t>
            </a:r>
          </a:p>
        </p:txBody>
      </p:sp>
      <p:sp>
        <p:nvSpPr>
          <p:cNvPr id="179" name="Phrase note 4"/>
          <p:cNvSpPr txBox="1"/>
          <p:nvPr/>
        </p:nvSpPr>
        <p:spPr>
          <a:xfrm>
            <a:off x="640079" y="388620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Praise for someone's achievement</a:t>
            </a:r>
          </a:p>
        </p:txBody>
      </p:sp>
      <p:sp>
        <p:nvSpPr>
          <p:cNvPr id="180" name="Phrase card 5"/>
          <p:cNvSpPr/>
          <p:nvPr/>
        </p:nvSpPr>
        <p:spPr>
          <a:xfrm>
            <a:off x="329184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81" name="Phrase 5"/>
          <p:cNvSpPr txBox="1"/>
          <p:nvPr/>
        </p:nvSpPr>
        <p:spPr>
          <a:xfrm>
            <a:off x="3474720"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“Pound it.”</a:t>
            </a:r>
          </a:p>
        </p:txBody>
      </p:sp>
      <p:sp>
        <p:nvSpPr>
          <p:cNvPr id="182" name="Phrase note 5"/>
          <p:cNvSpPr txBox="1"/>
          <p:nvPr/>
        </p:nvSpPr>
        <p:spPr>
          <a:xfrm>
            <a:off x="3474720"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Invites a fist bump (also “Bump it”)</a:t>
            </a:r>
          </a:p>
        </p:txBody>
      </p:sp>
      <p:sp>
        <p:nvSpPr>
          <p:cNvPr id="183" name="Phrase card 6"/>
          <p:cNvSpPr/>
          <p:nvPr/>
        </p:nvSpPr>
        <p:spPr>
          <a:xfrm>
            <a:off x="6126479"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184" name="Phrase 6"/>
          <p:cNvSpPr txBox="1"/>
          <p:nvPr/>
        </p:nvSpPr>
        <p:spPr>
          <a:xfrm>
            <a:off x="6309359" y="3182111"/>
            <a:ext cx="2194561"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“That's what I'm talking about!”</a:t>
            </a:r>
          </a:p>
        </p:txBody>
      </p:sp>
      <p:sp>
        <p:nvSpPr>
          <p:cNvPr id="185" name="Phrase note 6"/>
          <p:cNvSpPr txBox="1"/>
          <p:nvPr/>
        </p:nvSpPr>
        <p:spPr>
          <a:xfrm>
            <a:off x="6309359" y="3886200"/>
            <a:ext cx="219456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Excited approval</a:t>
            </a:r>
          </a:p>
        </p:txBody>
      </p:sp>
      <p:sp>
        <p:nvSpPr>
          <p:cNvPr id="186"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ext 0"/>
          <p:cNvSpPr txBox="1"/>
          <p:nvPr>
            <p:ph type="title"/>
          </p:nvPr>
        </p:nvSpPr>
        <p:spPr>
          <a:prstGeom prst="rect">
            <a:avLst/>
          </a:prstGeom>
        </p:spPr>
        <p:txBody>
          <a:bodyPr lIns="0" tIns="0" rIns="0" bIns="0" anchor="ctr"/>
          <a:lstStyle/>
          <a:p>
            <a:pPr/>
            <a:r>
              <a:t>The High Five</a:t>
            </a:r>
          </a:p>
        </p:txBody>
      </p:sp>
      <p:sp>
        <p:nvSpPr>
          <p:cNvPr id="191" name="Bullets"/>
          <p:cNvSpPr txBox="1"/>
          <p:nvPr/>
        </p:nvSpPr>
        <p:spPr>
          <a:xfrm>
            <a:off x="457200" y="1325879"/>
            <a:ext cx="4480560" cy="1110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1400"/>
              </a:spcBef>
              <a:buSzPct val="100000"/>
              <a:buChar char="•"/>
              <a:defRPr sz="1700"/>
            </a:pPr>
            <a:r>
              <a:t>Similar to the fist bump</a:t>
            </a:r>
          </a:p>
          <a:p>
            <a:pPr marL="228600" indent="-228600">
              <a:spcBef>
                <a:spcPts val="1400"/>
              </a:spcBef>
              <a:buSzPct val="100000"/>
              <a:buChar char="•"/>
              <a:defRPr sz="1700"/>
            </a:pPr>
            <a:r>
              <a:t>“Give me five,” “up top,” etc.</a:t>
            </a:r>
          </a:p>
          <a:p>
            <a:pPr marL="228600" indent="-228600">
              <a:spcBef>
                <a:spcPts val="1400"/>
              </a:spcBef>
              <a:buSzPct val="100000"/>
              <a:buChar char="•"/>
              <a:defRPr sz="1700"/>
            </a:pPr>
            <a:r>
              <a:t>Magic Johnson claimed to have invented it</a:t>
            </a:r>
          </a:p>
        </p:txBody>
      </p:sp>
      <p:sp>
        <p:nvSpPr>
          <p:cNvPr id="192" name="Stat card"/>
          <p:cNvSpPr/>
          <p:nvPr/>
        </p:nvSpPr>
        <p:spPr>
          <a:xfrm>
            <a:off x="457200" y="3337559"/>
            <a:ext cx="4480560" cy="1097281"/>
          </a:xfrm>
          <a:prstGeom prst="roundRect">
            <a:avLst>
              <a:gd name="adj" fmla="val 8333"/>
            </a:avLst>
          </a:prstGeom>
          <a:solidFill>
            <a:srgbClr val="24262B"/>
          </a:solidFill>
          <a:ln w="12700">
            <a:solidFill>
              <a:srgbClr val="24262B"/>
            </a:solidFill>
          </a:ln>
        </p:spPr>
        <p:txBody>
          <a:bodyPr lIns="45719" rIns="45719"/>
          <a:lstStyle/>
          <a:p>
            <a:pPr/>
          </a:p>
        </p:txBody>
      </p:sp>
      <p:sp>
        <p:nvSpPr>
          <p:cNvPr id="193" name="Stat number"/>
          <p:cNvSpPr txBox="1"/>
          <p:nvPr/>
        </p:nvSpPr>
        <p:spPr>
          <a:xfrm>
            <a:off x="685799" y="3594099"/>
            <a:ext cx="1463042"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chemeClr val="accent1"/>
                </a:solidFill>
                <a:latin typeface="Georgia"/>
                <a:ea typeface="Georgia"/>
                <a:cs typeface="Georgia"/>
                <a:sym typeface="Georgia"/>
              </a:defRPr>
            </a:lvl1pPr>
          </a:lstStyle>
          <a:p>
            <a:pPr/>
            <a:r>
              <a:t>1977</a:t>
            </a:r>
          </a:p>
        </p:txBody>
      </p:sp>
      <p:sp>
        <p:nvSpPr>
          <p:cNvPr id="194" name="Stat label"/>
          <p:cNvSpPr txBox="1"/>
          <p:nvPr/>
        </p:nvSpPr>
        <p:spPr>
          <a:xfrm>
            <a:off x="2285999" y="3673415"/>
            <a:ext cx="2468882" cy="4255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FFFFF"/>
                </a:solidFill>
              </a:defRPr>
            </a:lvl1pPr>
          </a:lstStyle>
          <a:p>
            <a:pPr/>
            <a:r>
              <a:t>First used by two professional baseball players</a:t>
            </a:r>
          </a:p>
        </p:txBody>
      </p:sp>
      <p:pic>
        <p:nvPicPr>
          <p:cNvPr id="195" name="Photo" descr="Photo"/>
          <p:cNvPicPr>
            <a:picLocks noChangeAspect="1"/>
          </p:cNvPicPr>
          <p:nvPr/>
        </p:nvPicPr>
        <p:blipFill>
          <a:blip r:embed="rId3">
            <a:extLst/>
          </a:blip>
          <a:stretch>
            <a:fillRect/>
          </a:stretch>
        </p:blipFill>
        <p:spPr>
          <a:xfrm>
            <a:off x="5303520" y="1325880"/>
            <a:ext cx="3383280" cy="3108961"/>
          </a:xfrm>
          <a:prstGeom prst="rect">
            <a:avLst/>
          </a:prstGeom>
          <a:ln w="12700">
            <a:miter lim="400000"/>
          </a:ln>
        </p:spPr>
      </p:pic>
      <p:sp>
        <p:nvSpPr>
          <p:cNvPr id="196" name="Slide Number Placeholder 0"/>
          <p:cNvSpPr txBox="1"/>
          <p:nvPr>
            <p:ph type="sldNum" sz="quarter" idx="4294967295"/>
          </p:nvPr>
        </p:nvSpPr>
        <p:spPr>
          <a:xfrm>
            <a:off x="8450823" y="4754879"/>
            <a:ext cx="235977"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ext 0"/>
          <p:cNvSpPr txBox="1"/>
          <p:nvPr>
            <p:ph type="title"/>
          </p:nvPr>
        </p:nvSpPr>
        <p:spPr>
          <a:prstGeom prst="rect">
            <a:avLst/>
          </a:prstGeom>
        </p:spPr>
        <p:txBody>
          <a:bodyPr lIns="0" tIns="0" rIns="0" bIns="0" anchor="ctr"/>
          <a:lstStyle/>
          <a:p>
            <a:pPr/>
            <a:r>
              <a:t>Up High, Down Low, Too Slow</a:t>
            </a:r>
          </a:p>
        </p:txBody>
      </p:sp>
      <p:pic>
        <p:nvPicPr>
          <p:cNvPr id="201" name="Photo 1" descr="Photo 1"/>
          <p:cNvPicPr>
            <a:picLocks noChangeAspect="1"/>
          </p:cNvPicPr>
          <p:nvPr/>
        </p:nvPicPr>
        <p:blipFill>
          <a:blip r:embed="rId3">
            <a:extLst/>
          </a:blip>
          <a:stretch>
            <a:fillRect/>
          </a:stretch>
        </p:blipFill>
        <p:spPr>
          <a:xfrm>
            <a:off x="457200" y="1188719"/>
            <a:ext cx="2331721" cy="1600201"/>
          </a:xfrm>
          <a:prstGeom prst="rect">
            <a:avLst/>
          </a:prstGeom>
          <a:ln w="12700">
            <a:miter lim="400000"/>
          </a:ln>
        </p:spPr>
      </p:pic>
      <p:sp>
        <p:nvSpPr>
          <p:cNvPr id="202" name="Photo number circle 1"/>
          <p:cNvSpPr/>
          <p:nvPr/>
        </p:nvSpPr>
        <p:spPr>
          <a:xfrm>
            <a:off x="566927" y="2331720"/>
            <a:ext cx="347473" cy="347473"/>
          </a:xfrm>
          <a:prstGeom prst="ellipse">
            <a:avLst/>
          </a:prstGeom>
          <a:solidFill>
            <a:schemeClr val="accent1"/>
          </a:solidFill>
          <a:ln w="12700">
            <a:solidFill>
              <a:schemeClr val="accent1"/>
            </a:solidFill>
          </a:ln>
        </p:spPr>
        <p:txBody>
          <a:bodyPr lIns="45719" rIns="45719"/>
          <a:lstStyle/>
          <a:p>
            <a:pPr/>
          </a:p>
        </p:txBody>
      </p:sp>
      <p:sp>
        <p:nvSpPr>
          <p:cNvPr id="203" name="Photo number 1"/>
          <p:cNvSpPr txBox="1"/>
          <p:nvPr/>
        </p:nvSpPr>
        <p:spPr>
          <a:xfrm>
            <a:off x="566927" y="2406764"/>
            <a:ext cx="347473"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1</a:t>
            </a:r>
          </a:p>
        </p:txBody>
      </p:sp>
      <p:sp>
        <p:nvSpPr>
          <p:cNvPr id="204" name="Step circle 1"/>
          <p:cNvSpPr/>
          <p:nvPr/>
        </p:nvSpPr>
        <p:spPr>
          <a:xfrm>
            <a:off x="5669279" y="1280160"/>
            <a:ext cx="411481" cy="411481"/>
          </a:xfrm>
          <a:prstGeom prst="ellipse">
            <a:avLst/>
          </a:prstGeom>
          <a:solidFill>
            <a:schemeClr val="accent1"/>
          </a:solidFill>
          <a:ln w="12700">
            <a:solidFill>
              <a:schemeClr val="accent1"/>
            </a:solidFill>
          </a:ln>
        </p:spPr>
        <p:txBody>
          <a:bodyPr lIns="45719" rIns="45719"/>
          <a:lstStyle/>
          <a:p>
            <a:pPr/>
          </a:p>
        </p:txBody>
      </p:sp>
      <p:sp>
        <p:nvSpPr>
          <p:cNvPr id="205" name="Step number 1"/>
          <p:cNvSpPr txBox="1"/>
          <p:nvPr/>
        </p:nvSpPr>
        <p:spPr>
          <a:xfrm>
            <a:off x="5669279" y="1374923"/>
            <a:ext cx="41148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1</a:t>
            </a:r>
          </a:p>
        </p:txBody>
      </p:sp>
      <p:sp>
        <p:nvSpPr>
          <p:cNvPr id="206" name="Step text 1"/>
          <p:cNvSpPr txBox="1"/>
          <p:nvPr/>
        </p:nvSpPr>
        <p:spPr>
          <a:xfrm>
            <a:off x="6263640" y="1234439"/>
            <a:ext cx="2423161" cy="4395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Up high!</a:t>
            </a:r>
          </a:p>
          <a:p>
            <a:pPr>
              <a:defRPr sz="1200">
                <a:solidFill>
                  <a:schemeClr val="accent4"/>
                </a:solidFill>
              </a:defRPr>
            </a:pPr>
            <a:r>
              <a:t>A normal high five</a:t>
            </a:r>
          </a:p>
        </p:txBody>
      </p:sp>
      <p:pic>
        <p:nvPicPr>
          <p:cNvPr id="207" name="Photo 2" descr="Photo 2"/>
          <p:cNvPicPr>
            <a:picLocks noChangeAspect="1"/>
          </p:cNvPicPr>
          <p:nvPr/>
        </p:nvPicPr>
        <p:blipFill>
          <a:blip r:embed="rId4">
            <a:extLst/>
          </a:blip>
          <a:stretch>
            <a:fillRect/>
          </a:stretch>
        </p:blipFill>
        <p:spPr>
          <a:xfrm>
            <a:off x="2971800" y="1188719"/>
            <a:ext cx="2331721" cy="1600201"/>
          </a:xfrm>
          <a:prstGeom prst="rect">
            <a:avLst/>
          </a:prstGeom>
          <a:ln w="12700">
            <a:miter lim="400000"/>
          </a:ln>
        </p:spPr>
      </p:pic>
      <p:sp>
        <p:nvSpPr>
          <p:cNvPr id="208" name="Photo number circle 2"/>
          <p:cNvSpPr/>
          <p:nvPr/>
        </p:nvSpPr>
        <p:spPr>
          <a:xfrm>
            <a:off x="3081527" y="2331720"/>
            <a:ext cx="347473" cy="347473"/>
          </a:xfrm>
          <a:prstGeom prst="ellipse">
            <a:avLst/>
          </a:prstGeom>
          <a:solidFill>
            <a:schemeClr val="accent1"/>
          </a:solidFill>
          <a:ln w="12700">
            <a:solidFill>
              <a:schemeClr val="accent1"/>
            </a:solidFill>
          </a:ln>
        </p:spPr>
        <p:txBody>
          <a:bodyPr lIns="45719" rIns="45719"/>
          <a:lstStyle/>
          <a:p>
            <a:pPr/>
          </a:p>
        </p:txBody>
      </p:sp>
      <p:sp>
        <p:nvSpPr>
          <p:cNvPr id="209" name="Photo number 2"/>
          <p:cNvSpPr txBox="1"/>
          <p:nvPr/>
        </p:nvSpPr>
        <p:spPr>
          <a:xfrm>
            <a:off x="3081527" y="2406764"/>
            <a:ext cx="347473"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2</a:t>
            </a:r>
          </a:p>
        </p:txBody>
      </p:sp>
      <p:sp>
        <p:nvSpPr>
          <p:cNvPr id="210" name="Step circle 2"/>
          <p:cNvSpPr/>
          <p:nvPr/>
        </p:nvSpPr>
        <p:spPr>
          <a:xfrm>
            <a:off x="5669279" y="2103120"/>
            <a:ext cx="411481" cy="411481"/>
          </a:xfrm>
          <a:prstGeom prst="ellipse">
            <a:avLst/>
          </a:prstGeom>
          <a:solidFill>
            <a:schemeClr val="accent1"/>
          </a:solidFill>
          <a:ln w="12700">
            <a:solidFill>
              <a:schemeClr val="accent1"/>
            </a:solidFill>
          </a:ln>
        </p:spPr>
        <p:txBody>
          <a:bodyPr lIns="45719" rIns="45719"/>
          <a:lstStyle/>
          <a:p>
            <a:pPr/>
          </a:p>
        </p:txBody>
      </p:sp>
      <p:sp>
        <p:nvSpPr>
          <p:cNvPr id="211" name="Step number 2"/>
          <p:cNvSpPr txBox="1"/>
          <p:nvPr/>
        </p:nvSpPr>
        <p:spPr>
          <a:xfrm>
            <a:off x="5669279" y="2197883"/>
            <a:ext cx="41148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2</a:t>
            </a:r>
          </a:p>
        </p:txBody>
      </p:sp>
      <p:sp>
        <p:nvSpPr>
          <p:cNvPr id="212" name="Step text 2"/>
          <p:cNvSpPr txBox="1"/>
          <p:nvPr/>
        </p:nvSpPr>
        <p:spPr>
          <a:xfrm>
            <a:off x="6263640" y="2057400"/>
            <a:ext cx="2423161" cy="4395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Down low…</a:t>
            </a:r>
          </a:p>
          <a:p>
            <a:pPr>
              <a:defRPr sz="1200">
                <a:solidFill>
                  <a:schemeClr val="accent4"/>
                </a:solidFill>
              </a:defRPr>
            </a:pPr>
            <a:r>
              <a:t>Offer a low five</a:t>
            </a:r>
          </a:p>
        </p:txBody>
      </p:sp>
      <p:pic>
        <p:nvPicPr>
          <p:cNvPr id="213" name="Photo 3" descr="Photo 3"/>
          <p:cNvPicPr>
            <a:picLocks noChangeAspect="1"/>
          </p:cNvPicPr>
          <p:nvPr/>
        </p:nvPicPr>
        <p:blipFill>
          <a:blip r:embed="rId5">
            <a:extLst/>
          </a:blip>
          <a:stretch>
            <a:fillRect/>
          </a:stretch>
        </p:blipFill>
        <p:spPr>
          <a:xfrm>
            <a:off x="457200" y="2971800"/>
            <a:ext cx="2331721" cy="1600200"/>
          </a:xfrm>
          <a:prstGeom prst="rect">
            <a:avLst/>
          </a:prstGeom>
          <a:ln w="12700">
            <a:miter lim="400000"/>
          </a:ln>
        </p:spPr>
      </p:pic>
      <p:sp>
        <p:nvSpPr>
          <p:cNvPr id="214" name="Photo number circle 3"/>
          <p:cNvSpPr/>
          <p:nvPr/>
        </p:nvSpPr>
        <p:spPr>
          <a:xfrm>
            <a:off x="566927" y="4114799"/>
            <a:ext cx="347473" cy="347474"/>
          </a:xfrm>
          <a:prstGeom prst="ellipse">
            <a:avLst/>
          </a:prstGeom>
          <a:solidFill>
            <a:schemeClr val="accent1"/>
          </a:solidFill>
          <a:ln w="12700">
            <a:solidFill>
              <a:schemeClr val="accent1"/>
            </a:solidFill>
          </a:ln>
        </p:spPr>
        <p:txBody>
          <a:bodyPr lIns="45719" rIns="45719"/>
          <a:lstStyle/>
          <a:p>
            <a:pPr/>
          </a:p>
        </p:txBody>
      </p:sp>
      <p:sp>
        <p:nvSpPr>
          <p:cNvPr id="215" name="Photo number 3"/>
          <p:cNvSpPr txBox="1"/>
          <p:nvPr/>
        </p:nvSpPr>
        <p:spPr>
          <a:xfrm>
            <a:off x="566927" y="4189844"/>
            <a:ext cx="347473"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3</a:t>
            </a:r>
          </a:p>
        </p:txBody>
      </p:sp>
      <p:sp>
        <p:nvSpPr>
          <p:cNvPr id="216" name="Step circle 3"/>
          <p:cNvSpPr/>
          <p:nvPr/>
        </p:nvSpPr>
        <p:spPr>
          <a:xfrm>
            <a:off x="5669279" y="2926079"/>
            <a:ext cx="411481" cy="411481"/>
          </a:xfrm>
          <a:prstGeom prst="ellipse">
            <a:avLst/>
          </a:prstGeom>
          <a:solidFill>
            <a:schemeClr val="accent1"/>
          </a:solidFill>
          <a:ln w="12700">
            <a:solidFill>
              <a:schemeClr val="accent1"/>
            </a:solidFill>
          </a:ln>
        </p:spPr>
        <p:txBody>
          <a:bodyPr lIns="45719" rIns="45719"/>
          <a:lstStyle/>
          <a:p>
            <a:pPr/>
          </a:p>
        </p:txBody>
      </p:sp>
      <p:sp>
        <p:nvSpPr>
          <p:cNvPr id="217" name="Step number 3"/>
          <p:cNvSpPr txBox="1"/>
          <p:nvPr/>
        </p:nvSpPr>
        <p:spPr>
          <a:xfrm>
            <a:off x="5669279" y="3020843"/>
            <a:ext cx="41148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3</a:t>
            </a:r>
          </a:p>
        </p:txBody>
      </p:sp>
      <p:sp>
        <p:nvSpPr>
          <p:cNvPr id="218" name="Step text 3"/>
          <p:cNvSpPr txBox="1"/>
          <p:nvPr/>
        </p:nvSpPr>
        <p:spPr>
          <a:xfrm>
            <a:off x="6263640" y="2880360"/>
            <a:ext cx="2423161" cy="6173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Too slow!</a:t>
            </a:r>
          </a:p>
          <a:p>
            <a:pPr>
              <a:defRPr sz="1200">
                <a:solidFill>
                  <a:schemeClr val="accent4"/>
                </a:solidFill>
              </a:defRPr>
            </a:pPr>
            <a:r>
              <a:t>Pull your hand away at the last second</a:t>
            </a:r>
          </a:p>
        </p:txBody>
      </p:sp>
      <p:pic>
        <p:nvPicPr>
          <p:cNvPr id="219" name="Photo 4" descr="Photo 4"/>
          <p:cNvPicPr>
            <a:picLocks noChangeAspect="1"/>
          </p:cNvPicPr>
          <p:nvPr/>
        </p:nvPicPr>
        <p:blipFill>
          <a:blip r:embed="rId6">
            <a:extLst/>
          </a:blip>
          <a:stretch>
            <a:fillRect/>
          </a:stretch>
        </p:blipFill>
        <p:spPr>
          <a:xfrm>
            <a:off x="2971800" y="2971800"/>
            <a:ext cx="2331721" cy="1600200"/>
          </a:xfrm>
          <a:prstGeom prst="rect">
            <a:avLst/>
          </a:prstGeom>
          <a:ln w="12700">
            <a:miter lim="400000"/>
          </a:ln>
        </p:spPr>
      </p:pic>
      <p:sp>
        <p:nvSpPr>
          <p:cNvPr id="220" name="Photo number circle 4"/>
          <p:cNvSpPr/>
          <p:nvPr/>
        </p:nvSpPr>
        <p:spPr>
          <a:xfrm>
            <a:off x="3081527" y="4114799"/>
            <a:ext cx="347473" cy="347474"/>
          </a:xfrm>
          <a:prstGeom prst="ellipse">
            <a:avLst/>
          </a:prstGeom>
          <a:solidFill>
            <a:schemeClr val="accent1"/>
          </a:solidFill>
          <a:ln w="12700">
            <a:solidFill>
              <a:schemeClr val="accent1"/>
            </a:solidFill>
          </a:ln>
        </p:spPr>
        <p:txBody>
          <a:bodyPr lIns="45719" rIns="45719"/>
          <a:lstStyle/>
          <a:p>
            <a:pPr/>
          </a:p>
        </p:txBody>
      </p:sp>
      <p:sp>
        <p:nvSpPr>
          <p:cNvPr id="221" name="Photo number 4"/>
          <p:cNvSpPr txBox="1"/>
          <p:nvPr/>
        </p:nvSpPr>
        <p:spPr>
          <a:xfrm>
            <a:off x="3081527" y="4189844"/>
            <a:ext cx="347473"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4</a:t>
            </a:r>
          </a:p>
        </p:txBody>
      </p:sp>
      <p:sp>
        <p:nvSpPr>
          <p:cNvPr id="222" name="Step circle 4"/>
          <p:cNvSpPr/>
          <p:nvPr/>
        </p:nvSpPr>
        <p:spPr>
          <a:xfrm>
            <a:off x="5669279" y="3749040"/>
            <a:ext cx="411481" cy="411481"/>
          </a:xfrm>
          <a:prstGeom prst="ellipse">
            <a:avLst/>
          </a:prstGeom>
          <a:solidFill>
            <a:schemeClr val="accent1"/>
          </a:solidFill>
          <a:ln w="12700">
            <a:solidFill>
              <a:schemeClr val="accent1"/>
            </a:solidFill>
          </a:ln>
        </p:spPr>
        <p:txBody>
          <a:bodyPr lIns="45719" rIns="45719"/>
          <a:lstStyle/>
          <a:p>
            <a:pPr/>
          </a:p>
        </p:txBody>
      </p:sp>
      <p:sp>
        <p:nvSpPr>
          <p:cNvPr id="223" name="Step number 4"/>
          <p:cNvSpPr txBox="1"/>
          <p:nvPr/>
        </p:nvSpPr>
        <p:spPr>
          <a:xfrm>
            <a:off x="5669279" y="3843803"/>
            <a:ext cx="41148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4</a:t>
            </a:r>
          </a:p>
        </p:txBody>
      </p:sp>
      <p:sp>
        <p:nvSpPr>
          <p:cNvPr id="224" name="Step text 4"/>
          <p:cNvSpPr txBox="1"/>
          <p:nvPr/>
        </p:nvSpPr>
        <p:spPr>
          <a:xfrm>
            <a:off x="6263640" y="3703320"/>
            <a:ext cx="2423161" cy="4395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Gotcha!</a:t>
            </a:r>
          </a:p>
          <a:p>
            <a:pPr>
              <a:defRPr sz="1200">
                <a:solidFill>
                  <a:schemeClr val="accent4"/>
                </a:solidFill>
              </a:defRPr>
            </a:pPr>
            <a:r>
              <a:t>Enjoy their reaction</a:t>
            </a:r>
          </a:p>
        </p:txBody>
      </p:sp>
      <p:sp>
        <p:nvSpPr>
          <p:cNvPr id="225"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Text 0"/>
          <p:cNvSpPr txBox="1"/>
          <p:nvPr>
            <p:ph type="title"/>
          </p:nvPr>
        </p:nvSpPr>
        <p:spPr>
          <a:prstGeom prst="rect">
            <a:avLst/>
          </a:prstGeom>
        </p:spPr>
        <p:txBody>
          <a:bodyPr lIns="0" tIns="0" rIns="0" bIns="0" anchor="ctr"/>
          <a:lstStyle/>
          <a:p>
            <a:pPr/>
            <a:r>
              <a:t>Phrases for the High Five</a:t>
            </a:r>
          </a:p>
        </p:txBody>
      </p:sp>
      <p:sp>
        <p:nvSpPr>
          <p:cNvPr id="230" name="Phrase card 1"/>
          <p:cNvSpPr/>
          <p:nvPr/>
        </p:nvSpPr>
        <p:spPr>
          <a:xfrm>
            <a:off x="45720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31" name="Phrase 1"/>
          <p:cNvSpPr txBox="1"/>
          <p:nvPr/>
        </p:nvSpPr>
        <p:spPr>
          <a:xfrm>
            <a:off x="640079" y="1399032"/>
            <a:ext cx="2194562"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“Up top!”</a:t>
            </a:r>
          </a:p>
        </p:txBody>
      </p:sp>
      <p:sp>
        <p:nvSpPr>
          <p:cNvPr id="232" name="Phrase note 1"/>
          <p:cNvSpPr txBox="1"/>
          <p:nvPr/>
        </p:nvSpPr>
        <p:spPr>
          <a:xfrm>
            <a:off x="640079" y="2103120"/>
            <a:ext cx="219456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Invites a high five, hand raised</a:t>
            </a:r>
          </a:p>
        </p:txBody>
      </p:sp>
      <p:sp>
        <p:nvSpPr>
          <p:cNvPr id="233" name="Phrase card 2"/>
          <p:cNvSpPr/>
          <p:nvPr/>
        </p:nvSpPr>
        <p:spPr>
          <a:xfrm>
            <a:off x="329184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34" name="Phrase 2"/>
          <p:cNvSpPr txBox="1"/>
          <p:nvPr/>
        </p:nvSpPr>
        <p:spPr>
          <a:xfrm>
            <a:off x="3474720"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“Gimme five!”</a:t>
            </a:r>
          </a:p>
        </p:txBody>
      </p:sp>
      <p:sp>
        <p:nvSpPr>
          <p:cNvPr id="235" name="Phrase note 2"/>
          <p:cNvSpPr txBox="1"/>
          <p:nvPr/>
        </p:nvSpPr>
        <p:spPr>
          <a:xfrm>
            <a:off x="3474720"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Short for “Give me five”; same invitation</a:t>
            </a:r>
          </a:p>
        </p:txBody>
      </p:sp>
      <p:sp>
        <p:nvSpPr>
          <p:cNvPr id="236" name="Phrase card 3"/>
          <p:cNvSpPr/>
          <p:nvPr/>
        </p:nvSpPr>
        <p:spPr>
          <a:xfrm>
            <a:off x="6126479"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37" name="Phrase 3"/>
          <p:cNvSpPr txBox="1"/>
          <p:nvPr/>
        </p:nvSpPr>
        <p:spPr>
          <a:xfrm>
            <a:off x="6309359" y="1399032"/>
            <a:ext cx="2194561" cy="4505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“Don't leave me hanging!”</a:t>
            </a:r>
          </a:p>
        </p:txBody>
      </p:sp>
      <p:sp>
        <p:nvSpPr>
          <p:cNvPr id="238" name="Phrase note 3"/>
          <p:cNvSpPr txBox="1"/>
          <p:nvPr/>
        </p:nvSpPr>
        <p:spPr>
          <a:xfrm>
            <a:off x="6309359"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When someone ignores your raised hand</a:t>
            </a:r>
          </a:p>
        </p:txBody>
      </p:sp>
      <p:sp>
        <p:nvSpPr>
          <p:cNvPr id="239" name="Phrase card 4"/>
          <p:cNvSpPr/>
          <p:nvPr/>
        </p:nvSpPr>
        <p:spPr>
          <a:xfrm>
            <a:off x="45720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40" name="Phrase 4"/>
          <p:cNvSpPr txBox="1"/>
          <p:nvPr/>
        </p:nvSpPr>
        <p:spPr>
          <a:xfrm>
            <a:off x="640079" y="3182111"/>
            <a:ext cx="2194562"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“Down low… too slow!”</a:t>
            </a:r>
          </a:p>
        </p:txBody>
      </p:sp>
      <p:sp>
        <p:nvSpPr>
          <p:cNvPr id="241" name="Phrase note 4"/>
          <p:cNvSpPr txBox="1"/>
          <p:nvPr/>
        </p:nvSpPr>
        <p:spPr>
          <a:xfrm>
            <a:off x="640079" y="388620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Kids' joke: pull your hand away at the last second</a:t>
            </a:r>
          </a:p>
        </p:txBody>
      </p:sp>
      <p:sp>
        <p:nvSpPr>
          <p:cNvPr id="242" name="Phrase card 5"/>
          <p:cNvSpPr/>
          <p:nvPr/>
        </p:nvSpPr>
        <p:spPr>
          <a:xfrm>
            <a:off x="329184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43" name="Phrase 5"/>
          <p:cNvSpPr txBox="1"/>
          <p:nvPr/>
        </p:nvSpPr>
        <p:spPr>
          <a:xfrm>
            <a:off x="3474720"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“High five!”</a:t>
            </a:r>
          </a:p>
        </p:txBody>
      </p:sp>
      <p:sp>
        <p:nvSpPr>
          <p:cNvPr id="244" name="Phrase note 5"/>
          <p:cNvSpPr txBox="1"/>
          <p:nvPr/>
        </p:nvSpPr>
        <p:spPr>
          <a:xfrm>
            <a:off x="3474720"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Said while doing it, often after good news</a:t>
            </a:r>
          </a:p>
        </p:txBody>
      </p:sp>
      <p:sp>
        <p:nvSpPr>
          <p:cNvPr id="245" name="Phrase card 6"/>
          <p:cNvSpPr/>
          <p:nvPr/>
        </p:nvSpPr>
        <p:spPr>
          <a:xfrm>
            <a:off x="6126479"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46" name="Phrase 6"/>
          <p:cNvSpPr txBox="1"/>
          <p:nvPr/>
        </p:nvSpPr>
        <p:spPr>
          <a:xfrm>
            <a:off x="6309359"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“Nailed it!”</a:t>
            </a:r>
          </a:p>
        </p:txBody>
      </p:sp>
      <p:sp>
        <p:nvSpPr>
          <p:cNvPr id="247" name="Phrase note 6"/>
          <p:cNvSpPr txBox="1"/>
          <p:nvPr/>
        </p:nvSpPr>
        <p:spPr>
          <a:xfrm>
            <a:off x="6309359"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Someone just succeeded; a high five follows</a:t>
            </a:r>
          </a:p>
        </p:txBody>
      </p:sp>
      <p:sp>
        <p:nvSpPr>
          <p:cNvPr id="248"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Text 0"/>
          <p:cNvSpPr txBox="1"/>
          <p:nvPr>
            <p:ph type="title"/>
          </p:nvPr>
        </p:nvSpPr>
        <p:spPr>
          <a:prstGeom prst="rect">
            <a:avLst/>
          </a:prstGeom>
        </p:spPr>
        <p:txBody>
          <a:bodyPr lIns="0" tIns="0" rIns="0" bIns="0" anchor="ctr"/>
          <a:lstStyle/>
          <a:p>
            <a:pPr/>
            <a:r>
              <a:t>The Dap</a:t>
            </a:r>
          </a:p>
        </p:txBody>
      </p:sp>
      <p:pic>
        <p:nvPicPr>
          <p:cNvPr id="253" name="Photo" descr="Photo"/>
          <p:cNvPicPr>
            <a:picLocks noChangeAspect="1"/>
          </p:cNvPicPr>
          <p:nvPr/>
        </p:nvPicPr>
        <p:blipFill>
          <a:blip r:embed="rId3">
            <a:extLst/>
          </a:blip>
          <a:stretch>
            <a:fillRect/>
          </a:stretch>
        </p:blipFill>
        <p:spPr>
          <a:xfrm>
            <a:off x="457200" y="1973275"/>
            <a:ext cx="3291841" cy="1813256"/>
          </a:xfrm>
          <a:prstGeom prst="rect">
            <a:avLst/>
          </a:prstGeom>
          <a:ln w="12700">
            <a:miter lim="400000"/>
          </a:ln>
        </p:spPr>
      </p:pic>
      <p:sp>
        <p:nvSpPr>
          <p:cNvPr id="254" name="Question card"/>
          <p:cNvSpPr/>
          <p:nvPr/>
        </p:nvSpPr>
        <p:spPr>
          <a:xfrm>
            <a:off x="4023359" y="1325880"/>
            <a:ext cx="4663441" cy="731520"/>
          </a:xfrm>
          <a:prstGeom prst="roundRect">
            <a:avLst>
              <a:gd name="adj" fmla="val 12500"/>
            </a:avLst>
          </a:prstGeom>
          <a:solidFill>
            <a:srgbClr val="FFF1C2"/>
          </a:solidFill>
          <a:ln w="12700">
            <a:solidFill>
              <a:srgbClr val="FFF1C2"/>
            </a:solidFill>
          </a:ln>
        </p:spPr>
        <p:txBody>
          <a:bodyPr lIns="45719" rIns="45719"/>
          <a:lstStyle/>
          <a:p>
            <a:pPr/>
          </a:p>
        </p:txBody>
      </p:sp>
      <p:sp>
        <p:nvSpPr>
          <p:cNvPr id="255" name="Question icon circle"/>
          <p:cNvSpPr/>
          <p:nvPr/>
        </p:nvSpPr>
        <p:spPr>
          <a:xfrm>
            <a:off x="4224528" y="1463039"/>
            <a:ext cx="457201" cy="457201"/>
          </a:xfrm>
          <a:prstGeom prst="ellipse">
            <a:avLst/>
          </a:prstGeom>
          <a:solidFill>
            <a:schemeClr val="accent1"/>
          </a:solidFill>
          <a:ln w="12700">
            <a:solidFill>
              <a:schemeClr val="accent1"/>
            </a:solidFill>
          </a:ln>
        </p:spPr>
        <p:txBody>
          <a:bodyPr lIns="45719" rIns="45719"/>
          <a:lstStyle/>
          <a:p>
            <a:pPr/>
          </a:p>
        </p:txBody>
      </p:sp>
      <p:sp>
        <p:nvSpPr>
          <p:cNvPr id="256" name="Question mark"/>
          <p:cNvSpPr txBox="1"/>
          <p:nvPr/>
        </p:nvSpPr>
        <p:spPr>
          <a:xfrm>
            <a:off x="4224528" y="1549744"/>
            <a:ext cx="45720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lvl1pPr>
          </a:lstStyle>
          <a:p>
            <a:pPr/>
            <a:r>
              <a:t>?</a:t>
            </a:r>
          </a:p>
        </p:txBody>
      </p:sp>
      <p:sp>
        <p:nvSpPr>
          <p:cNvPr id="257" name="Question text"/>
          <p:cNvSpPr txBox="1"/>
          <p:nvPr/>
        </p:nvSpPr>
        <p:spPr>
          <a:xfrm>
            <a:off x="4864608" y="1568171"/>
            <a:ext cx="36576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lvl1pPr>
          </a:lstStyle>
          <a:p>
            <a:pPr/>
            <a:r>
              <a:t>First, “dap”: what does it mean?</a:t>
            </a:r>
          </a:p>
        </p:txBody>
      </p:sp>
      <p:sp>
        <p:nvSpPr>
          <p:cNvPr id="258" name="Bullets"/>
          <p:cNvSpPr txBox="1"/>
          <p:nvPr/>
        </p:nvSpPr>
        <p:spPr>
          <a:xfrm>
            <a:off x="4023359" y="2285999"/>
            <a:ext cx="4663441" cy="20384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1400"/>
              </a:spcBef>
              <a:buSzPct val="100000"/>
              <a:buChar char="•"/>
              <a:defRPr sz="1500"/>
            </a:pPr>
            <a:r>
              <a:t>Originated among Black soldiers during the Vietnam War</a:t>
            </a:r>
          </a:p>
          <a:p>
            <a:pPr marL="228600" indent="-228600">
              <a:spcBef>
                <a:spcPts val="1400"/>
              </a:spcBef>
              <a:buSzPct val="100000"/>
              <a:buChar char="•"/>
              <a:defRPr sz="1500"/>
            </a:pPr>
            <a:r>
              <a:t>Now: most common form of greeting (amongst teenagers)</a:t>
            </a:r>
          </a:p>
          <a:p>
            <a:pPr marL="228600" indent="-228600">
              <a:spcBef>
                <a:spcPts val="1400"/>
              </a:spcBef>
              <a:buSzPct val="100000"/>
              <a:buChar char="•"/>
              <a:defRPr sz="1500"/>
            </a:pPr>
            <a:r>
              <a:t>Not used in professional contexts</a:t>
            </a:r>
          </a:p>
          <a:p>
            <a:pPr marL="228600" indent="-228600">
              <a:spcBef>
                <a:spcPts val="1400"/>
              </a:spcBef>
              <a:buSzPct val="100000"/>
              <a:buChar char="•"/>
              <a:defRPr sz="1500"/>
            </a:pPr>
            <a:r>
              <a:t>If you don't know how to do it properly, can make you seem like a loser</a:t>
            </a:r>
          </a:p>
        </p:txBody>
      </p:sp>
      <p:sp>
        <p:nvSpPr>
          <p:cNvPr id="259"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Text 0"/>
          <p:cNvSpPr txBox="1"/>
          <p:nvPr>
            <p:ph type="title"/>
          </p:nvPr>
        </p:nvSpPr>
        <p:spPr>
          <a:prstGeom prst="rect">
            <a:avLst/>
          </a:prstGeom>
        </p:spPr>
        <p:txBody>
          <a:bodyPr lIns="0" tIns="0" rIns="0" bIns="0" anchor="ctr"/>
          <a:lstStyle/>
          <a:p>
            <a:pPr/>
            <a:r>
              <a:t>Phrases for the Dap</a:t>
            </a:r>
          </a:p>
        </p:txBody>
      </p:sp>
      <p:sp>
        <p:nvSpPr>
          <p:cNvPr id="264" name="Phrase card 1"/>
          <p:cNvSpPr/>
          <p:nvPr/>
        </p:nvSpPr>
        <p:spPr>
          <a:xfrm>
            <a:off x="45720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65" name="Phrase 1"/>
          <p:cNvSpPr txBox="1"/>
          <p:nvPr/>
        </p:nvSpPr>
        <p:spPr>
          <a:xfrm>
            <a:off x="640079" y="1399032"/>
            <a:ext cx="2194562"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“What's up?”</a:t>
            </a:r>
          </a:p>
        </p:txBody>
      </p:sp>
      <p:sp>
        <p:nvSpPr>
          <p:cNvPr id="266" name="Phrase note 1"/>
          <p:cNvSpPr txBox="1"/>
          <p:nvPr/>
        </p:nvSpPr>
        <p:spPr>
          <a:xfrm>
            <a:off x="640079" y="210312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Not a real question. Reply: “Not much, you?”</a:t>
            </a:r>
          </a:p>
        </p:txBody>
      </p:sp>
      <p:sp>
        <p:nvSpPr>
          <p:cNvPr id="267" name="Phrase card 2"/>
          <p:cNvSpPr/>
          <p:nvPr/>
        </p:nvSpPr>
        <p:spPr>
          <a:xfrm>
            <a:off x="3291840"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68" name="Phrase 2"/>
          <p:cNvSpPr txBox="1"/>
          <p:nvPr/>
        </p:nvSpPr>
        <p:spPr>
          <a:xfrm>
            <a:off x="3474720"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“What's good?”</a:t>
            </a:r>
          </a:p>
        </p:txBody>
      </p:sp>
      <p:sp>
        <p:nvSpPr>
          <p:cNvPr id="269" name="Phrase note 2"/>
          <p:cNvSpPr txBox="1"/>
          <p:nvPr/>
        </p:nvSpPr>
        <p:spPr>
          <a:xfrm>
            <a:off x="3474720"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Same as “What's up?” Reply: “Chillin'.”</a:t>
            </a:r>
          </a:p>
        </p:txBody>
      </p:sp>
      <p:sp>
        <p:nvSpPr>
          <p:cNvPr id="270" name="Phrase card 3"/>
          <p:cNvSpPr/>
          <p:nvPr/>
        </p:nvSpPr>
        <p:spPr>
          <a:xfrm>
            <a:off x="6126479" y="1234439"/>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71" name="Phrase 3"/>
          <p:cNvSpPr txBox="1"/>
          <p:nvPr/>
        </p:nvSpPr>
        <p:spPr>
          <a:xfrm>
            <a:off x="6309359" y="1399032"/>
            <a:ext cx="219456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“Yo!”</a:t>
            </a:r>
          </a:p>
        </p:txBody>
      </p:sp>
      <p:sp>
        <p:nvSpPr>
          <p:cNvPr id="272" name="Phrase note 3"/>
          <p:cNvSpPr txBox="1"/>
          <p:nvPr/>
        </p:nvSpPr>
        <p:spPr>
          <a:xfrm>
            <a:off x="6309359" y="210312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Casual hello, often across a room or street</a:t>
            </a:r>
          </a:p>
        </p:txBody>
      </p:sp>
      <p:sp>
        <p:nvSpPr>
          <p:cNvPr id="273" name="Phrase card 4"/>
          <p:cNvSpPr/>
          <p:nvPr/>
        </p:nvSpPr>
        <p:spPr>
          <a:xfrm>
            <a:off x="45720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74" name="Phrase 4"/>
          <p:cNvSpPr txBox="1"/>
          <p:nvPr/>
        </p:nvSpPr>
        <p:spPr>
          <a:xfrm>
            <a:off x="640079" y="3182111"/>
            <a:ext cx="219456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“How you doin'?”</a:t>
            </a:r>
          </a:p>
        </p:txBody>
      </p:sp>
      <p:sp>
        <p:nvSpPr>
          <p:cNvPr id="275" name="Phrase note 4"/>
          <p:cNvSpPr txBox="1"/>
          <p:nvPr/>
        </p:nvSpPr>
        <p:spPr>
          <a:xfrm>
            <a:off x="640079" y="3886200"/>
            <a:ext cx="219456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Classic New York; quick, no real answer needed</a:t>
            </a:r>
          </a:p>
        </p:txBody>
      </p:sp>
      <p:sp>
        <p:nvSpPr>
          <p:cNvPr id="276" name="Phrase card 5"/>
          <p:cNvSpPr/>
          <p:nvPr/>
        </p:nvSpPr>
        <p:spPr>
          <a:xfrm>
            <a:off x="3291840"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77" name="Phrase 5"/>
          <p:cNvSpPr txBox="1"/>
          <p:nvPr/>
        </p:nvSpPr>
        <p:spPr>
          <a:xfrm>
            <a:off x="3474720"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“Dap me up.”</a:t>
            </a:r>
          </a:p>
        </p:txBody>
      </p:sp>
      <p:sp>
        <p:nvSpPr>
          <p:cNvPr id="278" name="Phrase note 5"/>
          <p:cNvSpPr txBox="1"/>
          <p:nvPr/>
        </p:nvSpPr>
        <p:spPr>
          <a:xfrm>
            <a:off x="3474720"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“Give me dap,” an invitation to the greeting</a:t>
            </a:r>
          </a:p>
        </p:txBody>
      </p:sp>
      <p:sp>
        <p:nvSpPr>
          <p:cNvPr id="279" name="Phrase card 6"/>
          <p:cNvSpPr/>
          <p:nvPr/>
        </p:nvSpPr>
        <p:spPr>
          <a:xfrm>
            <a:off x="6126479" y="3017520"/>
            <a:ext cx="2560321" cy="1554481"/>
          </a:xfrm>
          <a:prstGeom prst="roundRect">
            <a:avLst>
              <a:gd name="adj" fmla="val 5882"/>
            </a:avLst>
          </a:prstGeom>
          <a:solidFill>
            <a:srgbClr val="F1F2F4"/>
          </a:solidFill>
          <a:ln w="12700">
            <a:solidFill>
              <a:srgbClr val="F1F2F4"/>
            </a:solidFill>
          </a:ln>
        </p:spPr>
        <p:txBody>
          <a:bodyPr lIns="45719" rIns="45719"/>
          <a:lstStyle/>
          <a:p>
            <a:pPr/>
          </a:p>
        </p:txBody>
      </p:sp>
      <p:sp>
        <p:nvSpPr>
          <p:cNvPr id="280" name="Phrase 6"/>
          <p:cNvSpPr txBox="1"/>
          <p:nvPr/>
        </p:nvSpPr>
        <p:spPr>
          <a:xfrm>
            <a:off x="6309359" y="3182111"/>
            <a:ext cx="219456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lvl1pPr>
          </a:lstStyle>
          <a:p>
            <a:pPr/>
            <a:r>
              <a:t>“Aight, I'm out.”</a:t>
            </a:r>
          </a:p>
        </p:txBody>
      </p:sp>
      <p:sp>
        <p:nvSpPr>
          <p:cNvPr id="281" name="Phrase note 6"/>
          <p:cNvSpPr txBox="1"/>
          <p:nvPr/>
        </p:nvSpPr>
        <p:spPr>
          <a:xfrm>
            <a:off x="6309359" y="3886200"/>
            <a:ext cx="2194561"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chemeClr val="accent4"/>
                </a:solidFill>
              </a:defRPr>
            </a:lvl1pPr>
          </a:lstStyle>
          <a:p>
            <a:pPr/>
            <a:r>
              <a:t>Leaving; usually comes with one more dap</a:t>
            </a:r>
          </a:p>
        </p:txBody>
      </p:sp>
      <p:sp>
        <p:nvSpPr>
          <p:cNvPr id="282"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6" name="Photo" descr="Photo"/>
          <p:cNvPicPr>
            <a:picLocks noChangeAspect="1"/>
          </p:cNvPicPr>
          <p:nvPr/>
        </p:nvPicPr>
        <p:blipFill>
          <a:blip r:embed="rId3">
            <a:extLst/>
          </a:blip>
          <a:stretch>
            <a:fillRect/>
          </a:stretch>
        </p:blipFill>
        <p:spPr>
          <a:xfrm>
            <a:off x="0" y="0"/>
            <a:ext cx="4389121" cy="5143500"/>
          </a:xfrm>
          <a:prstGeom prst="rect">
            <a:avLst/>
          </a:prstGeom>
          <a:ln w="12700">
            <a:miter lim="400000"/>
          </a:ln>
        </p:spPr>
      </p:pic>
      <p:sp>
        <p:nvSpPr>
          <p:cNvPr id="287" name="Text 0"/>
          <p:cNvSpPr txBox="1"/>
          <p:nvPr>
            <p:ph type="title"/>
          </p:nvPr>
        </p:nvSpPr>
        <p:spPr>
          <a:xfrm>
            <a:off x="4846320" y="868679"/>
            <a:ext cx="3840481" cy="1645922"/>
          </a:xfrm>
          <a:prstGeom prst="rect">
            <a:avLst/>
          </a:prstGeom>
        </p:spPr>
        <p:txBody>
          <a:bodyPr lIns="0" tIns="0" rIns="0" bIns="0" anchor="b"/>
          <a:lstStyle/>
          <a:p>
            <a:pPr/>
            <a:r>
              <a:t>Greetings I Would Avoid in the U.S.</a:t>
            </a:r>
          </a:p>
        </p:txBody>
      </p:sp>
      <p:sp>
        <p:nvSpPr>
          <p:cNvPr id="288" name="Avoid icon circle 1"/>
          <p:cNvSpPr/>
          <p:nvPr/>
        </p:nvSpPr>
        <p:spPr>
          <a:xfrm>
            <a:off x="4846320" y="2743200"/>
            <a:ext cx="384049" cy="384048"/>
          </a:xfrm>
          <a:prstGeom prst="ellipse">
            <a:avLst/>
          </a:prstGeom>
          <a:solidFill>
            <a:schemeClr val="accent2"/>
          </a:solidFill>
          <a:ln w="12700">
            <a:solidFill>
              <a:schemeClr val="accent2"/>
            </a:solidFill>
          </a:ln>
        </p:spPr>
        <p:txBody>
          <a:bodyPr lIns="45719" rIns="45719"/>
          <a:lstStyle/>
          <a:p>
            <a:pPr/>
          </a:p>
        </p:txBody>
      </p:sp>
      <p:pic>
        <p:nvPicPr>
          <p:cNvPr id="289" name="Avoid icon 1" descr="Avoid icon 1"/>
          <p:cNvPicPr>
            <a:picLocks noChangeAspect="1"/>
          </p:cNvPicPr>
          <p:nvPr/>
        </p:nvPicPr>
        <p:blipFill>
          <a:blip r:embed="rId4">
            <a:extLst/>
          </a:blip>
          <a:stretch>
            <a:fillRect/>
          </a:stretch>
        </p:blipFill>
        <p:spPr>
          <a:xfrm>
            <a:off x="4946903" y="2843783"/>
            <a:ext cx="182881" cy="182881"/>
          </a:xfrm>
          <a:prstGeom prst="rect">
            <a:avLst/>
          </a:prstGeom>
          <a:ln w="12700">
            <a:miter lim="400000"/>
          </a:ln>
        </p:spPr>
      </p:pic>
      <p:sp>
        <p:nvSpPr>
          <p:cNvPr id="290" name="Avoid text 1"/>
          <p:cNvSpPr txBox="1"/>
          <p:nvPr/>
        </p:nvSpPr>
        <p:spPr>
          <a:xfrm>
            <a:off x="5394959" y="2793328"/>
            <a:ext cx="329184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FFFFFF"/>
                </a:solidFill>
              </a:defRPr>
            </a:lvl1pPr>
          </a:lstStyle>
          <a:p>
            <a:pPr/>
            <a:r>
              <a:t>Air-kissing</a:t>
            </a:r>
          </a:p>
        </p:txBody>
      </p:sp>
      <p:sp>
        <p:nvSpPr>
          <p:cNvPr id="291" name="Avoid icon circle 2"/>
          <p:cNvSpPr/>
          <p:nvPr/>
        </p:nvSpPr>
        <p:spPr>
          <a:xfrm>
            <a:off x="4846320" y="3291840"/>
            <a:ext cx="384049" cy="384049"/>
          </a:xfrm>
          <a:prstGeom prst="ellipse">
            <a:avLst/>
          </a:prstGeom>
          <a:solidFill>
            <a:schemeClr val="accent2"/>
          </a:solidFill>
          <a:ln w="12700">
            <a:solidFill>
              <a:schemeClr val="accent2"/>
            </a:solidFill>
          </a:ln>
        </p:spPr>
        <p:txBody>
          <a:bodyPr lIns="45719" rIns="45719"/>
          <a:lstStyle/>
          <a:p>
            <a:pPr/>
          </a:p>
        </p:txBody>
      </p:sp>
      <p:pic>
        <p:nvPicPr>
          <p:cNvPr id="292" name="Avoid icon 2" descr="Avoid icon 2"/>
          <p:cNvPicPr>
            <a:picLocks noChangeAspect="1"/>
          </p:cNvPicPr>
          <p:nvPr/>
        </p:nvPicPr>
        <p:blipFill>
          <a:blip r:embed="rId4">
            <a:extLst/>
          </a:blip>
          <a:stretch>
            <a:fillRect/>
          </a:stretch>
        </p:blipFill>
        <p:spPr>
          <a:xfrm>
            <a:off x="4946903" y="3392423"/>
            <a:ext cx="182881" cy="182881"/>
          </a:xfrm>
          <a:prstGeom prst="rect">
            <a:avLst/>
          </a:prstGeom>
          <a:ln w="12700">
            <a:miter lim="400000"/>
          </a:ln>
        </p:spPr>
      </p:pic>
      <p:sp>
        <p:nvSpPr>
          <p:cNvPr id="293" name="Avoid text 2"/>
          <p:cNvSpPr txBox="1"/>
          <p:nvPr/>
        </p:nvSpPr>
        <p:spPr>
          <a:xfrm>
            <a:off x="5394959" y="3341968"/>
            <a:ext cx="329184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FFFFFF"/>
                </a:solidFill>
              </a:defRPr>
            </a:lvl1pPr>
          </a:lstStyle>
          <a:p>
            <a:pPr/>
            <a:r>
              <a:t>Bowing</a:t>
            </a:r>
          </a:p>
        </p:txBody>
      </p:sp>
      <p:sp>
        <p:nvSpPr>
          <p:cNvPr id="294" name="Avoid icon circle 3"/>
          <p:cNvSpPr/>
          <p:nvPr/>
        </p:nvSpPr>
        <p:spPr>
          <a:xfrm>
            <a:off x="4846320" y="3840479"/>
            <a:ext cx="384049" cy="384049"/>
          </a:xfrm>
          <a:prstGeom prst="ellipse">
            <a:avLst/>
          </a:prstGeom>
          <a:solidFill>
            <a:schemeClr val="accent2"/>
          </a:solidFill>
          <a:ln w="12700">
            <a:solidFill>
              <a:schemeClr val="accent2"/>
            </a:solidFill>
          </a:ln>
        </p:spPr>
        <p:txBody>
          <a:bodyPr lIns="45719" rIns="45719"/>
          <a:lstStyle/>
          <a:p>
            <a:pPr/>
          </a:p>
        </p:txBody>
      </p:sp>
      <p:pic>
        <p:nvPicPr>
          <p:cNvPr id="295" name="Avoid icon 3" descr="Avoid icon 3"/>
          <p:cNvPicPr>
            <a:picLocks noChangeAspect="1"/>
          </p:cNvPicPr>
          <p:nvPr/>
        </p:nvPicPr>
        <p:blipFill>
          <a:blip r:embed="rId4">
            <a:extLst/>
          </a:blip>
          <a:stretch>
            <a:fillRect/>
          </a:stretch>
        </p:blipFill>
        <p:spPr>
          <a:xfrm>
            <a:off x="4946903" y="3941064"/>
            <a:ext cx="182881" cy="182881"/>
          </a:xfrm>
          <a:prstGeom prst="rect">
            <a:avLst/>
          </a:prstGeom>
          <a:ln w="12700">
            <a:miter lim="400000"/>
          </a:ln>
        </p:spPr>
      </p:pic>
      <p:sp>
        <p:nvSpPr>
          <p:cNvPr id="296" name="Avoid text 3"/>
          <p:cNvSpPr txBox="1"/>
          <p:nvPr/>
        </p:nvSpPr>
        <p:spPr>
          <a:xfrm>
            <a:off x="5394959" y="3890608"/>
            <a:ext cx="329184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FFFFFF"/>
                </a:solidFill>
              </a:defRPr>
            </a:lvl1pPr>
          </a:lstStyle>
          <a:p>
            <a:pPr/>
            <a:r>
              <a:t>Hugging</a:t>
            </a:r>
          </a:p>
        </p:txBody>
      </p:sp>
      <p:sp>
        <p:nvSpPr>
          <p:cNvPr id="297" name="Slide Number Placeholder 0"/>
          <p:cNvSpPr txBox="1"/>
          <p:nvPr>
            <p:ph type="sldNum" sz="quarter" idx="4294967295"/>
          </p:nvPr>
        </p:nvSpPr>
        <p:spPr>
          <a:xfrm>
            <a:off x="8441397" y="4709159"/>
            <a:ext cx="245404" cy="2269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APA Article"/>
          <p:cNvSpPr txBox="1"/>
          <p:nvPr>
            <p:ph type="title"/>
          </p:nvPr>
        </p:nvSpPr>
        <p:spPr>
          <a:prstGeom prst="rect">
            <a:avLst/>
          </a:prstGeom>
        </p:spPr>
        <p:txBody>
          <a:bodyPr/>
          <a:lstStyle/>
          <a:p>
            <a:pPr/>
            <a:r>
              <a:t>APA Article</a:t>
            </a:r>
          </a:p>
        </p:txBody>
      </p:sp>
      <p:sp>
        <p:nvSpPr>
          <p:cNvPr id="302" name="WASHINGTON - A new study backs up what the etiquette books have been saying all along, that a firm handshake helps makes a good first impression for both males and females. The study, reported in this month's issue of the Journal of Personality and Socia"/>
          <p:cNvSpPr txBox="1"/>
          <p:nvPr/>
        </p:nvSpPr>
        <p:spPr>
          <a:xfrm>
            <a:off x="2267654" y="875030"/>
            <a:ext cx="4608691" cy="339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sz="1700">
                <a:solidFill>
                  <a:srgbClr val="000000"/>
                </a:solidFill>
                <a:latin typeface="Times Roman"/>
                <a:ea typeface="Times Roman"/>
                <a:cs typeface="Times Roman"/>
                <a:sym typeface="Times Roman"/>
              </a:defRPr>
            </a:pPr>
            <a:r>
              <a:t>WASHINGTON - A new study backs up what the etiquette books have been saying all along, that a firm handshake helps makes a good first impression for both males and females. The study, reported in this month's issue of the </a:t>
            </a:r>
            <a:r>
              <a:rPr i="1"/>
              <a:t>Journal of Personality and Social Psychology</a:t>
            </a:r>
            <a:r>
              <a:t>, a journal published by the American Psychological Association (APA), finds that consistent with the etiquette and business literature, there is a substantial relation between the features that characterize a firm handshake (strength, vigor, duration, eye contact and completeness of grip) and a favorable first impression.</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The University of Alabama study involved 112 male and female college students whose handshakes were evaluated by four handshake coders who received one month of training and practice in shaking hands and evaluating handshakes before the study began. The "/>
          <p:cNvSpPr txBox="1"/>
          <p:nvPr/>
        </p:nvSpPr>
        <p:spPr>
          <a:xfrm>
            <a:off x="2027393" y="1211580"/>
            <a:ext cx="5089214" cy="2720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a:solidFill>
                  <a:srgbClr val="000000"/>
                </a:solidFill>
                <a:latin typeface="Times Roman"/>
                <a:ea typeface="Times Roman"/>
                <a:cs typeface="Times Roman"/>
                <a:sym typeface="Times Roman"/>
              </a:defRPr>
            </a:pPr>
            <a:r>
              <a:t>The University of Alabama study involved 112 male and female college students whose handshakes were evaluated by four handshake coders who received one month of training and practice in shaking hands and evaluating handshakes before the study began. The students, who didn't know their handshakes were being evaluated, had their hands shaken eight times (twice with all four experimenters) and they also completed four </a:t>
            </a:r>
            <a:r>
              <a:rPr u="sng">
                <a:solidFill>
                  <a:srgbClr val="0000EE"/>
                </a:solidFill>
                <a:hlinkClick r:id="rId2" invalidUrl="" action="" tgtFrame="" tooltip="" history="1" highlightClick="0" endSnd="0"/>
              </a:rPr>
              <a:t>personality</a:t>
            </a:r>
            <a:r>
              <a:t> questionnaires.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Results of the study, according to lead author William F. Chaplin, PhD, show that a person's handshake is consistent over time and is related to some aspects of his or her personality. Those with a firm handshake were more extraverted and open to experie"/>
          <p:cNvSpPr txBox="1"/>
          <p:nvPr/>
        </p:nvSpPr>
        <p:spPr>
          <a:xfrm>
            <a:off x="1670900" y="1211580"/>
            <a:ext cx="5802200" cy="2720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a:solidFill>
                  <a:srgbClr val="000000"/>
                </a:solidFill>
                <a:latin typeface="Times Roman"/>
                <a:ea typeface="Times Roman"/>
                <a:cs typeface="Times Roman"/>
                <a:sym typeface="Times Roman"/>
              </a:defRPr>
            </a:lvl1pPr>
          </a:lstStyle>
          <a:p>
            <a:pPr/>
            <a:r>
              <a:t>Results of the study, according to lead author William F. Chaplin, PhD, show that a person's handshake is consistent over time and is related to some aspects of his or her personality. Those with a firm handshake were more extraverted and open to experience and less neurotic and shy than those with a less firm or limp handshake. The researchers say these results demonstrate that personality traits, assessed through the self-report, can predict specific behaviors assessed by trained observers.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The study did identify some sex differences. Males were generally found to have firmer handshakes than women. Also, women who are more liberal, intellectual and open to new experiences were found to have a firmer handshake and made a more favorable impre"/>
          <p:cNvSpPr txBox="1"/>
          <p:nvPr/>
        </p:nvSpPr>
        <p:spPr>
          <a:xfrm>
            <a:off x="447829" y="1649729"/>
            <a:ext cx="8248342"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a:solidFill>
                  <a:srgbClr val="000000"/>
                </a:solidFill>
                <a:latin typeface="Times Roman"/>
                <a:ea typeface="Times Roman"/>
                <a:cs typeface="Times Roman"/>
                <a:sym typeface="Times Roman"/>
              </a:defRPr>
            </a:lvl1pPr>
          </a:lstStyle>
          <a:p>
            <a:pPr/>
            <a:r>
              <a:t>The study did identify some sex differences. Males were generally found to have firmer handshakes than women. Also, women who are more liberal, intellectual and open to new experiences were found to have a firmer handshake and made a more favorable impression than women who were less open and had a less firm handshake. For men, the opposite was found; more open men had a slightly less firm handshake and made a somewhat poorer impression than less open men.</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Dr. Chaplin says the implications of the study may be important for self-promotion strategies used by women. &quot;The result of this study differs from the typical finding that women who exhibit confident behavior that is similar to the behavior of men often"/>
          <p:cNvSpPr txBox="1"/>
          <p:nvPr/>
        </p:nvSpPr>
        <p:spPr>
          <a:xfrm>
            <a:off x="1460841" y="1065530"/>
            <a:ext cx="6222318" cy="301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a:solidFill>
                  <a:srgbClr val="000000"/>
                </a:solidFill>
                <a:latin typeface="Times Roman"/>
                <a:ea typeface="Times Roman"/>
                <a:cs typeface="Times Roman"/>
                <a:sym typeface="Times Roman"/>
              </a:defRPr>
            </a:lvl1pPr>
          </a:lstStyle>
          <a:p>
            <a:pPr/>
            <a:r>
              <a:t>Dr. Chaplin says the implications of the study may be important for self-promotion strategies used by women. "The result of this study differs from the typical finding that women who exhibit confident behavior that is similar to the behavior of men often make a more negative impression than the men," said Dr. Chaplin. He says the current study was similar to real-world situations of business contacts and employment interviews where "giving a firm handshake may provide an effective initial form of self-promotion for women that does not have the costs associated with other less subtle forms of assertive self-promotion."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Reflect: Why might this be true?"/>
          <p:cNvSpPr txBox="1"/>
          <p:nvPr>
            <p:ph type="title"/>
          </p:nvPr>
        </p:nvSpPr>
        <p:spPr>
          <a:prstGeom prst="rect">
            <a:avLst/>
          </a:prstGeom>
        </p:spPr>
        <p:txBody>
          <a:bodyPr/>
          <a:lstStyle>
            <a:lvl1pPr defTabSz="850391">
              <a:defRPr sz="4092"/>
            </a:lvl1pPr>
          </a:lstStyle>
          <a:p>
            <a:pPr/>
            <a:r>
              <a:t>Reflect: Why might this be true?</a:t>
            </a:r>
          </a:p>
        </p:txBody>
      </p:sp>
      <p:sp>
        <p:nvSpPr>
          <p:cNvPr id="313" name="Click to add text"/>
          <p:cNvSpPr txBox="1"/>
          <p:nvPr>
            <p:ph type="body" sz="quarter"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Text 0"/>
          <p:cNvSpPr txBox="1"/>
          <p:nvPr>
            <p:ph type="title"/>
          </p:nvPr>
        </p:nvSpPr>
        <p:spPr>
          <a:xfrm>
            <a:off x="548639" y="1371599"/>
            <a:ext cx="5120642" cy="1463042"/>
          </a:xfrm>
          <a:prstGeom prst="rect">
            <a:avLst/>
          </a:prstGeom>
        </p:spPr>
        <p:txBody>
          <a:bodyPr lIns="0" tIns="0" rIns="0" bIns="0" anchor="b"/>
          <a:lstStyle/>
          <a:p>
            <a:pPr/>
            <a:r>
              <a:t>Activity</a:t>
            </a:r>
          </a:p>
        </p:txBody>
      </p:sp>
      <p:sp>
        <p:nvSpPr>
          <p:cNvPr id="316" name="Text 0"/>
          <p:cNvSpPr txBox="1"/>
          <p:nvPr>
            <p:ph type="body" sz="quarter" idx="1"/>
          </p:nvPr>
        </p:nvSpPr>
        <p:spPr>
          <a:xfrm>
            <a:off x="548639" y="3017520"/>
            <a:ext cx="5120642" cy="914401"/>
          </a:xfrm>
          <a:prstGeom prst="rect">
            <a:avLst/>
          </a:prstGeom>
        </p:spPr>
        <p:txBody>
          <a:bodyPr lIns="0" tIns="0" rIns="0" bIns="0"/>
          <a:lstStyle/>
          <a:p>
            <a:pPr/>
            <a:r>
              <a:t>Greeting Roulette: act out the greeting, keep the small talk going for 30 seconds, then the class votes: did it fit?</a:t>
            </a:r>
          </a:p>
        </p:txBody>
      </p:sp>
      <p:sp>
        <p:nvSpPr>
          <p:cNvPr id="317" name="Activity icon circle"/>
          <p:cNvSpPr/>
          <p:nvPr/>
        </p:nvSpPr>
        <p:spPr>
          <a:xfrm>
            <a:off x="6492240" y="1463039"/>
            <a:ext cx="1828801" cy="1828801"/>
          </a:xfrm>
          <a:prstGeom prst="ellipse">
            <a:avLst/>
          </a:prstGeom>
          <a:solidFill>
            <a:schemeClr val="accent1"/>
          </a:solidFill>
          <a:ln w="12700">
            <a:solidFill>
              <a:schemeClr val="accent1"/>
            </a:solidFill>
          </a:ln>
        </p:spPr>
        <p:txBody>
          <a:bodyPr lIns="45719" rIns="45719"/>
          <a:lstStyle/>
          <a:p>
            <a:pPr/>
          </a:p>
        </p:txBody>
      </p:sp>
      <p:pic>
        <p:nvPicPr>
          <p:cNvPr id="318" name="Activity icon" descr="Activity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1</a:t>
            </a:r>
          </a:p>
        </p:txBody>
      </p:sp>
      <p:sp>
        <p:nvSpPr>
          <p:cNvPr id="323" name="Scenario text"/>
          <p:cNvSpPr txBox="1"/>
          <p:nvPr/>
        </p:nvSpPr>
        <p:spPr>
          <a:xfrm>
            <a:off x="548639" y="1600199"/>
            <a:ext cx="5120642" cy="96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Meeting your new boss on your first day</a:t>
            </a:r>
          </a:p>
        </p:txBody>
      </p:sp>
      <p:sp>
        <p:nvSpPr>
          <p:cNvPr id="324"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25"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26"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2</a:t>
            </a:r>
          </a:p>
        </p:txBody>
      </p:sp>
      <p:sp>
        <p:nvSpPr>
          <p:cNvPr id="331" name="Scenario text"/>
          <p:cNvSpPr txBox="1"/>
          <p:nvPr/>
        </p:nvSpPr>
        <p:spPr>
          <a:xfrm>
            <a:off x="548639" y="1600199"/>
            <a:ext cx="5120642"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Your teammate just scored the winning goal</a:t>
            </a:r>
          </a:p>
        </p:txBody>
      </p:sp>
      <p:sp>
        <p:nvSpPr>
          <p:cNvPr id="332"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33"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34"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3</a:t>
            </a:r>
          </a:p>
        </p:txBody>
      </p:sp>
      <p:sp>
        <p:nvSpPr>
          <p:cNvPr id="339" name="Scenario text"/>
          <p:cNvSpPr txBox="1"/>
          <p:nvPr/>
        </p:nvSpPr>
        <p:spPr>
          <a:xfrm>
            <a:off x="548639" y="1600199"/>
            <a:ext cx="5120642"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Running into your teacher at the supermarket</a:t>
            </a:r>
          </a:p>
        </p:txBody>
      </p:sp>
      <p:sp>
        <p:nvSpPr>
          <p:cNvPr id="340"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41"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42"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4</a:t>
            </a:r>
          </a:p>
        </p:txBody>
      </p:sp>
      <p:sp>
        <p:nvSpPr>
          <p:cNvPr id="347" name="Scenario text"/>
          <p:cNvSpPr txBox="1"/>
          <p:nvPr/>
        </p:nvSpPr>
        <p:spPr>
          <a:xfrm>
            <a:off x="548639" y="1600199"/>
            <a:ext cx="5120642"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Meeting your American friend's parents for dinner</a:t>
            </a:r>
          </a:p>
        </p:txBody>
      </p:sp>
      <p:sp>
        <p:nvSpPr>
          <p:cNvPr id="348"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49"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50"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5</a:t>
            </a:r>
          </a:p>
        </p:txBody>
      </p:sp>
      <p:sp>
        <p:nvSpPr>
          <p:cNvPr id="355" name="Scenario text"/>
          <p:cNvSpPr txBox="1"/>
          <p:nvPr/>
        </p:nvSpPr>
        <p:spPr>
          <a:xfrm>
            <a:off x="548639" y="1600199"/>
            <a:ext cx="5120642" cy="96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A job interview in Manhattan</a:t>
            </a:r>
          </a:p>
        </p:txBody>
      </p:sp>
      <p:sp>
        <p:nvSpPr>
          <p:cNvPr id="356"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57"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58"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6</a:t>
            </a:r>
          </a:p>
        </p:txBody>
      </p:sp>
      <p:sp>
        <p:nvSpPr>
          <p:cNvPr id="363" name="Scenario text"/>
          <p:cNvSpPr txBox="1"/>
          <p:nvPr/>
        </p:nvSpPr>
        <p:spPr>
          <a:xfrm>
            <a:off x="548639" y="1600199"/>
            <a:ext cx="5120642" cy="96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Seeing your best friend at a party</a:t>
            </a:r>
          </a:p>
        </p:txBody>
      </p:sp>
      <p:sp>
        <p:nvSpPr>
          <p:cNvPr id="364"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65"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66"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7</a:t>
            </a:r>
          </a:p>
        </p:txBody>
      </p:sp>
      <p:sp>
        <p:nvSpPr>
          <p:cNvPr id="371" name="Scenario text"/>
          <p:cNvSpPr txBox="1"/>
          <p:nvPr/>
        </p:nvSpPr>
        <p:spPr>
          <a:xfrm>
            <a:off x="548639" y="1600199"/>
            <a:ext cx="5120642"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A Japanese business partner arrives at the office</a:t>
            </a:r>
          </a:p>
        </p:txBody>
      </p:sp>
      <p:sp>
        <p:nvSpPr>
          <p:cNvPr id="372"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73"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74"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Scenario number"/>
          <p:cNvSpPr txBox="1"/>
          <p:nvPr/>
        </p:nvSpPr>
        <p:spPr>
          <a:xfrm>
            <a:off x="548640" y="1181468"/>
            <a:ext cx="50292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400">
                <a:solidFill>
                  <a:schemeClr val="accent4"/>
                </a:solidFill>
              </a:defRPr>
            </a:lvl1pPr>
          </a:lstStyle>
          <a:p>
            <a:pPr/>
            <a:r>
              <a:t>SCENARIO 8</a:t>
            </a:r>
          </a:p>
        </p:txBody>
      </p:sp>
      <p:sp>
        <p:nvSpPr>
          <p:cNvPr id="379" name="Scenario text"/>
          <p:cNvSpPr txBox="1"/>
          <p:nvPr/>
        </p:nvSpPr>
        <p:spPr>
          <a:xfrm>
            <a:off x="548639" y="1600199"/>
            <a:ext cx="5120642" cy="96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400">
                <a:latin typeface="Georgia"/>
                <a:ea typeface="Georgia"/>
                <a:cs typeface="Georgia"/>
                <a:sym typeface="Georgia"/>
              </a:defRPr>
            </a:lvl1pPr>
          </a:lstStyle>
          <a:p>
            <a:pPr/>
            <a:r>
              <a:t>Your cousin's new boyfriend says hi</a:t>
            </a:r>
          </a:p>
        </p:txBody>
      </p:sp>
      <p:sp>
        <p:nvSpPr>
          <p:cNvPr id="380" name="Scenario icon circle"/>
          <p:cNvSpPr/>
          <p:nvPr/>
        </p:nvSpPr>
        <p:spPr>
          <a:xfrm>
            <a:off x="6400799" y="1371599"/>
            <a:ext cx="2011682" cy="2011682"/>
          </a:xfrm>
          <a:prstGeom prst="ellipse">
            <a:avLst/>
          </a:prstGeom>
          <a:solidFill>
            <a:schemeClr val="accent1"/>
          </a:solidFill>
          <a:ln w="12700">
            <a:solidFill>
              <a:schemeClr val="accent1"/>
            </a:solidFill>
          </a:ln>
        </p:spPr>
        <p:txBody>
          <a:bodyPr lIns="45719" rIns="45719"/>
          <a:lstStyle/>
          <a:p>
            <a:pPr/>
          </a:p>
        </p:txBody>
      </p:sp>
      <p:pic>
        <p:nvPicPr>
          <p:cNvPr id="381" name="Scenario icon" descr="Scenario icon"/>
          <p:cNvPicPr>
            <a:picLocks noChangeAspect="1"/>
          </p:cNvPicPr>
          <p:nvPr/>
        </p:nvPicPr>
        <p:blipFill>
          <a:blip r:embed="rId3">
            <a:extLst/>
          </a:blip>
          <a:stretch>
            <a:fillRect/>
          </a:stretch>
        </p:blipFill>
        <p:spPr>
          <a:xfrm>
            <a:off x="6949440" y="1920239"/>
            <a:ext cx="914401" cy="914401"/>
          </a:xfrm>
          <a:prstGeom prst="rect">
            <a:avLst/>
          </a:prstGeom>
          <a:ln w="12700">
            <a:miter lim="400000"/>
          </a:ln>
        </p:spPr>
      </p:pic>
      <p:sp>
        <p:nvSpPr>
          <p:cNvPr id="382" name="Slide Number Placeholder 0"/>
          <p:cNvSpPr txBox="1"/>
          <p:nvPr>
            <p:ph type="sldNum" sz="quarter" idx="4294967295"/>
          </p:nvPr>
        </p:nvSpPr>
        <p:spPr>
          <a:xfrm>
            <a:off x="8441397" y="4754879"/>
            <a:ext cx="245404" cy="226987"/>
          </a:xfrm>
          <a:prstGeom prst="rect">
            <a:avLst/>
          </a:prstGeom>
          <a:extLst>
            <a:ext uri="{C572A759-6A51-4108-AA02-DFA0A04FC94B}">
              <ma14:wrappingTextBoxFlag xmlns:ma14="http://schemas.microsoft.com/office/mac/drawingml/2011/main" val="1"/>
            </a:ext>
          </a:extLst>
        </p:spPr>
        <p:txBody>
          <a:bodyPr/>
          <a:lstStyle>
            <a:lvl1pPr>
              <a:defRPr>
                <a:solidFill>
                  <a:schemeClr val="accent4"/>
                </a:solidFill>
              </a:defRPr>
            </a:lvl1p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NYC Greetings">
  <a:themeElements>
    <a:clrScheme name="NYC Greetings">
      <a:dk1>
        <a:srgbClr val="1C1C1C"/>
      </a:dk1>
      <a:lt1>
        <a:srgbClr val="24262B"/>
      </a:lt1>
      <a:dk2>
        <a:srgbClr val="A7A7A7"/>
      </a:dk2>
      <a:lt2>
        <a:srgbClr val="535353"/>
      </a:lt2>
      <a:accent1>
        <a:srgbClr val="F5B700"/>
      </a:accent1>
      <a:accent2>
        <a:srgbClr val="C8102E"/>
      </a:accent2>
      <a:accent3>
        <a:srgbClr val="2E7D4F"/>
      </a:accent3>
      <a:accent4>
        <a:srgbClr val="6B7280"/>
      </a:accent4>
      <a:accent5>
        <a:srgbClr val="3A5A8C"/>
      </a:accent5>
      <a:accent6>
        <a:srgbClr val="D9DCE1"/>
      </a:accent6>
      <a:hlink>
        <a:srgbClr val="0000FF"/>
      </a:hlink>
      <a:folHlink>
        <a:srgbClr val="FF00FF"/>
      </a:folHlink>
    </a:clrScheme>
    <a:fontScheme name="NYC Greetings">
      <a:majorFont>
        <a:latin typeface="Helvetica"/>
        <a:ea typeface="Helvetica"/>
        <a:cs typeface="Helvetica"/>
      </a:majorFont>
      <a:minorFont>
        <a:latin typeface="Arial"/>
        <a:ea typeface="Arial"/>
        <a:cs typeface="Arial"/>
      </a:minorFont>
    </a:fontScheme>
    <a:fmtScheme name="NYC Greeting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NYC Greetings">
  <a:themeElements>
    <a:clrScheme name="NYC Greetings">
      <a:dk1>
        <a:srgbClr val="1C1C1C"/>
      </a:dk1>
      <a:lt1>
        <a:srgbClr val="FFFFFF"/>
      </a:lt1>
      <a:dk2>
        <a:srgbClr val="A7A7A7"/>
      </a:dk2>
      <a:lt2>
        <a:srgbClr val="535353"/>
      </a:lt2>
      <a:accent1>
        <a:srgbClr val="F5B700"/>
      </a:accent1>
      <a:accent2>
        <a:srgbClr val="C8102E"/>
      </a:accent2>
      <a:accent3>
        <a:srgbClr val="2E7D4F"/>
      </a:accent3>
      <a:accent4>
        <a:srgbClr val="6B7280"/>
      </a:accent4>
      <a:accent5>
        <a:srgbClr val="3A5A8C"/>
      </a:accent5>
      <a:accent6>
        <a:srgbClr val="D9DCE1"/>
      </a:accent6>
      <a:hlink>
        <a:srgbClr val="0000FF"/>
      </a:hlink>
      <a:folHlink>
        <a:srgbClr val="FF00FF"/>
      </a:folHlink>
    </a:clrScheme>
    <a:fontScheme name="NYC Greetings">
      <a:majorFont>
        <a:latin typeface="Helvetica"/>
        <a:ea typeface="Helvetica"/>
        <a:cs typeface="Helvetica"/>
      </a:majorFont>
      <a:minorFont>
        <a:latin typeface="Arial"/>
        <a:ea typeface="Arial"/>
        <a:cs typeface="Arial"/>
      </a:minorFont>
    </a:fontScheme>
    <a:fmtScheme name="NYC Greeting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C1C1C"/>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