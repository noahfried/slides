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6" name="Shape 1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3" name="Shape 1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Warm-up: Which of these games have you seen in a film or played as a video game? Pre-teach "hit / stand / bust" by acting them out. Link back to the dice game: our game kept about 1/6 of each bet (around 17%), far more than real roulette. Why do casinos not need a big edge? (Lots of bets, every day.)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100"/>
            </a:lvl1pPr>
          </a:lstStyle>
          <a:p>
            <a:pPr/>
            <a:r>
              <a:t>Poker is the odd one out: players bet against each other, so skill matters and the casino just takes a fee. Ask: Is poker gambling or a skill game? (Link to Austria: sports betting counts legally as a game of skill.) Pronunciation: baccarat = BACK-uh-rah (the final t is silent). Quick quiz: Which bet on this slide is the worst deal for the player? (The baccarat Tie bet, 14.4%.)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Text"/>
          <p:cNvSpPr txBox="1"/>
          <p:nvPr>
            <p:ph type="title"/>
          </p:nvPr>
        </p:nvSpPr>
        <p:spPr>
          <a:xfrm>
            <a:off x="609600" y="750539"/>
            <a:ext cx="7924800" cy="37710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5000"/>
              </a:lnSpc>
              <a:defRPr sz="2700">
                <a:solidFill>
                  <a:srgbClr val="16202C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8" name="Body Level One…"/>
          <p:cNvSpPr txBox="1"/>
          <p:nvPr>
            <p:ph type="body" idx="1"/>
          </p:nvPr>
        </p:nvSpPr>
        <p:spPr>
          <a:xfrm>
            <a:off x="609600" y="1356308"/>
            <a:ext cx="7924800" cy="3177601"/>
          </a:xfrm>
          <a:prstGeom prst="rect">
            <a:avLst/>
          </a:prstGeom>
        </p:spPr>
        <p:txBody>
          <a:bodyPr lIns="0" tIns="0" rIns="0" bIns="0"/>
          <a:lstStyle>
            <a:lvl1pPr marL="228600" indent="0">
              <a:lnSpc>
                <a:spcPct val="140000"/>
              </a:lnSpc>
              <a:spcBef>
                <a:spcPts val="200"/>
              </a:spcBef>
              <a:buClrTx/>
              <a:buSzTx/>
              <a:buFontTx/>
              <a:buNone/>
              <a:defRPr sz="1200">
                <a:solidFill>
                  <a:srgbClr val="16202C"/>
                </a:solidFill>
              </a:defRPr>
            </a:lvl1pPr>
            <a:lvl2pPr marL="869042" indent="-272142">
              <a:lnSpc>
                <a:spcPct val="140000"/>
              </a:lnSpc>
              <a:spcBef>
                <a:spcPts val="200"/>
              </a:spcBef>
              <a:buClrTx/>
              <a:buSzPts val="1200"/>
              <a:buFontTx/>
              <a:defRPr sz="1200">
                <a:solidFill>
                  <a:srgbClr val="16202C"/>
                </a:solidFill>
              </a:defRPr>
            </a:lvl2pPr>
            <a:lvl3pPr marL="1326242" indent="-272142">
              <a:lnSpc>
                <a:spcPct val="140000"/>
              </a:lnSpc>
              <a:spcBef>
                <a:spcPts val="200"/>
              </a:spcBef>
              <a:buClrTx/>
              <a:buSzPts val="1200"/>
              <a:buFontTx/>
              <a:defRPr sz="1200">
                <a:solidFill>
                  <a:srgbClr val="16202C"/>
                </a:solidFill>
              </a:defRPr>
            </a:lvl3pPr>
            <a:lvl4pPr marL="1783442" indent="-272142">
              <a:lnSpc>
                <a:spcPct val="140000"/>
              </a:lnSpc>
              <a:spcBef>
                <a:spcPts val="200"/>
              </a:spcBef>
              <a:buClrTx/>
              <a:buSzPts val="1200"/>
              <a:buFontTx/>
              <a:defRPr sz="1200">
                <a:solidFill>
                  <a:srgbClr val="16202C"/>
                </a:solidFill>
              </a:defRPr>
            </a:lvl4pPr>
            <a:lvl5pPr marL="2240642" indent="-272142">
              <a:lnSpc>
                <a:spcPct val="140000"/>
              </a:lnSpc>
              <a:spcBef>
                <a:spcPts val="200"/>
              </a:spcBef>
              <a:buClrTx/>
              <a:buSzPts val="1200"/>
              <a:buFontTx/>
              <a:defRPr sz="1200">
                <a:solidFill>
                  <a:srgbClr val="16202C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lide Number"/>
          <p:cNvSpPr txBox="1"/>
          <p:nvPr>
            <p:ph type="sldNum" sz="quarter" idx="2"/>
          </p:nvPr>
        </p:nvSpPr>
        <p:spPr>
          <a:xfrm>
            <a:off x="4419600" y="4608064"/>
            <a:ext cx="2133600" cy="318397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youtube.com/watch?v=8LSj-W7WUpA" TargetMode="External"/><Relationship Id="rId3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3" Type="http://schemas.openxmlformats.org/officeDocument/2006/relationships/image" Target="../media/image3.jpe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57;p14"/>
          <p:cNvSpPr txBox="1"/>
          <p:nvPr>
            <p:ph type="ctrTitle"/>
          </p:nvPr>
        </p:nvSpPr>
        <p:spPr>
          <a:xfrm>
            <a:off x="311707" y="744575"/>
            <a:ext cx="8520602" cy="2052599"/>
          </a:xfrm>
          <a:prstGeom prst="rect">
            <a:avLst/>
          </a:prstGeom>
        </p:spPr>
        <p:txBody>
          <a:bodyPr/>
          <a:lstStyle/>
          <a:p>
            <a:pPr/>
            <a:r>
              <a:t>Gambling</a:t>
            </a:r>
          </a:p>
        </p:txBody>
      </p:sp>
      <p:sp>
        <p:nvSpPr>
          <p:cNvPr id="119" name="Google Shape;58;p14"/>
          <p:cNvSpPr txBox="1"/>
          <p:nvPr>
            <p:ph type="subTitle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/>
          <a:p>
            <a:pPr marL="0" indent="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63;p15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Question: Is gambling legal in the US?</a:t>
            </a:r>
          </a:p>
        </p:txBody>
      </p:sp>
      <p:sp>
        <p:nvSpPr>
          <p:cNvPr id="122" name="Google Shape;64;p15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123" name="Google Shape;65;p15" descr="Google Shape;65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4374" y="1234149"/>
            <a:ext cx="3788750" cy="25258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Google Shape;66;p15" descr="Google Shape;66;p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38725" y="1270699"/>
            <a:ext cx="3733899" cy="2489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71;p16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It’s complicated.</a:t>
            </a:r>
          </a:p>
        </p:txBody>
      </p:sp>
      <p:sp>
        <p:nvSpPr>
          <p:cNvPr id="127" name="Google Shape;72;p16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128" name="Google Shape;73;p16" descr="Google Shape;73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73461" y="1074475"/>
            <a:ext cx="2597077" cy="38570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78;p17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Casinos</a:t>
            </a:r>
          </a:p>
        </p:txBody>
      </p:sp>
      <p:sp>
        <p:nvSpPr>
          <p:cNvPr id="131" name="Google Shape;79;p17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132" name="Google Shape;80;p17" descr="Google Shape;80;p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1833" y="1152475"/>
            <a:ext cx="2278714" cy="3416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Google Shape;81;p17" descr="Google Shape;81;p1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69602" y="2046628"/>
            <a:ext cx="3689175" cy="1536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87;p18"/>
          <p:cNvSpPr txBox="1"/>
          <p:nvPr/>
        </p:nvSpPr>
        <p:spPr>
          <a:xfrm>
            <a:off x="609599" y="533399"/>
            <a:ext cx="81627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b="1" spc="100" sz="900">
                <a:solidFill>
                  <a:srgbClr val="1D4F91"/>
                </a:solidFill>
              </a:defRPr>
            </a:lvl1pPr>
          </a:lstStyle>
          <a:p>
            <a:pPr/>
            <a:r>
              <a:t>CASINO GAMES · 1 OF 2</a:t>
            </a:r>
          </a:p>
        </p:txBody>
      </p:sp>
      <p:sp>
        <p:nvSpPr>
          <p:cNvPr id="136" name="Google Shape;88;p18"/>
          <p:cNvSpPr txBox="1"/>
          <p:nvPr>
            <p:ph type="title"/>
          </p:nvPr>
        </p:nvSpPr>
        <p:spPr>
          <a:xfrm>
            <a:off x="609599" y="750539"/>
            <a:ext cx="8162702" cy="396301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b="1" sz="2400"/>
            </a:lvl1pPr>
          </a:lstStyle>
          <a:p>
            <a:pPr/>
            <a:r>
              <a:t>How do casino games work?</a:t>
            </a:r>
          </a:p>
        </p:txBody>
      </p:sp>
      <p:sp>
        <p:nvSpPr>
          <p:cNvPr id="137" name="Google Shape;89;p18"/>
          <p:cNvSpPr/>
          <p:nvPr/>
        </p:nvSpPr>
        <p:spPr>
          <a:xfrm>
            <a:off x="611981" y="1339640"/>
            <a:ext cx="2509800" cy="3039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7150">
            <a:solidFill>
              <a:srgbClr val="E2DED5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38" name="Google Shape;90;p18"/>
          <p:cNvSpPr txBox="1"/>
          <p:nvPr/>
        </p:nvSpPr>
        <p:spPr>
          <a:xfrm>
            <a:off x="804862" y="1532520"/>
            <a:ext cx="21879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800">
                <a:solidFill>
                  <a:srgbClr val="16202C"/>
                </a:solidFill>
              </a:defRPr>
            </a:lvl1pPr>
          </a:lstStyle>
          <a:p>
            <a:pPr/>
            <a:r>
              <a:t>Roulette</a:t>
            </a:r>
          </a:p>
        </p:txBody>
      </p:sp>
      <p:sp>
        <p:nvSpPr>
          <p:cNvPr id="139" name="Google Shape;91;p18"/>
          <p:cNvSpPr txBox="1"/>
          <p:nvPr/>
        </p:nvSpPr>
        <p:spPr>
          <a:xfrm>
            <a:off x="804862" y="1879215"/>
            <a:ext cx="2187901" cy="782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3A4654"/>
                </a:solidFill>
              </a:defRPr>
            </a:lvl1pPr>
          </a:lstStyle>
          <a:p>
            <a:pPr/>
            <a:r>
              <a:t>The dealer spins a wheel and rolls a small ball. Bet on where it stops: a number, red or black, odd or even.</a:t>
            </a:r>
          </a:p>
        </p:txBody>
      </p:sp>
      <p:sp>
        <p:nvSpPr>
          <p:cNvPr id="140" name="Google Shape;92;p18"/>
          <p:cNvSpPr txBox="1"/>
          <p:nvPr/>
        </p:nvSpPr>
        <p:spPr>
          <a:xfrm>
            <a:off x="804862" y="2721137"/>
            <a:ext cx="23145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3A4654"/>
                </a:solidFill>
              </a:defRPr>
            </a:pPr>
            <a:r>
              <a:t>Words:</a:t>
            </a:r>
            <a:r>
              <a:rPr b="0"/>
              <a:t> wheel · spin · bet on · red / black</a:t>
            </a:r>
          </a:p>
        </p:txBody>
      </p:sp>
      <p:sp>
        <p:nvSpPr>
          <p:cNvPr id="141" name="Google Shape;93;p18"/>
          <p:cNvSpPr/>
          <p:nvPr/>
        </p:nvSpPr>
        <p:spPr>
          <a:xfrm>
            <a:off x="804862" y="3446226"/>
            <a:ext cx="2124002" cy="1"/>
          </a:xfrm>
          <a:prstGeom prst="line">
            <a:avLst/>
          </a:prstGeom>
          <a:ln>
            <a:solidFill>
              <a:srgbClr val="E2DE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42" name="Google Shape;94;p18"/>
          <p:cNvSpPr txBox="1"/>
          <p:nvPr/>
        </p:nvSpPr>
        <p:spPr>
          <a:xfrm>
            <a:off x="804862" y="3546238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b="1" spc="100" sz="900">
                <a:solidFill>
                  <a:srgbClr val="5A6573"/>
                </a:solidFill>
              </a:defRPr>
            </a:lvl1pPr>
          </a:lstStyle>
          <a:p>
            <a:pPr/>
            <a:r>
              <a:t>HOUSE EDGE</a:t>
            </a:r>
          </a:p>
        </p:txBody>
      </p:sp>
      <p:sp>
        <p:nvSpPr>
          <p:cNvPr id="143" name="Google Shape;95;p18"/>
          <p:cNvSpPr txBox="1"/>
          <p:nvPr/>
        </p:nvSpPr>
        <p:spPr>
          <a:xfrm>
            <a:off x="804862" y="3725278"/>
            <a:ext cx="2187901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2100">
                <a:solidFill>
                  <a:srgbClr val="B4561A"/>
                </a:solidFill>
              </a:defRPr>
            </a:lvl1pPr>
          </a:lstStyle>
          <a:p>
            <a:pPr/>
            <a:r>
              <a:t>2.7%</a:t>
            </a:r>
          </a:p>
        </p:txBody>
      </p:sp>
      <p:sp>
        <p:nvSpPr>
          <p:cNvPr id="144" name="Google Shape;96;p18"/>
          <p:cNvSpPr txBox="1"/>
          <p:nvPr/>
        </p:nvSpPr>
        <p:spPr>
          <a:xfrm>
            <a:off x="804862" y="4037669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5A6573"/>
                </a:solidFill>
              </a:defRPr>
            </a:lvl1pPr>
          </a:lstStyle>
          <a:p>
            <a:pPr/>
            <a:r>
              <a:t>European wheel; 5.3% in the US</a:t>
            </a:r>
          </a:p>
        </p:txBody>
      </p:sp>
      <p:sp>
        <p:nvSpPr>
          <p:cNvPr id="145" name="Google Shape;97;p18"/>
          <p:cNvSpPr/>
          <p:nvPr/>
        </p:nvSpPr>
        <p:spPr>
          <a:xfrm>
            <a:off x="3317080" y="1339640"/>
            <a:ext cx="2509801" cy="3039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7150">
            <a:solidFill>
              <a:srgbClr val="E2DED5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46" name="Google Shape;98;p18"/>
          <p:cNvSpPr txBox="1"/>
          <p:nvPr/>
        </p:nvSpPr>
        <p:spPr>
          <a:xfrm>
            <a:off x="3509962" y="1532520"/>
            <a:ext cx="21879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800">
                <a:solidFill>
                  <a:srgbClr val="16202C"/>
                </a:solidFill>
              </a:defRPr>
            </a:lvl1pPr>
          </a:lstStyle>
          <a:p>
            <a:pPr/>
            <a:r>
              <a:t>Blackjack</a:t>
            </a:r>
          </a:p>
        </p:txBody>
      </p:sp>
      <p:sp>
        <p:nvSpPr>
          <p:cNvPr id="147" name="Google Shape;99;p18"/>
          <p:cNvSpPr txBox="1"/>
          <p:nvPr/>
        </p:nvSpPr>
        <p:spPr>
          <a:xfrm>
            <a:off x="3509962" y="1879215"/>
            <a:ext cx="2187901" cy="570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3A4654"/>
                </a:solidFill>
              </a:defRPr>
            </a:lvl1pPr>
          </a:lstStyle>
          <a:p>
            <a:pPr/>
            <a:r>
              <a:t>Get closer to 21 than the dealer without going over. Take another card (“hit”) or stop (“stand”).</a:t>
            </a:r>
          </a:p>
        </p:txBody>
      </p:sp>
      <p:sp>
        <p:nvSpPr>
          <p:cNvPr id="148" name="Google Shape;100;p18"/>
          <p:cNvSpPr txBox="1"/>
          <p:nvPr/>
        </p:nvSpPr>
        <p:spPr>
          <a:xfrm>
            <a:off x="3509962" y="2534467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3A4654"/>
                </a:solidFill>
              </a:defRPr>
            </a:pPr>
            <a:r>
              <a:t>Words:</a:t>
            </a:r>
            <a:r>
              <a:rPr b="0"/>
              <a:t> hit · stand · bust · dealer</a:t>
            </a:r>
          </a:p>
        </p:txBody>
      </p:sp>
      <p:sp>
        <p:nvSpPr>
          <p:cNvPr id="149" name="Google Shape;101;p18"/>
          <p:cNvSpPr/>
          <p:nvPr/>
        </p:nvSpPr>
        <p:spPr>
          <a:xfrm>
            <a:off x="3509962" y="3446226"/>
            <a:ext cx="2124001" cy="1"/>
          </a:xfrm>
          <a:prstGeom prst="line">
            <a:avLst/>
          </a:prstGeom>
          <a:ln>
            <a:solidFill>
              <a:srgbClr val="E2DE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0" name="Google Shape;102;p18"/>
          <p:cNvSpPr txBox="1"/>
          <p:nvPr/>
        </p:nvSpPr>
        <p:spPr>
          <a:xfrm>
            <a:off x="3509962" y="3546238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b="1" spc="100" sz="900">
                <a:solidFill>
                  <a:srgbClr val="5A6573"/>
                </a:solidFill>
              </a:defRPr>
            </a:lvl1pPr>
          </a:lstStyle>
          <a:p>
            <a:pPr/>
            <a:r>
              <a:t>HOUSE EDGE</a:t>
            </a:r>
          </a:p>
        </p:txBody>
      </p:sp>
      <p:sp>
        <p:nvSpPr>
          <p:cNvPr id="151" name="Google Shape;103;p18"/>
          <p:cNvSpPr txBox="1"/>
          <p:nvPr/>
        </p:nvSpPr>
        <p:spPr>
          <a:xfrm>
            <a:off x="3509962" y="3725278"/>
            <a:ext cx="2187901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2100">
                <a:solidFill>
                  <a:srgbClr val="B4561A"/>
                </a:solidFill>
              </a:defRPr>
            </a:lvl1pPr>
          </a:lstStyle>
          <a:p>
            <a:pPr/>
            <a:r>
              <a:t>~0.5%</a:t>
            </a:r>
          </a:p>
        </p:txBody>
      </p:sp>
      <p:sp>
        <p:nvSpPr>
          <p:cNvPr id="152" name="Google Shape;104;p18"/>
          <p:cNvSpPr txBox="1"/>
          <p:nvPr/>
        </p:nvSpPr>
        <p:spPr>
          <a:xfrm>
            <a:off x="3509962" y="4037669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5A6573"/>
                </a:solidFill>
              </a:defRPr>
            </a:lvl1pPr>
          </a:lstStyle>
          <a:p>
            <a:pPr/>
            <a:r>
              <a:t>only with perfect play</a:t>
            </a:r>
          </a:p>
        </p:txBody>
      </p:sp>
      <p:sp>
        <p:nvSpPr>
          <p:cNvPr id="153" name="Google Shape;105;p18"/>
          <p:cNvSpPr/>
          <p:nvPr/>
        </p:nvSpPr>
        <p:spPr>
          <a:xfrm>
            <a:off x="6022180" y="1339640"/>
            <a:ext cx="2509801" cy="3039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7150">
            <a:solidFill>
              <a:srgbClr val="E2DED5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54" name="Google Shape;106;p18"/>
          <p:cNvSpPr txBox="1"/>
          <p:nvPr/>
        </p:nvSpPr>
        <p:spPr>
          <a:xfrm>
            <a:off x="6215062" y="1532520"/>
            <a:ext cx="21879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800">
                <a:solidFill>
                  <a:srgbClr val="16202C"/>
                </a:solidFill>
              </a:defRPr>
            </a:lvl1pPr>
          </a:lstStyle>
          <a:p>
            <a:pPr/>
            <a:r>
              <a:t>Slot machines</a:t>
            </a:r>
          </a:p>
        </p:txBody>
      </p:sp>
      <p:sp>
        <p:nvSpPr>
          <p:cNvPr id="155" name="Google Shape;107;p18"/>
          <p:cNvSpPr txBox="1"/>
          <p:nvPr/>
        </p:nvSpPr>
        <p:spPr>
          <a:xfrm>
            <a:off x="6215062" y="1879215"/>
            <a:ext cx="2187901" cy="570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3A4654"/>
                </a:solidFill>
              </a:defRPr>
            </a:lvl1pPr>
          </a:lstStyle>
          <a:p>
            <a:pPr/>
            <a:r>
              <a:t>Put in money and press “spin”. The reels stop at random; matching symbols in a line win a prize.</a:t>
            </a:r>
          </a:p>
        </p:txBody>
      </p:sp>
      <p:sp>
        <p:nvSpPr>
          <p:cNvPr id="156" name="Google Shape;108;p18"/>
          <p:cNvSpPr txBox="1"/>
          <p:nvPr/>
        </p:nvSpPr>
        <p:spPr>
          <a:xfrm>
            <a:off x="6215062" y="2534467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3A4654"/>
                </a:solidFill>
              </a:defRPr>
            </a:pPr>
            <a:r>
              <a:t>Words:</a:t>
            </a:r>
            <a:r>
              <a:rPr b="0"/>
              <a:t> reel · jackpot · payout · spin</a:t>
            </a:r>
          </a:p>
        </p:txBody>
      </p:sp>
      <p:sp>
        <p:nvSpPr>
          <p:cNvPr id="157" name="Google Shape;109;p18"/>
          <p:cNvSpPr/>
          <p:nvPr/>
        </p:nvSpPr>
        <p:spPr>
          <a:xfrm>
            <a:off x="6215062" y="3446226"/>
            <a:ext cx="2124001" cy="1"/>
          </a:xfrm>
          <a:prstGeom prst="line">
            <a:avLst/>
          </a:prstGeom>
          <a:ln>
            <a:solidFill>
              <a:srgbClr val="E2DE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58" name="Google Shape;110;p18"/>
          <p:cNvSpPr txBox="1"/>
          <p:nvPr/>
        </p:nvSpPr>
        <p:spPr>
          <a:xfrm>
            <a:off x="6215062" y="3546238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b="1" spc="100" sz="900">
                <a:solidFill>
                  <a:srgbClr val="5A6573"/>
                </a:solidFill>
              </a:defRPr>
            </a:lvl1pPr>
          </a:lstStyle>
          <a:p>
            <a:pPr/>
            <a:r>
              <a:t>HOUSE EDGE</a:t>
            </a:r>
          </a:p>
        </p:txBody>
      </p:sp>
      <p:sp>
        <p:nvSpPr>
          <p:cNvPr id="159" name="Google Shape;111;p18"/>
          <p:cNvSpPr txBox="1"/>
          <p:nvPr/>
        </p:nvSpPr>
        <p:spPr>
          <a:xfrm>
            <a:off x="6215062" y="3725278"/>
            <a:ext cx="2187901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2100">
                <a:solidFill>
                  <a:srgbClr val="B4561A"/>
                </a:solidFill>
              </a:defRPr>
            </a:lvl1pPr>
          </a:lstStyle>
          <a:p>
            <a:pPr/>
            <a:r>
              <a:t>2–15%</a:t>
            </a:r>
          </a:p>
        </p:txBody>
      </p:sp>
      <p:sp>
        <p:nvSpPr>
          <p:cNvPr id="160" name="Google Shape;112;p18"/>
          <p:cNvSpPr txBox="1"/>
          <p:nvPr/>
        </p:nvSpPr>
        <p:spPr>
          <a:xfrm>
            <a:off x="6215062" y="4037669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5A6573"/>
                </a:solidFill>
              </a:defRPr>
            </a:lvl1pPr>
          </a:lstStyle>
          <a:p>
            <a:pPr/>
            <a:r>
              <a:t>depends on the machine</a:t>
            </a:r>
          </a:p>
        </p:txBody>
      </p:sp>
      <p:sp>
        <p:nvSpPr>
          <p:cNvPr id="161" name="Google Shape;113;p18"/>
          <p:cNvSpPr txBox="1"/>
          <p:nvPr/>
        </p:nvSpPr>
        <p:spPr>
          <a:xfrm>
            <a:off x="609599" y="4678710"/>
            <a:ext cx="81627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5A6573"/>
                </a:solidFill>
              </a:defRPr>
            </a:pPr>
            <a:r>
              <a:t>House edge</a:t>
            </a:r>
            <a:r>
              <a:rPr b="0"/>
              <a:t> = the share of every bet the casino keeps on average, in the long run.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19;p19"/>
          <p:cNvSpPr txBox="1"/>
          <p:nvPr/>
        </p:nvSpPr>
        <p:spPr>
          <a:xfrm>
            <a:off x="609599" y="533399"/>
            <a:ext cx="81627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b="1" spc="100" sz="900">
                <a:solidFill>
                  <a:srgbClr val="1D4F91"/>
                </a:solidFill>
              </a:defRPr>
            </a:lvl1pPr>
          </a:lstStyle>
          <a:p>
            <a:pPr/>
            <a:r>
              <a:t>CASINO GAMES · 2 OF 2</a:t>
            </a:r>
          </a:p>
        </p:txBody>
      </p:sp>
      <p:sp>
        <p:nvSpPr>
          <p:cNvPr id="166" name="Google Shape;120;p19"/>
          <p:cNvSpPr txBox="1"/>
          <p:nvPr>
            <p:ph type="title"/>
          </p:nvPr>
        </p:nvSpPr>
        <p:spPr>
          <a:xfrm>
            <a:off x="609599" y="750539"/>
            <a:ext cx="8162702" cy="396301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b="1" sz="2400"/>
            </a:lvl1pPr>
          </a:lstStyle>
          <a:p>
            <a:pPr/>
            <a:r>
              <a:t>How do casino games work?</a:t>
            </a:r>
          </a:p>
        </p:txBody>
      </p:sp>
      <p:sp>
        <p:nvSpPr>
          <p:cNvPr id="167" name="Google Shape;121;p19"/>
          <p:cNvSpPr/>
          <p:nvPr/>
        </p:nvSpPr>
        <p:spPr>
          <a:xfrm>
            <a:off x="611981" y="1339640"/>
            <a:ext cx="2509800" cy="3039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7150">
            <a:solidFill>
              <a:srgbClr val="E2DED5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68" name="Google Shape;122;p19"/>
          <p:cNvSpPr txBox="1"/>
          <p:nvPr/>
        </p:nvSpPr>
        <p:spPr>
          <a:xfrm>
            <a:off x="804862" y="1532520"/>
            <a:ext cx="21879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800">
                <a:solidFill>
                  <a:srgbClr val="16202C"/>
                </a:solidFill>
              </a:defRPr>
            </a:lvl1pPr>
          </a:lstStyle>
          <a:p>
            <a:pPr/>
            <a:r>
              <a:t>Poker</a:t>
            </a:r>
          </a:p>
        </p:txBody>
      </p:sp>
      <p:sp>
        <p:nvSpPr>
          <p:cNvPr id="169" name="Google Shape;123;p19"/>
          <p:cNvSpPr txBox="1"/>
          <p:nvPr/>
        </p:nvSpPr>
        <p:spPr>
          <a:xfrm>
            <a:off x="804862" y="1879215"/>
            <a:ext cx="2187901" cy="782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3A4654"/>
                </a:solidFill>
              </a:defRPr>
            </a:lvl1pPr>
          </a:lstStyle>
          <a:p>
            <a:pPr/>
            <a:r>
              <a:t>Everyone gets 2 secret cards, then 5 shared cards are dealt. Make the best hand, or bluff so the others give up.</a:t>
            </a:r>
          </a:p>
        </p:txBody>
      </p:sp>
      <p:sp>
        <p:nvSpPr>
          <p:cNvPr id="170" name="Google Shape;124;p19"/>
          <p:cNvSpPr txBox="1"/>
          <p:nvPr/>
        </p:nvSpPr>
        <p:spPr>
          <a:xfrm>
            <a:off x="804862" y="2721137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3A4654"/>
                </a:solidFill>
              </a:defRPr>
            </a:pPr>
            <a:r>
              <a:t>Words:</a:t>
            </a:r>
            <a:r>
              <a:rPr b="0"/>
              <a:t> fold · call · raise · bluff</a:t>
            </a:r>
          </a:p>
        </p:txBody>
      </p:sp>
      <p:sp>
        <p:nvSpPr>
          <p:cNvPr id="171" name="Google Shape;125;p19"/>
          <p:cNvSpPr/>
          <p:nvPr/>
        </p:nvSpPr>
        <p:spPr>
          <a:xfrm>
            <a:off x="804862" y="3446226"/>
            <a:ext cx="2124002" cy="1"/>
          </a:xfrm>
          <a:prstGeom prst="line">
            <a:avLst/>
          </a:prstGeom>
          <a:ln>
            <a:solidFill>
              <a:srgbClr val="E2DE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72" name="Google Shape;126;p19"/>
          <p:cNvSpPr txBox="1"/>
          <p:nvPr/>
        </p:nvSpPr>
        <p:spPr>
          <a:xfrm>
            <a:off x="804862" y="3546238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b="1" spc="100" sz="900">
                <a:solidFill>
                  <a:srgbClr val="5A6573"/>
                </a:solidFill>
              </a:defRPr>
            </a:lvl1pPr>
          </a:lstStyle>
          <a:p>
            <a:pPr/>
            <a:r>
              <a:t>THE CASINO'S CUT</a:t>
            </a:r>
          </a:p>
        </p:txBody>
      </p:sp>
      <p:sp>
        <p:nvSpPr>
          <p:cNvPr id="173" name="Google Shape;127;p19"/>
          <p:cNvSpPr txBox="1"/>
          <p:nvPr/>
        </p:nvSpPr>
        <p:spPr>
          <a:xfrm>
            <a:off x="804862" y="3725278"/>
            <a:ext cx="2187901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2100">
                <a:solidFill>
                  <a:srgbClr val="B4561A"/>
                </a:solidFill>
              </a:defRPr>
            </a:lvl1pPr>
          </a:lstStyle>
          <a:p>
            <a:pPr/>
            <a:r>
              <a:t>~5%</a:t>
            </a:r>
          </a:p>
        </p:txBody>
      </p:sp>
      <p:sp>
        <p:nvSpPr>
          <p:cNvPr id="174" name="Google Shape;128;p19"/>
          <p:cNvSpPr txBox="1"/>
          <p:nvPr/>
        </p:nvSpPr>
        <p:spPr>
          <a:xfrm>
            <a:off x="804862" y="4037669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5A6573"/>
                </a:solidFill>
              </a:defRPr>
            </a:lvl1pPr>
          </a:lstStyle>
          <a:p>
            <a:pPr/>
            <a:r>
              <a:t>fee (“rake”) from each pot</a:t>
            </a:r>
          </a:p>
        </p:txBody>
      </p:sp>
      <p:sp>
        <p:nvSpPr>
          <p:cNvPr id="175" name="Google Shape;129;p19"/>
          <p:cNvSpPr/>
          <p:nvPr/>
        </p:nvSpPr>
        <p:spPr>
          <a:xfrm>
            <a:off x="3317080" y="1339640"/>
            <a:ext cx="2509801" cy="3039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7150">
            <a:solidFill>
              <a:srgbClr val="E2DED5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76" name="Google Shape;130;p19"/>
          <p:cNvSpPr txBox="1"/>
          <p:nvPr/>
        </p:nvSpPr>
        <p:spPr>
          <a:xfrm>
            <a:off x="3509962" y="1532520"/>
            <a:ext cx="21879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800">
                <a:solidFill>
                  <a:srgbClr val="16202C"/>
                </a:solidFill>
              </a:defRPr>
            </a:lvl1pPr>
          </a:lstStyle>
          <a:p>
            <a:pPr/>
            <a:r>
              <a:t>Baccarat</a:t>
            </a:r>
          </a:p>
        </p:txBody>
      </p:sp>
      <p:sp>
        <p:nvSpPr>
          <p:cNvPr id="177" name="Google Shape;131;p19"/>
          <p:cNvSpPr txBox="1"/>
          <p:nvPr/>
        </p:nvSpPr>
        <p:spPr>
          <a:xfrm>
            <a:off x="3509962" y="1879215"/>
            <a:ext cx="2187901" cy="782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3A4654"/>
                </a:solidFill>
              </a:defRPr>
            </a:lvl1pPr>
          </a:lstStyle>
          <a:p>
            <a:pPr/>
            <a:r>
              <a:t>Bet on the “Player” or the “Banker” hand. The hand closest to 9 wins. You only choose your bet; the dealer does the rest.</a:t>
            </a:r>
          </a:p>
        </p:txBody>
      </p:sp>
      <p:sp>
        <p:nvSpPr>
          <p:cNvPr id="178" name="Google Shape;132;p19"/>
          <p:cNvSpPr txBox="1"/>
          <p:nvPr/>
        </p:nvSpPr>
        <p:spPr>
          <a:xfrm>
            <a:off x="3509962" y="2721137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3A4654"/>
                </a:solidFill>
              </a:defRPr>
            </a:pPr>
            <a:r>
              <a:t>Words:</a:t>
            </a:r>
            <a:r>
              <a:rPr b="0"/>
              <a:t> hand · banker · tie · deal</a:t>
            </a:r>
          </a:p>
        </p:txBody>
      </p:sp>
      <p:sp>
        <p:nvSpPr>
          <p:cNvPr id="179" name="Google Shape;133;p19"/>
          <p:cNvSpPr/>
          <p:nvPr/>
        </p:nvSpPr>
        <p:spPr>
          <a:xfrm>
            <a:off x="3509962" y="3446226"/>
            <a:ext cx="2124001" cy="1"/>
          </a:xfrm>
          <a:prstGeom prst="line">
            <a:avLst/>
          </a:prstGeom>
          <a:ln>
            <a:solidFill>
              <a:srgbClr val="E2DE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0" name="Google Shape;134;p19"/>
          <p:cNvSpPr txBox="1"/>
          <p:nvPr/>
        </p:nvSpPr>
        <p:spPr>
          <a:xfrm>
            <a:off x="3509962" y="3546238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b="1" spc="100" sz="900">
                <a:solidFill>
                  <a:srgbClr val="5A6573"/>
                </a:solidFill>
              </a:defRPr>
            </a:lvl1pPr>
          </a:lstStyle>
          <a:p>
            <a:pPr/>
            <a:r>
              <a:t>HOUSE EDGE</a:t>
            </a:r>
          </a:p>
        </p:txBody>
      </p:sp>
      <p:sp>
        <p:nvSpPr>
          <p:cNvPr id="181" name="Google Shape;135;p19"/>
          <p:cNvSpPr txBox="1"/>
          <p:nvPr/>
        </p:nvSpPr>
        <p:spPr>
          <a:xfrm>
            <a:off x="3509962" y="3725278"/>
            <a:ext cx="2187901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2100">
                <a:solidFill>
                  <a:srgbClr val="B4561A"/>
                </a:solidFill>
              </a:defRPr>
            </a:lvl1pPr>
          </a:lstStyle>
          <a:p>
            <a:pPr/>
            <a:r>
              <a:t>1.1%</a:t>
            </a:r>
          </a:p>
        </p:txBody>
      </p:sp>
      <p:sp>
        <p:nvSpPr>
          <p:cNvPr id="182" name="Google Shape;136;p19"/>
          <p:cNvSpPr txBox="1"/>
          <p:nvPr/>
        </p:nvSpPr>
        <p:spPr>
          <a:xfrm>
            <a:off x="3509962" y="4037669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5A6573"/>
                </a:solidFill>
              </a:defRPr>
            </a:lvl1pPr>
          </a:lstStyle>
          <a:p>
            <a:pPr/>
            <a:r>
              <a:t>on Banker; 14.4% on Tie</a:t>
            </a:r>
          </a:p>
        </p:txBody>
      </p:sp>
      <p:sp>
        <p:nvSpPr>
          <p:cNvPr id="183" name="Google Shape;137;p19"/>
          <p:cNvSpPr/>
          <p:nvPr/>
        </p:nvSpPr>
        <p:spPr>
          <a:xfrm>
            <a:off x="6022180" y="1339640"/>
            <a:ext cx="2509801" cy="3039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7150">
            <a:solidFill>
              <a:srgbClr val="E2DED5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84" name="Google Shape;138;p19"/>
          <p:cNvSpPr txBox="1"/>
          <p:nvPr/>
        </p:nvSpPr>
        <p:spPr>
          <a:xfrm>
            <a:off x="6215062" y="1532520"/>
            <a:ext cx="21879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800">
                <a:solidFill>
                  <a:srgbClr val="16202C"/>
                </a:solidFill>
              </a:defRPr>
            </a:lvl1pPr>
          </a:lstStyle>
          <a:p>
            <a:pPr/>
            <a:r>
              <a:t>Craps</a:t>
            </a:r>
          </a:p>
        </p:txBody>
      </p:sp>
      <p:sp>
        <p:nvSpPr>
          <p:cNvPr id="185" name="Google Shape;139;p19"/>
          <p:cNvSpPr txBox="1"/>
          <p:nvPr/>
        </p:nvSpPr>
        <p:spPr>
          <a:xfrm>
            <a:off x="6215062" y="1879215"/>
            <a:ext cx="2187901" cy="7824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sz="1100">
                <a:solidFill>
                  <a:srgbClr val="3A4654"/>
                </a:solidFill>
              </a:defRPr>
            </a:lvl1pPr>
          </a:lstStyle>
          <a:p>
            <a:pPr/>
            <a:r>
              <a:t>Bet on a roll of two dice. First roll: 7 or 11 wins, 2, 3 or 12 loses. Any other number must come again before a 7.</a:t>
            </a:r>
          </a:p>
        </p:txBody>
      </p:sp>
      <p:sp>
        <p:nvSpPr>
          <p:cNvPr id="186" name="Google Shape;140;p19"/>
          <p:cNvSpPr txBox="1"/>
          <p:nvPr/>
        </p:nvSpPr>
        <p:spPr>
          <a:xfrm>
            <a:off x="6215062" y="2721137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3A4654"/>
                </a:solidFill>
              </a:defRPr>
            </a:pPr>
            <a:r>
              <a:t>Words:</a:t>
            </a:r>
            <a:r>
              <a:rPr b="0"/>
              <a:t> dice · roll · shooter · point</a:t>
            </a:r>
          </a:p>
        </p:txBody>
      </p:sp>
      <p:sp>
        <p:nvSpPr>
          <p:cNvPr id="187" name="Google Shape;141;p19"/>
          <p:cNvSpPr/>
          <p:nvPr/>
        </p:nvSpPr>
        <p:spPr>
          <a:xfrm>
            <a:off x="6215062" y="3446226"/>
            <a:ext cx="2124001" cy="1"/>
          </a:xfrm>
          <a:prstGeom prst="line">
            <a:avLst/>
          </a:prstGeom>
          <a:ln>
            <a:solidFill>
              <a:srgbClr val="E2DED5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88" name="Google Shape;142;p19"/>
          <p:cNvSpPr txBox="1"/>
          <p:nvPr/>
        </p:nvSpPr>
        <p:spPr>
          <a:xfrm>
            <a:off x="6215062" y="3546238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40000"/>
              </a:lnSpc>
              <a:defRPr b="1" spc="100" sz="900">
                <a:solidFill>
                  <a:srgbClr val="5A6573"/>
                </a:solidFill>
              </a:defRPr>
            </a:lvl1pPr>
          </a:lstStyle>
          <a:p>
            <a:pPr/>
            <a:r>
              <a:t>HOUSE EDGE</a:t>
            </a:r>
          </a:p>
        </p:txBody>
      </p:sp>
      <p:sp>
        <p:nvSpPr>
          <p:cNvPr id="189" name="Google Shape;143;p19"/>
          <p:cNvSpPr txBox="1"/>
          <p:nvPr/>
        </p:nvSpPr>
        <p:spPr>
          <a:xfrm>
            <a:off x="6215062" y="3725278"/>
            <a:ext cx="2187901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2100">
                <a:solidFill>
                  <a:srgbClr val="B4561A"/>
                </a:solidFill>
              </a:defRPr>
            </a:lvl1pPr>
          </a:lstStyle>
          <a:p>
            <a:pPr/>
            <a:r>
              <a:t>1.4%</a:t>
            </a:r>
          </a:p>
        </p:txBody>
      </p:sp>
      <p:sp>
        <p:nvSpPr>
          <p:cNvPr id="190" name="Google Shape;144;p19"/>
          <p:cNvSpPr txBox="1"/>
          <p:nvPr/>
        </p:nvSpPr>
        <p:spPr>
          <a:xfrm>
            <a:off x="6215062" y="4037669"/>
            <a:ext cx="21879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900">
                <a:solidFill>
                  <a:srgbClr val="5A6573"/>
                </a:solidFill>
              </a:defRPr>
            </a:lvl1pPr>
          </a:lstStyle>
          <a:p>
            <a:pPr/>
            <a:r>
              <a:t>on the basic “pass” bet</a:t>
            </a:r>
          </a:p>
        </p:txBody>
      </p:sp>
      <p:sp>
        <p:nvSpPr>
          <p:cNvPr id="191" name="Google Shape;145;p19"/>
          <p:cNvSpPr txBox="1"/>
          <p:nvPr/>
        </p:nvSpPr>
        <p:spPr>
          <a:xfrm>
            <a:off x="609599" y="4678710"/>
            <a:ext cx="81627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0000"/>
              </a:lnSpc>
              <a:defRPr b="1" sz="900">
                <a:solidFill>
                  <a:srgbClr val="5A6573"/>
                </a:solidFill>
              </a:defRPr>
            </a:pPr>
            <a:r>
              <a:t>House edge</a:t>
            </a:r>
            <a:r>
              <a:rPr b="0"/>
              <a:t> = the share of every bet the casino keeps on average, in the long run.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50;p20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Lotteries</a:t>
            </a:r>
          </a:p>
        </p:txBody>
      </p:sp>
      <p:sp>
        <p:nvSpPr>
          <p:cNvPr id="196" name="Google Shape;151;p20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197" name="Google Shape;152;p20" descr="Google Shape;152;p2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1374" y="1387774"/>
            <a:ext cx="3927728" cy="29457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Google Shape;153;p20" descr="Google Shape;153;p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48024" y="1482421"/>
            <a:ext cx="3646625" cy="26839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158;p21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Lotteries </a:t>
            </a:r>
            <a:r>
              <a:rPr i="1"/>
              <a:t>cont.</a:t>
            </a:r>
          </a:p>
        </p:txBody>
      </p:sp>
      <p:sp>
        <p:nvSpPr>
          <p:cNvPr id="201" name="Google Shape;159;p21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202" name="Mega Millions drawing for October 9, 2026Google Shape;160;p21" descr="Mega Millions drawing for October 9, 2026Google Shape;160;p21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048000" y="1714500"/>
            <a:ext cx="3048000" cy="1714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65;p22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Sports betting</a:t>
            </a:r>
          </a:p>
        </p:txBody>
      </p:sp>
      <p:sp>
        <p:nvSpPr>
          <p:cNvPr id="205" name="Google Shape;166;p22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206" name="Google Shape;167;p22" descr="Google Shape;167;p2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5499" y="1387674"/>
            <a:ext cx="3957248" cy="2637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Google Shape;168;p22" descr="Google Shape;168;p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91274" y="1387674"/>
            <a:ext cx="4350401" cy="24471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173;p23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</a:p>
        </p:txBody>
      </p:sp>
      <p:sp>
        <p:nvSpPr>
          <p:cNvPr id="210" name="Google Shape;174;p23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211" name="Slide Legal gambling by state@2x.pngGoogle Shape;175;p23" descr="Slide Legal gambling by state@2x.pngGoogle Shape;175;p2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4" cy="51434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180;p24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An important footnote: Native American Gaming</a:t>
            </a:r>
          </a:p>
        </p:txBody>
      </p:sp>
      <p:sp>
        <p:nvSpPr>
          <p:cNvPr id="214" name="Google Shape;181;p24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215" name="Google Shape;182;p24" descr="Google Shape;182;p2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49293" y="1152475"/>
            <a:ext cx="4845430" cy="34163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187;p25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/>
          <a:p>
            <a:pPr defTabSz="640079">
              <a:defRPr sz="2240"/>
            </a:pPr>
            <a:r>
              <a:t>Which one of these is most popular?</a:t>
            </a:r>
          </a:p>
          <a:p>
            <a:pPr defTabSz="640079">
              <a:defRPr sz="2240"/>
            </a:pPr>
            <a:r>
              <a:t>(by people)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192;p26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Guess the number</a:t>
            </a:r>
          </a:p>
        </p:txBody>
      </p:sp>
      <p:sp>
        <p:nvSpPr>
          <p:cNvPr id="220" name="Google Shape;193;p26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5000"/>
            </a:pPr>
            <a:r>
              <a:t>31%</a:t>
            </a:r>
          </a:p>
          <a:p>
            <a:pPr marL="0" indent="0">
              <a:spcBef>
                <a:spcPts val="1200"/>
              </a:spcBef>
              <a:buSzTx/>
              <a:buNone/>
              <a:defRPr sz="5000"/>
            </a:pPr>
            <a:r>
              <a:t>14%</a:t>
            </a:r>
          </a:p>
          <a:p>
            <a:pPr marL="0" indent="0">
              <a:spcBef>
                <a:spcPts val="1200"/>
              </a:spcBef>
              <a:buSzTx/>
              <a:buNone/>
              <a:defRPr sz="5000"/>
            </a:pPr>
            <a:r>
              <a:t>21%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198;p27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Guess the number</a:t>
            </a:r>
          </a:p>
        </p:txBody>
      </p:sp>
      <p:sp>
        <p:nvSpPr>
          <p:cNvPr id="223" name="Google Shape;199;p27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5000"/>
            </a:pPr>
            <a:r>
              <a:t>31% lottery</a:t>
            </a:r>
          </a:p>
          <a:p>
            <a:pPr marL="0" indent="0">
              <a:spcBef>
                <a:spcPts val="1200"/>
              </a:spcBef>
              <a:buSzTx/>
              <a:buNone/>
              <a:defRPr sz="5000"/>
            </a:pPr>
            <a:r>
              <a:t>14% casino</a:t>
            </a:r>
          </a:p>
          <a:p>
            <a:pPr marL="0" indent="0">
              <a:spcBef>
                <a:spcPts val="1200"/>
              </a:spcBef>
              <a:buSzTx/>
              <a:buNone/>
              <a:defRPr sz="5000"/>
            </a:pPr>
            <a:r>
              <a:t>21% sports betting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04;p28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The Grey Market</a:t>
            </a:r>
          </a:p>
        </p:txBody>
      </p:sp>
      <p:sp>
        <p:nvSpPr>
          <p:cNvPr id="226" name="Google Shape;205;p28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227" name="Google Shape;206;p28" descr="Google Shape;206;p2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3200" y="1251037"/>
            <a:ext cx="3216101" cy="32192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13899" y="1930145"/>
            <a:ext cx="3394779" cy="18610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11;p29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</p:spPr>
        <p:txBody>
          <a:bodyPr/>
          <a:lstStyle>
            <a:lvl1pPr>
              <a:defRPr sz="2500"/>
            </a:lvl1pPr>
          </a:lstStyle>
          <a:p>
            <a:pPr/>
            <a:r>
              <a:t>Grammar Casino</a:t>
            </a:r>
          </a:p>
        </p:txBody>
      </p:sp>
      <p:sp>
        <p:nvSpPr>
          <p:cNvPr id="231" name="Google Shape;212;p29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1200"/>
              </a:spcBef>
              <a:buSzTx/>
              <a:buNone/>
            </a:pPr>
          </a:p>
        </p:txBody>
      </p:sp>
      <p:pic>
        <p:nvPicPr>
          <p:cNvPr id="232" name="Google Shape;213;p29" descr="Google Shape;213;p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5474" y="1210563"/>
            <a:ext cx="4950326" cy="33002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18;p30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/>
          <a:p>
            <a:pPr/>
            <a:r>
              <a:t>He betted all his money on Rapid.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he money he had won, he spent within a week.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money he had won, he spent within a week.</a:t>
            </a:r>
          </a:p>
        </p:txBody>
      </p:sp>
      <p:sp>
        <p:nvSpPr>
          <p:cNvPr id="237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23;p31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/>
          <a:p>
            <a:pPr/>
            <a:r>
              <a:t>The odds are against you.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28;p32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/>
          <a:p>
            <a:pPr/>
            <a:r>
              <a:t>I have played poker since three years.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he number of teenagers who gamble online have increased.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850391">
              <a:defRPr sz="4836"/>
            </a:lvl1pPr>
          </a:lstStyle>
          <a:p>
            <a:pPr/>
            <a:r>
              <a:t>The number of teenagers who gamble online have increased.</a:t>
            </a:r>
          </a:p>
        </p:txBody>
      </p:sp>
      <p:sp>
        <p:nvSpPr>
          <p:cNvPr id="244" name="Double-click to edi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33;p33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If I would win the lottery, I would buy a house.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38;p34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She has been gambling online for two years.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He denied to have a gambling problem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 denied to have a gambling problem.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ports betting is very popular in Austria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Sports betting is very popular in Austria.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43;p35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>
            <a:lvl1pPr defTabSz="868680">
              <a:defRPr sz="3040"/>
            </a:lvl1pPr>
          </a:lstStyle>
          <a:p>
            <a:pPr/>
            <a:r>
              <a:t>I am agree that sports betting should be banned.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48;p36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/>
          <a:p>
            <a:pPr/>
            <a:r>
              <a:t>The house always wins in the long run.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3;p37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He promised to stop, but he didn’t stopped.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58;p38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>
            <a:lvl1pPr defTabSz="749808">
              <a:defRPr sz="2624"/>
            </a:lvl1pPr>
          </a:lstStyle>
          <a:p>
            <a:pPr/>
            <a:r>
              <a:t>Young men are more likely to bet on sports than women.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3;p39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pPr/>
            <a:r>
              <a:t>Gambling can become a serious addiction.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