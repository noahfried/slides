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media/image1.jpeg" ContentType="image/jpeg"/>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B1F2E"/>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B1F2E"/>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B1F2E"/>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B1F2E"/>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B1F2E"/>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B1F2E"/>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B1F2E"/>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B1F2E"/>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B1F2E"/>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1B1F2E"/>
        </a:fontRef>
        <a:srgbClr val="1B1F2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4CACC"/>
          </a:solidFill>
        </a:fill>
      </a:tcStyle>
    </a:wholeTbl>
    <a:band2H>
      <a:tcTxStyle b="def" i="def"/>
      <a:tcStyle>
        <a:tcBdr/>
        <a:fill>
          <a:solidFill>
            <a:srgbClr val="F2E6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1B1F2E"/>
        </a:fontRef>
        <a:srgbClr val="1B1F2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4E1"/>
          </a:solidFill>
        </a:fill>
      </a:tcStyle>
    </a:wholeTbl>
    <a:band2H>
      <a:tcTxStyle b="def" i="def"/>
      <a:tcStyle>
        <a:tcBdr/>
        <a:fill>
          <a:solidFill>
            <a:srgbClr val="E8EBF1"/>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1B1F2E"/>
        </a:fontRef>
        <a:srgbClr val="1B1F2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D6D0"/>
          </a:solidFill>
        </a:fill>
      </a:tcStyle>
    </a:wholeTbl>
    <a:band2H>
      <a:tcTxStyle b="def" i="def"/>
      <a:tcStyle>
        <a:tcBdr/>
        <a:fill>
          <a:solidFill>
            <a:srgbClr val="E7EC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1B1F2E"/>
        </a:fontRef>
        <a:srgbClr val="1B1F2E"/>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7E7E7"/>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1B1F2E"/>
        </a:fontRef>
        <a:srgbClr val="1B1F2E"/>
      </a:tcTxStyle>
      <a:tcStyle>
        <a:tcBdr>
          <a:left>
            <a:ln w="12700" cap="flat">
              <a:noFill/>
              <a:miter lim="400000"/>
            </a:ln>
          </a:left>
          <a:right>
            <a:ln w="12700" cap="flat">
              <a:noFill/>
              <a:miter lim="400000"/>
            </a:ln>
          </a:right>
          <a:top>
            <a:ln w="50800" cap="flat">
              <a:solidFill>
                <a:srgbClr val="1B1F2E"/>
              </a:solidFill>
              <a:prstDash val="solid"/>
              <a:round/>
            </a:ln>
          </a:top>
          <a:bottom>
            <a:ln w="25400" cap="flat">
              <a:solidFill>
                <a:srgbClr val="1B1F2E"/>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1B1F2E"/>
              </a:solidFill>
              <a:prstDash val="solid"/>
              <a:round/>
            </a:ln>
          </a:top>
          <a:bottom>
            <a:ln w="25400" cap="flat">
              <a:solidFill>
                <a:srgbClr val="1B1F2E"/>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1B1F2E"/>
        </a:fontRef>
        <a:srgbClr val="1B1F2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CBCC"/>
          </a:solidFill>
        </a:fill>
      </a:tcStyle>
    </a:wholeTbl>
    <a:band2H>
      <a:tcTxStyle b="def" i="def"/>
      <a:tcStyle>
        <a:tcBdr/>
        <a:fill>
          <a:solidFill>
            <a:srgbClr val="E7E7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1B1F2E"/>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1B1F2E"/>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1B1F2E"/>
          </a:solidFill>
        </a:fill>
      </a:tcStyle>
    </a:firstRow>
  </a:tblStyle>
  <a:tblStyle styleId="{2708684C-4D16-4618-839F-0558EEFCDFE6}" styleName="">
    <a:tblBg/>
    <a:wholeTbl>
      <a:tcTxStyle b="off" i="off">
        <a:fontRef idx="major">
          <a:srgbClr val="1B1F2E"/>
        </a:fontRef>
        <a:srgbClr val="1B1F2E"/>
      </a:tcTxStyle>
      <a:tcStyle>
        <a:tcBdr>
          <a:left>
            <a:ln w="12700" cap="flat">
              <a:solidFill>
                <a:srgbClr val="1B1F2E"/>
              </a:solidFill>
              <a:prstDash val="solid"/>
              <a:round/>
            </a:ln>
          </a:left>
          <a:right>
            <a:ln w="12700" cap="flat">
              <a:solidFill>
                <a:srgbClr val="1B1F2E"/>
              </a:solidFill>
              <a:prstDash val="solid"/>
              <a:round/>
            </a:ln>
          </a:right>
          <a:top>
            <a:ln w="12700" cap="flat">
              <a:solidFill>
                <a:srgbClr val="1B1F2E"/>
              </a:solidFill>
              <a:prstDash val="solid"/>
              <a:round/>
            </a:ln>
          </a:top>
          <a:bottom>
            <a:ln w="12700" cap="flat">
              <a:solidFill>
                <a:srgbClr val="1B1F2E"/>
              </a:solidFill>
              <a:prstDash val="solid"/>
              <a:round/>
            </a:ln>
          </a:bottom>
          <a:insideH>
            <a:ln w="12700" cap="flat">
              <a:solidFill>
                <a:srgbClr val="1B1F2E"/>
              </a:solidFill>
              <a:prstDash val="solid"/>
              <a:round/>
            </a:ln>
          </a:insideH>
          <a:insideV>
            <a:ln w="12700" cap="flat">
              <a:solidFill>
                <a:srgbClr val="1B1F2E"/>
              </a:solidFill>
              <a:prstDash val="solid"/>
              <a:round/>
            </a:ln>
          </a:insideV>
        </a:tcBdr>
        <a:fill>
          <a:solidFill>
            <a:srgbClr val="1B1F2E">
              <a:alpha val="20000"/>
            </a:srgbClr>
          </a:solidFill>
        </a:fill>
      </a:tcStyle>
    </a:wholeTbl>
    <a:band2H>
      <a:tcTxStyle b="def" i="def"/>
      <a:tcStyle>
        <a:tcBdr/>
        <a:fill>
          <a:solidFill>
            <a:srgbClr val="FFFFFF"/>
          </a:solidFill>
        </a:fill>
      </a:tcStyle>
    </a:band2H>
    <a:firstCol>
      <a:tcTxStyle b="on" i="off">
        <a:fontRef idx="major">
          <a:srgbClr val="1B1F2E"/>
        </a:fontRef>
        <a:srgbClr val="1B1F2E"/>
      </a:tcTxStyle>
      <a:tcStyle>
        <a:tcBdr>
          <a:left>
            <a:ln w="12700" cap="flat">
              <a:solidFill>
                <a:srgbClr val="1B1F2E"/>
              </a:solidFill>
              <a:prstDash val="solid"/>
              <a:round/>
            </a:ln>
          </a:left>
          <a:right>
            <a:ln w="12700" cap="flat">
              <a:solidFill>
                <a:srgbClr val="1B1F2E"/>
              </a:solidFill>
              <a:prstDash val="solid"/>
              <a:round/>
            </a:ln>
          </a:right>
          <a:top>
            <a:ln w="12700" cap="flat">
              <a:solidFill>
                <a:srgbClr val="1B1F2E"/>
              </a:solidFill>
              <a:prstDash val="solid"/>
              <a:round/>
            </a:ln>
          </a:top>
          <a:bottom>
            <a:ln w="12700" cap="flat">
              <a:solidFill>
                <a:srgbClr val="1B1F2E"/>
              </a:solidFill>
              <a:prstDash val="solid"/>
              <a:round/>
            </a:ln>
          </a:bottom>
          <a:insideH>
            <a:ln w="12700" cap="flat">
              <a:solidFill>
                <a:srgbClr val="1B1F2E"/>
              </a:solidFill>
              <a:prstDash val="solid"/>
              <a:round/>
            </a:ln>
          </a:insideH>
          <a:insideV>
            <a:ln w="12700" cap="flat">
              <a:solidFill>
                <a:srgbClr val="1B1F2E"/>
              </a:solidFill>
              <a:prstDash val="solid"/>
              <a:round/>
            </a:ln>
          </a:insideV>
        </a:tcBdr>
        <a:fill>
          <a:solidFill>
            <a:srgbClr val="1B1F2E">
              <a:alpha val="20000"/>
            </a:srgbClr>
          </a:solidFill>
        </a:fill>
      </a:tcStyle>
    </a:firstCol>
    <a:lastRow>
      <a:tcTxStyle b="on" i="off">
        <a:fontRef idx="major">
          <a:srgbClr val="1B1F2E"/>
        </a:fontRef>
        <a:srgbClr val="1B1F2E"/>
      </a:tcTxStyle>
      <a:tcStyle>
        <a:tcBdr>
          <a:left>
            <a:ln w="12700" cap="flat">
              <a:solidFill>
                <a:srgbClr val="1B1F2E"/>
              </a:solidFill>
              <a:prstDash val="solid"/>
              <a:round/>
            </a:ln>
          </a:left>
          <a:right>
            <a:ln w="12700" cap="flat">
              <a:solidFill>
                <a:srgbClr val="1B1F2E"/>
              </a:solidFill>
              <a:prstDash val="solid"/>
              <a:round/>
            </a:ln>
          </a:right>
          <a:top>
            <a:ln w="50800" cap="flat">
              <a:solidFill>
                <a:srgbClr val="1B1F2E"/>
              </a:solidFill>
              <a:prstDash val="solid"/>
              <a:round/>
            </a:ln>
          </a:top>
          <a:bottom>
            <a:ln w="12700" cap="flat">
              <a:solidFill>
                <a:srgbClr val="1B1F2E"/>
              </a:solidFill>
              <a:prstDash val="solid"/>
              <a:round/>
            </a:ln>
          </a:bottom>
          <a:insideH>
            <a:ln w="12700" cap="flat">
              <a:solidFill>
                <a:srgbClr val="1B1F2E"/>
              </a:solidFill>
              <a:prstDash val="solid"/>
              <a:round/>
            </a:ln>
          </a:insideH>
          <a:insideV>
            <a:ln w="12700" cap="flat">
              <a:solidFill>
                <a:srgbClr val="1B1F2E"/>
              </a:solidFill>
              <a:prstDash val="solid"/>
              <a:round/>
            </a:ln>
          </a:insideV>
        </a:tcBdr>
        <a:fill>
          <a:noFill/>
        </a:fill>
      </a:tcStyle>
    </a:lastRow>
    <a:firstRow>
      <a:tcTxStyle b="on" i="off">
        <a:fontRef idx="major">
          <a:srgbClr val="1B1F2E"/>
        </a:fontRef>
        <a:srgbClr val="1B1F2E"/>
      </a:tcTxStyle>
      <a:tcStyle>
        <a:tcBdr>
          <a:left>
            <a:ln w="12700" cap="flat">
              <a:solidFill>
                <a:srgbClr val="1B1F2E"/>
              </a:solidFill>
              <a:prstDash val="solid"/>
              <a:round/>
            </a:ln>
          </a:left>
          <a:right>
            <a:ln w="12700" cap="flat">
              <a:solidFill>
                <a:srgbClr val="1B1F2E"/>
              </a:solidFill>
              <a:prstDash val="solid"/>
              <a:round/>
            </a:ln>
          </a:right>
          <a:top>
            <a:ln w="12700" cap="flat">
              <a:solidFill>
                <a:srgbClr val="1B1F2E"/>
              </a:solidFill>
              <a:prstDash val="solid"/>
              <a:round/>
            </a:ln>
          </a:top>
          <a:bottom>
            <a:ln w="25400" cap="flat">
              <a:solidFill>
                <a:srgbClr val="1B1F2E"/>
              </a:solidFill>
              <a:prstDash val="solid"/>
              <a:round/>
            </a:ln>
          </a:bottom>
          <a:insideH>
            <a:ln w="12700" cap="flat">
              <a:solidFill>
                <a:srgbClr val="1B1F2E"/>
              </a:solidFill>
              <a:prstDash val="solid"/>
              <a:round/>
            </a:ln>
          </a:insideH>
          <a:insideV>
            <a:ln w="12700" cap="flat">
              <a:solidFill>
                <a:srgbClr val="1B1F2E"/>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43" name="Shape 43"/>
          <p:cNvSpPr/>
          <p:nvPr>
            <p:ph type="sldImg"/>
          </p:nvPr>
        </p:nvSpPr>
        <p:spPr>
          <a:xfrm>
            <a:off x="1143000" y="685800"/>
            <a:ext cx="4572000" cy="3429000"/>
          </a:xfrm>
          <a:prstGeom prst="rect">
            <a:avLst/>
          </a:prstGeom>
        </p:spPr>
        <p:txBody>
          <a:bodyPr/>
          <a:lstStyle/>
          <a:p>
            <a:pPr/>
          </a:p>
        </p:txBody>
      </p:sp>
      <p:sp>
        <p:nvSpPr>
          <p:cNvPr id="44" name="Shape 44"/>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solidFill>
          <a:srgbClr val="1B1F2E"/>
        </a:solidFill>
        <a:latin typeface="+mj-lt"/>
        <a:ea typeface="+mj-ea"/>
        <a:cs typeface="+mj-cs"/>
        <a:sym typeface="Calibri"/>
      </a:defRPr>
    </a:lvl1pPr>
    <a:lvl2pPr indent="228600" latinLnBrk="0">
      <a:defRPr sz="1200">
        <a:solidFill>
          <a:srgbClr val="1B1F2E"/>
        </a:solidFill>
        <a:latin typeface="+mj-lt"/>
        <a:ea typeface="+mj-ea"/>
        <a:cs typeface="+mj-cs"/>
        <a:sym typeface="Calibri"/>
      </a:defRPr>
    </a:lvl2pPr>
    <a:lvl3pPr indent="457200" latinLnBrk="0">
      <a:defRPr sz="1200">
        <a:solidFill>
          <a:srgbClr val="1B1F2E"/>
        </a:solidFill>
        <a:latin typeface="+mj-lt"/>
        <a:ea typeface="+mj-ea"/>
        <a:cs typeface="+mj-cs"/>
        <a:sym typeface="Calibri"/>
      </a:defRPr>
    </a:lvl3pPr>
    <a:lvl4pPr indent="685800" latinLnBrk="0">
      <a:defRPr sz="1200">
        <a:solidFill>
          <a:srgbClr val="1B1F2E"/>
        </a:solidFill>
        <a:latin typeface="+mj-lt"/>
        <a:ea typeface="+mj-ea"/>
        <a:cs typeface="+mj-cs"/>
        <a:sym typeface="Calibri"/>
      </a:defRPr>
    </a:lvl4pPr>
    <a:lvl5pPr indent="914400" latinLnBrk="0">
      <a:defRPr sz="1200">
        <a:solidFill>
          <a:srgbClr val="1B1F2E"/>
        </a:solidFill>
        <a:latin typeface="+mj-lt"/>
        <a:ea typeface="+mj-ea"/>
        <a:cs typeface="+mj-cs"/>
        <a:sym typeface="Calibri"/>
      </a:defRPr>
    </a:lvl5pPr>
    <a:lvl6pPr indent="1143000" latinLnBrk="0">
      <a:defRPr sz="1200">
        <a:solidFill>
          <a:srgbClr val="1B1F2E"/>
        </a:solidFill>
        <a:latin typeface="+mj-lt"/>
        <a:ea typeface="+mj-ea"/>
        <a:cs typeface="+mj-cs"/>
        <a:sym typeface="Calibri"/>
      </a:defRPr>
    </a:lvl6pPr>
    <a:lvl7pPr indent="1371600" latinLnBrk="0">
      <a:defRPr sz="1200">
        <a:solidFill>
          <a:srgbClr val="1B1F2E"/>
        </a:solidFill>
        <a:latin typeface="+mj-lt"/>
        <a:ea typeface="+mj-ea"/>
        <a:cs typeface="+mj-cs"/>
        <a:sym typeface="Calibri"/>
      </a:defRPr>
    </a:lvl7pPr>
    <a:lvl8pPr indent="1600200" latinLnBrk="0">
      <a:defRPr sz="1200">
        <a:solidFill>
          <a:srgbClr val="1B1F2E"/>
        </a:solidFill>
        <a:latin typeface="+mj-lt"/>
        <a:ea typeface="+mj-ea"/>
        <a:cs typeface="+mj-cs"/>
        <a:sym typeface="Calibri"/>
      </a:defRPr>
    </a:lvl8pPr>
    <a:lvl9pPr indent="1828800" latinLnBrk="0">
      <a:defRPr sz="1200">
        <a:solidFill>
          <a:srgbClr val="1B1F2E"/>
        </a:solidFill>
        <a:latin typeface="+mj-lt"/>
        <a:ea typeface="+mj-ea"/>
        <a:cs typeface="+mj-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 name="Shape 48"/>
          <p:cNvSpPr/>
          <p:nvPr>
            <p:ph type="sldImg"/>
          </p:nvPr>
        </p:nvSpPr>
        <p:spPr>
          <a:prstGeom prst="rect">
            <a:avLst/>
          </a:prstGeom>
        </p:spPr>
        <p:txBody>
          <a:bodyPr/>
          <a:lstStyle/>
          <a:p>
            <a:pPr/>
          </a:p>
        </p:txBody>
      </p:sp>
      <p:sp>
        <p:nvSpPr>
          <p:cNvPr id="49" name="Shape 49"/>
          <p:cNvSpPr/>
          <p:nvPr>
            <p:ph type="body" sz="quarter" idx="1"/>
          </p:nvPr>
        </p:nvSpPr>
        <p:spPr>
          <a:prstGeom prst="rect">
            <a:avLst/>
          </a:prstGeom>
        </p:spPr>
        <p:txBody>
          <a:bodyPr/>
          <a:lstStyle/>
          <a:p>
            <a:pPr/>
            <a:r>
              <a:t>Welcome the class. Introduce the topic: today we look at two sides of the USA: how diverse the country is (and where people are treated unfairly), and what going to school and college there is like. At the end you will compare the US with Austria.</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 name="Shape 54"/>
          <p:cNvSpPr/>
          <p:nvPr>
            <p:ph type="sldImg"/>
          </p:nvPr>
        </p:nvSpPr>
        <p:spPr>
          <a:prstGeom prst="rect">
            <a:avLst/>
          </a:prstGeom>
        </p:spPr>
        <p:txBody>
          <a:bodyPr/>
          <a:lstStyle/>
          <a:p>
            <a:pPr/>
          </a:p>
        </p:txBody>
      </p:sp>
      <p:sp>
        <p:nvSpPr>
          <p:cNvPr id="55" name="Shape 55"/>
          <p:cNvSpPr/>
          <p:nvPr>
            <p:ph type="body" sz="quarter" idx="1"/>
          </p:nvPr>
        </p:nvSpPr>
        <p:spPr>
          <a:prstGeom prst="rect">
            <a:avLst/>
          </a:prstGeom>
        </p:spPr>
        <p:txBody>
          <a:bodyPr/>
          <a:lstStyle/>
          <a:p>
            <a:pPr/>
            <a:r>
              <a:t>Quick overview of the 45 minutes so students know what is coming. At the end everyone should be able to say a few sentences comparing the US and Austria.</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2" name="Shape 62"/>
          <p:cNvSpPr/>
          <p:nvPr>
            <p:ph type="sldImg"/>
          </p:nvPr>
        </p:nvSpPr>
        <p:spPr>
          <a:prstGeom prst="rect">
            <a:avLst/>
          </a:prstGeom>
        </p:spPr>
        <p:txBody>
          <a:bodyPr/>
          <a:lstStyle/>
          <a:p>
            <a:pPr/>
          </a:p>
        </p:txBody>
      </p:sp>
      <p:sp>
        <p:nvSpPr>
          <p:cNvPr id="63" name="Shape 63"/>
          <p:cNvSpPr/>
          <p:nvPr>
            <p:ph type="body" sz="quarter" idx="1"/>
          </p:nvPr>
        </p:nvSpPr>
        <p:spPr>
          <a:prstGeom prst="rect">
            <a:avLst/>
          </a:prstGeom>
        </p:spPr>
        <p:txBody>
          <a:bodyPr/>
          <a:lstStyle/>
          <a:p>
            <a:pPr/>
            <a:r>
              <a:t>About 2 minutes. Students talk in pairs, then collect a few ideas in class. Ask: Which of these exist in Austrian schools? (Most do not: no school buses for most, no proms in the same way, no school sports teams like this.) Good moment for a personal story about your own school if you went to school in the US.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8" name="Shape 68"/>
          <p:cNvSpPr/>
          <p:nvPr>
            <p:ph type="sldImg"/>
          </p:nvPr>
        </p:nvSpPr>
        <p:spPr>
          <a:prstGeom prst="rect">
            <a:avLst/>
          </a:prstGeom>
        </p:spPr>
        <p:txBody>
          <a:bodyPr/>
          <a:lstStyle/>
          <a:p>
            <a:pPr/>
          </a:p>
        </p:txBody>
      </p:sp>
      <p:sp>
        <p:nvSpPr>
          <p:cNvPr id="69" name="Shape 69"/>
          <p:cNvSpPr/>
          <p:nvPr>
            <p:ph type="body" sz="quarter" idx="1"/>
          </p:nvPr>
        </p:nvSpPr>
        <p:spPr>
          <a:prstGeom prst="rect">
            <a:avLst/>
          </a:prstGeom>
        </p:spPr>
        <p:txBody>
          <a:bodyPr/>
          <a:lstStyle/>
          <a:p>
            <a:pPr/>
            <a:r>
              <a:t>About 3 minutes. Students guess with a show of hands (or thumbs up/down). Do NOT give the answers yet: tell them they will find out during the lesson.</a:t>
            </a:r>
          </a:p>
          <a:p>
            <a:pPr/>
          </a:p>
          <a:p>
            <a:pPr/>
            <a:r>
              <a:t>Answers:</a:t>
            </a:r>
          </a:p>
          <a:p>
            <a:pPr/>
            <a:r>
              <a:t>1. TRUE: about 20% (US Census Bureau, 2024).</a:t>
            </a:r>
          </a:p>
          <a:p>
            <a:pPr/>
            <a:r>
              <a:t>2. FALSE: about 9 in 10 students go to public schools.</a:t>
            </a:r>
          </a:p>
          <a:p>
            <a:pPr/>
            <a:r>
              <a:t>3. FALSE: the average published price at a private university is about $45,000 per year (College Board, 2025-26).</a:t>
            </a:r>
          </a:p>
          <a:p>
            <a:pPr/>
            <a:r>
              <a:t>4. TRUE: the Supreme Court decision Brown v. Board of Education (1954) made school segregation unconstitutional.</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4" name="Shape 74"/>
          <p:cNvSpPr/>
          <p:nvPr>
            <p:ph type="sldImg"/>
          </p:nvPr>
        </p:nvSpPr>
        <p:spPr>
          <a:prstGeom prst="rect">
            <a:avLst/>
          </a:prstGeom>
        </p:spPr>
        <p:txBody>
          <a:bodyPr/>
          <a:lstStyle/>
          <a:p>
            <a:pPr/>
          </a:p>
        </p:txBody>
      </p:sp>
      <p:sp>
        <p:nvSpPr>
          <p:cNvPr id="75" name="Shape 75"/>
          <p:cNvSpPr/>
          <p:nvPr>
            <p:ph type="body" sz="quarter" idx="1"/>
          </p:nvPr>
        </p:nvSpPr>
        <p:spPr>
          <a:prstGeom prst="rect">
            <a:avLst/>
          </a:prstGeom>
        </p:spPr>
        <p:txBody>
          <a:bodyPr/>
          <a:lstStyle/>
          <a:p>
            <a:pPr/>
            <a:r>
              <a:t>Start of the input phase (about 8–10 minutes for Part 1).</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0" name="Shape 80"/>
          <p:cNvSpPr/>
          <p:nvPr>
            <p:ph type="sldImg"/>
          </p:nvPr>
        </p:nvSpPr>
        <p:spPr>
          <a:prstGeom prst="rect">
            <a:avLst/>
          </a:prstGeom>
        </p:spPr>
        <p:txBody>
          <a:bodyPr/>
          <a:lstStyle/>
          <a:p>
            <a:pPr/>
          </a:p>
        </p:txBody>
      </p:sp>
      <p:sp>
        <p:nvSpPr>
          <p:cNvPr id="81" name="Shape 81"/>
          <p:cNvSpPr/>
          <p:nvPr>
            <p:ph type="body" sz="quarter" idx="1"/>
          </p:nvPr>
        </p:nvSpPr>
        <p:spPr>
          <a:prstGeom prst="rect">
            <a:avLst/>
          </a:prstGeom>
        </p:spPr>
        <p:txBody>
          <a:bodyPr/>
          <a:lstStyle/>
          <a:p>
            <a:pPr/>
            <a:r>
              <a:t>About 2 minutes. Read each word, students repeat (pronunciation!). Ask for an example where useful, e.g. a stereotype about Austrians (they all ski / wear Lederhosen). For lower grades, spend more time here; for 4th/5th forms, cover the German column and ask students to define the words themselves.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8" name="Shape 88"/>
          <p:cNvSpPr/>
          <p:nvPr>
            <p:ph type="sldImg"/>
          </p:nvPr>
        </p:nvSpPr>
        <p:spPr>
          <a:prstGeom prst="rect">
            <a:avLst/>
          </a:prstGeom>
        </p:spPr>
        <p:txBody>
          <a:bodyPr/>
          <a:lstStyle/>
          <a:p>
            <a:pPr/>
          </a:p>
        </p:txBody>
      </p:sp>
      <p:sp>
        <p:nvSpPr>
          <p:cNvPr id="89" name="Shape 89"/>
          <p:cNvSpPr/>
          <p:nvPr>
            <p:ph type="body" sz="quarter" idx="1"/>
          </p:nvPr>
        </p:nvSpPr>
        <p:spPr>
          <a:prstGeom prst="rect">
            <a:avLst/>
          </a:prstGeom>
        </p:spPr>
        <p:txBody>
          <a:bodyPr/>
          <a:lstStyle/>
          <a:p>
            <a:pPr/>
            <a:r>
              <a:t>Warm-up answer 1 is TRUE: about 20% are Hispanic or Latino.</a:t>
            </a:r>
          </a:p>
          <a:p>
            <a:pPr/>
          </a:p>
          <a:p>
            <a:pPr/>
            <a:r>
              <a:t>Explain: the US is a country of immigrants. Most Hispanic Americans have roots in Mexico; there are also many people from Puerto Rico, Cuba, Central and South America. Note: the Census counts 'Hispanic' separately from race, so the numbers overlap.</a:t>
            </a:r>
          </a:p>
          <a:p>
            <a:pPr/>
          </a:p>
          <a:p>
            <a:pPr/>
            <a:r>
              <a:t>Ask: 'melting pot' (everyone mixes into one culture) or 'salad bowl' (cultures stay different, side by side)? Which describes the US better? Which describes Austria?</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 name="Shape 94"/>
          <p:cNvSpPr/>
          <p:nvPr>
            <p:ph type="sldImg"/>
          </p:nvPr>
        </p:nvSpPr>
        <p:spPr>
          <a:prstGeom prst="rect">
            <a:avLst/>
          </a:prstGeom>
        </p:spPr>
        <p:txBody>
          <a:bodyPr/>
          <a:lstStyle/>
          <a:p>
            <a:pPr/>
          </a:p>
        </p:txBody>
      </p:sp>
      <p:sp>
        <p:nvSpPr>
          <p:cNvPr id="95" name="Shape 95"/>
          <p:cNvSpPr/>
          <p:nvPr>
            <p:ph type="body" sz="quarter" idx="1"/>
          </p:nvPr>
        </p:nvSpPr>
        <p:spPr>
          <a:prstGeom prst="rect">
            <a:avLst/>
          </a:prstGeom>
        </p:spPr>
        <p:txBody>
          <a:bodyPr/>
          <a:lstStyle/>
          <a:p>
            <a:pPr/>
            <a:r>
              <a:t>About 3 minutes. Walk through the timeline:</a:t>
            </a:r>
          </a:p>
          <a:p>
            <a:pPr/>
            <a:r>
              <a:t>- 1865: slavery ends after the Civil War.</a:t>
            </a:r>
          </a:p>
          <a:p>
            <a:pPr/>
            <a:r>
              <a:t>- 1896: Plessy v. Ferguson: the Supreme Court says 'separate but equal' is OK. In the South, 'Jim Crow' laws separate Black and white people in schools, buses, restaurants.</a:t>
            </a:r>
          </a:p>
          <a:p>
            <a:pPr/>
            <a:r>
              <a:t>- 1954: Brown v. Board of Education: separate schools are unconstitutional. (Warm-up answer 4 is TRUE.)</a:t>
            </a:r>
          </a:p>
          <a:p>
            <a:pPr/>
            <a:r>
              <a:t>- 1955: Rosa Parks refuses to give her bus seat to a white man in Montgomery, Alabama; this starts a bus boycott.</a:t>
            </a:r>
          </a:p>
          <a:p>
            <a:pPr/>
            <a:r>
              <a:t>- 1963: March on Washington, Martin Luther King Jr.'s famous speech.</a:t>
            </a:r>
          </a:p>
          <a:p>
            <a:pPr/>
            <a:r>
              <a:t>- 1964: Civil Rights Act.</a:t>
            </a:r>
          </a:p>
          <a:p>
            <a:pPr/>
            <a:r>
              <a:t>Optional extra: 1972 Title IX bans sex discrimination in education (important for girls' school sports).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1" name="Shape 101"/>
          <p:cNvSpPr/>
          <p:nvPr>
            <p:ph type="sldImg"/>
          </p:nvPr>
        </p:nvSpPr>
        <p:spPr>
          <a:prstGeom prst="rect">
            <a:avLst/>
          </a:prstGeom>
        </p:spPr>
        <p:txBody>
          <a:bodyPr/>
          <a:lstStyle/>
          <a:p>
            <a:pPr/>
          </a:p>
        </p:txBody>
      </p:sp>
      <p:sp>
        <p:nvSpPr>
          <p:cNvPr id="102" name="Shape 102"/>
          <p:cNvSpPr/>
          <p:nvPr>
            <p:ph type="body" sz="quarter" idx="1"/>
          </p:nvPr>
        </p:nvSpPr>
        <p:spPr>
          <a:prstGeom prst="rect">
            <a:avLst/>
          </a:prstGeom>
        </p:spPr>
        <p:txBody>
          <a:bodyPr/>
          <a:lstStyle/>
          <a:p>
            <a:pPr/>
            <a:r>
              <a:t>About 2 minutes (skip if short on time). Even after Brown v. Board (1954), many Southern states resisted. In 1960 Ruby Bridges started at William Frantz Elementary School in New Orleans, escorted by US marshals. Her teacher, Barbara Henry, taught her alone for a year. Ask 1–2 students the 'Think' question. Optional: Norman Rockwell's painting 'The Problem We All Live With' (1964) shows this scene; you can show it from a museum website.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8" name="Shape 108"/>
          <p:cNvSpPr/>
          <p:nvPr>
            <p:ph type="sldImg"/>
          </p:nvPr>
        </p:nvSpPr>
        <p:spPr>
          <a:prstGeom prst="rect">
            <a:avLst/>
          </a:prstGeom>
        </p:spPr>
        <p:txBody>
          <a:bodyPr/>
          <a:lstStyle/>
          <a:p>
            <a:pPr/>
          </a:p>
        </p:txBody>
      </p:sp>
      <p:sp>
        <p:nvSpPr>
          <p:cNvPr id="109" name="Shape 109"/>
          <p:cNvSpPr/>
          <p:nvPr>
            <p:ph type="body" sz="quarter" idx="1"/>
          </p:nvPr>
        </p:nvSpPr>
        <p:spPr>
          <a:prstGeom prst="rect">
            <a:avLst/>
          </a:prstGeom>
        </p:spPr>
        <p:txBody>
          <a:bodyPr/>
          <a:lstStyle/>
          <a:p>
            <a:pPr/>
            <a:r>
              <a:t>About 2–3 minutes. Laws changed in the 1960s, but unequal treatment still exists in everyday life. Keep it factual: these are examples studied by researchers and reported widely. Ask: 'Does discrimination exist in Austria too? Where?' (e.g. job applications with foreign names, housing). Be sensitive: students in the class may have their own experiences; don't put anyone on the spot.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4" name="Shape 114"/>
          <p:cNvSpPr/>
          <p:nvPr>
            <p:ph type="sldImg"/>
          </p:nvPr>
        </p:nvSpPr>
        <p:spPr>
          <a:prstGeom prst="rect">
            <a:avLst/>
          </a:prstGeom>
        </p:spPr>
        <p:txBody>
          <a:bodyPr/>
          <a:lstStyle/>
          <a:p>
            <a:pPr/>
          </a:p>
        </p:txBody>
      </p:sp>
      <p:sp>
        <p:nvSpPr>
          <p:cNvPr id="115" name="Shape 115"/>
          <p:cNvSpPr/>
          <p:nvPr>
            <p:ph type="body" sz="quarter" idx="1"/>
          </p:nvPr>
        </p:nvSpPr>
        <p:spPr>
          <a:prstGeom prst="rect">
            <a:avLst/>
          </a:prstGeom>
        </p:spPr>
        <p:txBody>
          <a:bodyPr/>
          <a:lstStyle/>
          <a:p>
            <a:pPr/>
            <a:r>
              <a:t>Part 2 (about 8–10 minutes).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1" name="Shape 121"/>
          <p:cNvSpPr/>
          <p:nvPr>
            <p:ph type="sldImg"/>
          </p:nvPr>
        </p:nvSpPr>
        <p:spPr>
          <a:prstGeom prst="rect">
            <a:avLst/>
          </a:prstGeom>
        </p:spPr>
        <p:txBody>
          <a:bodyPr/>
          <a:lstStyle/>
          <a:p>
            <a:pPr/>
          </a:p>
        </p:txBody>
      </p:sp>
      <p:sp>
        <p:nvSpPr>
          <p:cNvPr id="122" name="Shape 122"/>
          <p:cNvSpPr/>
          <p:nvPr>
            <p:ph type="body" sz="quarter" idx="1"/>
          </p:nvPr>
        </p:nvSpPr>
        <p:spPr>
          <a:prstGeom prst="rect">
            <a:avLst/>
          </a:prstGeom>
        </p:spPr>
        <p:txBody>
          <a:bodyPr/>
          <a:lstStyle/>
          <a:p>
            <a:pPr/>
            <a:r>
              <a:t>About 2 minutes. Kindergarten is the first year of elementary school (age 5). Grades are numbered 1–12 all the way through, so a 3rd form HAK student (age ~16–17) would be in 10th or 11th grade: a sophomore or junior. Ask: 'What would you be in the US?'</a:t>
            </a:r>
          </a:p>
          <a:p>
            <a:pPr/>
          </a:p>
          <a:p>
            <a:pPr/>
            <a:r>
              <a:t>Key difference: in the US almost everyone goes to the same type of high school until 18. There is no early split at age 10 like Mittelschule vs AHS, and no school type like the HAK. Specialising happens later, at college.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8" name="Shape 128"/>
          <p:cNvSpPr/>
          <p:nvPr>
            <p:ph type="sldImg"/>
          </p:nvPr>
        </p:nvSpPr>
        <p:spPr>
          <a:prstGeom prst="rect">
            <a:avLst/>
          </a:prstGeom>
        </p:spPr>
        <p:txBody>
          <a:bodyPr/>
          <a:lstStyle/>
          <a:p>
            <a:pPr/>
          </a:p>
        </p:txBody>
      </p:sp>
      <p:sp>
        <p:nvSpPr>
          <p:cNvPr id="129" name="Shape 129"/>
          <p:cNvSpPr/>
          <p:nvPr>
            <p:ph type="body" sz="quarter" idx="1"/>
          </p:nvPr>
        </p:nvSpPr>
        <p:spPr>
          <a:prstGeom prst="rect">
            <a:avLst/>
          </a:prstGeom>
        </p:spPr>
        <p:txBody>
          <a:bodyPr/>
          <a:lstStyle/>
          <a:p>
            <a:pPr/>
            <a:r>
              <a:t>About 3 minutes. Warm-up answer 2 is FALSE: about 9 in 10 students go to public schools.</a:t>
            </a:r>
          </a:p>
          <a:p>
            <a:pPr/>
          </a:p>
          <a:p>
            <a:pPr/>
            <a:r>
              <a:t>School sports are a huge part of US school culture (unlike Austria, where sport happens in clubs/Vereine). Explain GPA: grade point average, A = 4.0. No central final exam like the Matura; students graduate when they have enough credits.</a:t>
            </a:r>
          </a:p>
          <a:p>
            <a:pPr/>
          </a:p>
          <a:p>
            <a:pPr/>
            <a:r>
              <a:t>Link back to Part 1: because schools are partly paid for by local taxes, schools in rich areas often have much more money. This is one reason why discrimination and inequality continue.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6" name="Shape 136"/>
          <p:cNvSpPr/>
          <p:nvPr>
            <p:ph type="sldImg"/>
          </p:nvPr>
        </p:nvSpPr>
        <p:spPr>
          <a:prstGeom prst="rect">
            <a:avLst/>
          </a:prstGeom>
        </p:spPr>
        <p:txBody>
          <a:bodyPr/>
          <a:lstStyle/>
          <a:p>
            <a:pPr/>
          </a:p>
        </p:txBody>
      </p:sp>
      <p:sp>
        <p:nvSpPr>
          <p:cNvPr id="137" name="Shape 137"/>
          <p:cNvSpPr/>
          <p:nvPr>
            <p:ph type="body" sz="quarter" idx="1"/>
          </p:nvPr>
        </p:nvSpPr>
        <p:spPr>
          <a:prstGeom prst="rect">
            <a:avLst/>
          </a:prstGeom>
        </p:spPr>
        <p:txBody>
          <a:bodyPr/>
          <a:lstStyle/>
          <a:p>
            <a:pPr/>
            <a:r>
              <a:t>About 2 minutes. Warm-up answer 3 is FALSE: a private university costs on average about $45,000 per year for tuition alone. With housing and food, the total is often $60,000+.</a:t>
            </a:r>
          </a:p>
          <a:p>
            <a:pPr/>
          </a:p>
          <a:p>
            <a:pPr/>
            <a:r>
              <a:t>Vocabulary: undergraduate (first degree, usually a 4-year bachelor's), major (main subject), campus, dorm (student house), tuition (Studiengebühren), scholarship (Stipendium). Many students get grants or scholarships, e.g. for sports or good grades, so they pay less than the published price.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6" name="Shape 146"/>
          <p:cNvSpPr/>
          <p:nvPr>
            <p:ph type="sldImg"/>
          </p:nvPr>
        </p:nvSpPr>
        <p:spPr>
          <a:prstGeom prst="rect">
            <a:avLst/>
          </a:prstGeom>
        </p:spPr>
        <p:txBody>
          <a:bodyPr/>
          <a:lstStyle/>
          <a:p>
            <a:pPr/>
          </a:p>
        </p:txBody>
      </p:sp>
      <p:sp>
        <p:nvSpPr>
          <p:cNvPr id="147" name="Shape 147"/>
          <p:cNvSpPr/>
          <p:nvPr>
            <p:ph type="body" sz="quarter" idx="1"/>
          </p:nvPr>
        </p:nvSpPr>
        <p:spPr>
          <a:prstGeom prst="rect">
            <a:avLst/>
          </a:prstGeom>
        </p:spPr>
        <p:txBody>
          <a:bodyPr/>
          <a:lstStyle/>
          <a:p>
            <a:pPr/>
            <a:r>
              <a:t>About 2 minutes. Applying is a long process in the last year of high school; students often apply to 5–10 colleges. Top universities accept only a small share of applicants.</a:t>
            </a:r>
          </a:p>
          <a:p>
            <a:pPr/>
          </a:p>
          <a:p>
            <a:pPr/>
            <a:r>
              <a:t>Many students take out loans and pay them back for years or even decades after graduating. Ask: 'Would you go to university if it cost €40,000 a year?'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7" name="Shape 157"/>
          <p:cNvSpPr/>
          <p:nvPr>
            <p:ph type="sldImg"/>
          </p:nvPr>
        </p:nvSpPr>
        <p:spPr>
          <a:prstGeom prst="rect">
            <a:avLst/>
          </a:prstGeom>
        </p:spPr>
        <p:txBody>
          <a:bodyPr/>
          <a:lstStyle/>
          <a:p>
            <a:pPr/>
          </a:p>
        </p:txBody>
      </p:sp>
      <p:sp>
        <p:nvSpPr>
          <p:cNvPr id="158" name="Shape 158"/>
          <p:cNvSpPr/>
          <p:nvPr>
            <p:ph type="body" sz="quarter" idx="1"/>
          </p:nvPr>
        </p:nvSpPr>
        <p:spPr>
          <a:prstGeom prst="rect">
            <a:avLst/>
          </a:prstGeom>
        </p:spPr>
        <p:txBody>
          <a:bodyPr/>
          <a:lstStyle/>
          <a:p>
            <a:pPr/>
            <a:r>
              <a:t>About 2 minutes (optional for lower grades; great for 4th/5th forms). This connects Part 1 and Part 2. Present both sides neutrally; Americans strongly disagree about this. The 2023 case was Students for Fair Admissions v. Harvard (and v. University of North Carolina).</a:t>
            </a:r>
          </a:p>
          <a:p>
            <a:pPr/>
          </a:p>
          <a:p>
            <a:pPr/>
            <a:r>
              <a:t>'Legacy admissions' = advantages for children of alumni. Critics on both sides say this mostly helps rich (and often white) families; some universities and states have ended it.</a:t>
            </a:r>
          </a:p>
          <a:p>
            <a:pPr/>
          </a:p>
          <a:p>
            <a:pPr/>
            <a:r>
              <a:t>Transition: 'Now it's your turn to give your opinion!'</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3" name="Shape 163"/>
          <p:cNvSpPr/>
          <p:nvPr>
            <p:ph type="sldImg"/>
          </p:nvPr>
        </p:nvSpPr>
        <p:spPr>
          <a:prstGeom prst="rect">
            <a:avLst/>
          </a:prstGeom>
        </p:spPr>
        <p:txBody>
          <a:bodyPr/>
          <a:lstStyle/>
          <a:p>
            <a:pPr/>
          </a:p>
        </p:txBody>
      </p:sp>
      <p:sp>
        <p:nvSpPr>
          <p:cNvPr id="164" name="Shape 164"/>
          <p:cNvSpPr/>
          <p:nvPr>
            <p:ph type="body" sz="quarter" idx="1"/>
          </p:nvPr>
        </p:nvSpPr>
        <p:spPr>
          <a:prstGeom prst="rect">
            <a:avLst/>
          </a:prstGeom>
        </p:spPr>
        <p:txBody>
          <a:bodyPr/>
          <a:lstStyle/>
          <a:p>
            <a:pPr/>
            <a:r>
              <a:t>Activity phase, 15–20 minutes (quiz about 6 min, opinion groups about 12 min). Make teams of 3–4 students now (count off 1–6 to mix them). Each team needs a sheet of paper and a team name. The same teams work together in both rounds.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2" name="Shape 172"/>
          <p:cNvSpPr/>
          <p:nvPr>
            <p:ph type="sldImg"/>
          </p:nvPr>
        </p:nvSpPr>
        <p:spPr>
          <a:prstGeom prst="rect">
            <a:avLst/>
          </a:prstGeom>
        </p:spPr>
        <p:txBody>
          <a:bodyPr/>
          <a:lstStyle/>
          <a:p>
            <a:pPr/>
          </a:p>
        </p:txBody>
      </p:sp>
      <p:sp>
        <p:nvSpPr>
          <p:cNvPr id="173" name="Shape 173"/>
          <p:cNvSpPr/>
          <p:nvPr>
            <p:ph type="body" sz="quarter" idx="1"/>
          </p:nvPr>
        </p:nvSpPr>
        <p:spPr>
          <a:prstGeom prst="rect">
            <a:avLst/>
          </a:prstGeom>
        </p:spPr>
        <p:txBody>
          <a:bodyPr/>
          <a:lstStyle/>
          <a:p>
            <a:pPr/>
            <a:r>
              <a:t>Round 1, about 6 minutes for both quiz slides. Teams discuss IN ENGLISH and write down their answers (number + letter). Give about 1.5 minutes per slide. Optional rule: if you hear German, the team loses a point.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1" name="Shape 181"/>
          <p:cNvSpPr/>
          <p:nvPr>
            <p:ph type="sldImg"/>
          </p:nvPr>
        </p:nvSpPr>
        <p:spPr>
          <a:prstGeom prst="rect">
            <a:avLst/>
          </a:prstGeom>
        </p:spPr>
        <p:txBody>
          <a:bodyPr/>
          <a:lstStyle/>
          <a:p>
            <a:pPr/>
          </a:p>
        </p:txBody>
      </p:sp>
      <p:sp>
        <p:nvSpPr>
          <p:cNvPr id="182" name="Shape 182"/>
          <p:cNvSpPr/>
          <p:nvPr>
            <p:ph type="body" sz="quarter" idx="1"/>
          </p:nvPr>
        </p:nvSpPr>
        <p:spPr>
          <a:prstGeom prst="rect">
            <a:avLst/>
          </a:prstGeom>
        </p:spPr>
        <p:txBody>
          <a:bodyPr/>
          <a:lstStyle/>
          <a:p>
            <a:pPr/>
            <a:r>
              <a:t>Give teams the same time as for the first quiz slide, then go to the answers. Teams can swap papers and mark each other's answers.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9" name="Shape 189"/>
          <p:cNvSpPr/>
          <p:nvPr>
            <p:ph type="sldImg"/>
          </p:nvPr>
        </p:nvSpPr>
        <p:spPr>
          <a:prstGeom prst="rect">
            <a:avLst/>
          </a:prstGeom>
        </p:spPr>
        <p:txBody>
          <a:bodyPr/>
          <a:lstStyle/>
          <a:p>
            <a:pPr/>
          </a:p>
        </p:txBody>
      </p:sp>
      <p:sp>
        <p:nvSpPr>
          <p:cNvPr id="190" name="Shape 190"/>
          <p:cNvSpPr/>
          <p:nvPr>
            <p:ph type="body" sz="quarter" idx="1"/>
          </p:nvPr>
        </p:nvSpPr>
        <p:spPr>
          <a:prstGeom prst="rect">
            <a:avLst/>
          </a:prstGeom>
        </p:spPr>
        <p:txBody>
          <a:bodyPr/>
          <a:lstStyle/>
          <a:p>
            <a:pPr/>
            <a:r>
              <a:t>About 1–2 minutes. Before showing this slide, you can ask a team to say the answer and WHY in one sentence ('Number 7 is A because…'). That is extra speaking practice and checks understanding. Applaud the winner.</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6" name="Shape 196"/>
          <p:cNvSpPr/>
          <p:nvPr>
            <p:ph type="sldImg"/>
          </p:nvPr>
        </p:nvSpPr>
        <p:spPr>
          <a:prstGeom prst="rect">
            <a:avLst/>
          </a:prstGeom>
        </p:spPr>
        <p:txBody>
          <a:bodyPr/>
          <a:lstStyle/>
          <a:p>
            <a:pPr/>
          </a:p>
        </p:txBody>
      </p:sp>
      <p:sp>
        <p:nvSpPr>
          <p:cNvPr id="197" name="Shape 197"/>
          <p:cNvSpPr/>
          <p:nvPr>
            <p:ph type="body" sz="quarter" idx="1"/>
          </p:nvPr>
        </p:nvSpPr>
        <p:spPr>
          <a:prstGeom prst="rect">
            <a:avLst/>
          </a:prstGeom>
        </p:spPr>
        <p:txBody>
          <a:bodyPr/>
          <a:lstStyle/>
          <a:p>
            <a:pPr/>
            <a:r>
              <a:t>About 12 minutes in total:</a:t>
            </a:r>
          </a:p>
          <a:p>
            <a:pPr/>
            <a:r>
              <a:t>- 4 min: teams prepare (agree/disagree + 3 reasons; use the phrases on the next slide).</a:t>
            </a:r>
          </a:p>
          <a:p>
            <a:pPr/>
            <a:r>
              <a:t>- 6–8 min: each team presents for about 1 minute. Everyone in the team should say at least one sentence.</a:t>
            </a:r>
          </a:p>
          <a:p>
            <a:pPr/>
            <a:r>
              <a:t>- The class can react: 'Who agrees? Who disagrees?'</a:t>
            </a:r>
          </a:p>
          <a:p>
            <a:pPr/>
          </a:p>
          <a:p>
            <a:pPr/>
            <a:r>
              <a:t>Tip: show the useful phrases slide while teams prepare. If there are more than 6 teams, two teams can take the same statement: one agrees, one disagrees, as a mini debate.</a:t>
            </a:r>
          </a:p>
          <a:p>
            <a:pPr/>
          </a:p>
          <a:p>
            <a:pPr/>
            <a:r>
              <a:t>While students talk, walk around and note common mistakes for quick feedback at the end.</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9" name="Shape 209"/>
          <p:cNvSpPr/>
          <p:nvPr>
            <p:ph type="sldImg"/>
          </p:nvPr>
        </p:nvSpPr>
        <p:spPr>
          <a:prstGeom prst="rect">
            <a:avLst/>
          </a:prstGeom>
        </p:spPr>
        <p:txBody>
          <a:bodyPr/>
          <a:lstStyle/>
          <a:p>
            <a:pPr/>
          </a:p>
        </p:txBody>
      </p:sp>
      <p:sp>
        <p:nvSpPr>
          <p:cNvPr id="210" name="Shape 210"/>
          <p:cNvSpPr/>
          <p:nvPr>
            <p:ph type="body" sz="quarter" idx="1"/>
          </p:nvPr>
        </p:nvSpPr>
        <p:spPr>
          <a:prstGeom prst="rect">
            <a:avLst/>
          </a:prstGeom>
        </p:spPr>
        <p:txBody>
          <a:bodyPr/>
          <a:lstStyle/>
          <a:p>
            <a:pPr/>
            <a:r>
              <a:t>Leave this slide on screen while teams prepare and present. Lower grades: ask every student to use at least one phrase. Higher grades: ban 'I think' and push for 'whereas', 'on the other hand', 'in contrast'.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7" name="Shape 217"/>
          <p:cNvSpPr/>
          <p:nvPr>
            <p:ph type="sldImg"/>
          </p:nvPr>
        </p:nvSpPr>
        <p:spPr>
          <a:prstGeom prst="rect">
            <a:avLst/>
          </a:prstGeom>
        </p:spPr>
        <p:txBody>
          <a:bodyPr/>
          <a:lstStyle/>
          <a:p>
            <a:pPr/>
          </a:p>
        </p:txBody>
      </p:sp>
      <p:sp>
        <p:nvSpPr>
          <p:cNvPr id="218" name="Shape 218"/>
          <p:cNvSpPr/>
          <p:nvPr>
            <p:ph type="body" sz="quarter" idx="1"/>
          </p:nvPr>
        </p:nvSpPr>
        <p:spPr>
          <a:prstGeom prst="rect">
            <a:avLst/>
          </a:prstGeom>
        </p:spPr>
        <p:txBody>
          <a:bodyPr/>
          <a:lstStyle/>
          <a:p>
            <a:pPr/>
            <a:r>
              <a:t>Last 2–3 minutes. Pairs share a fact and a surprise. Use any time left for questions about your own experience of American school. Give quick feedback on 2–3 common language mistakes you noted.</a:t>
            </a:r>
          </a:p>
          <a:p>
            <a:pPr/>
          </a:p>
          <a:p>
            <a:pPr/>
            <a:r>
              <a:t>Homework: 4th/5th forms can write a Matura-style opinion essay (250 words) on 'Should university be free for everyone?' instead.</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p:spTree>
      <p:nvGrpSpPr>
        <p:cNvPr id="1" name=""/>
        <p:cNvGrpSpPr/>
        <p:nvPr/>
      </p:nvGrpSpPr>
      <p:grpSpPr>
        <a:xfrm>
          <a:off x="0" y="0"/>
          <a:ext cx="0" cy="0"/>
          <a:chOff x="0" y="0"/>
          <a:chExt cx="0" cy="0"/>
        </a:xfrm>
      </p:grpSpPr>
      <p:sp>
        <p:nvSpPr>
          <p:cNvPr id="18" name="Click to add title"/>
          <p:cNvSpPr txBox="1"/>
          <p:nvPr>
            <p:ph type="title" hasCustomPrompt="1"/>
          </p:nvPr>
        </p:nvSpPr>
        <p:spPr>
          <a:xfrm>
            <a:off x="548640" y="1371600"/>
            <a:ext cx="8046720" cy="1371600"/>
          </a:xfrm>
          <a:prstGeom prst="rect">
            <a:avLst/>
          </a:prstGeom>
        </p:spPr>
        <p:txBody>
          <a:bodyPr anchor="t">
            <a:normAutofit fontScale="100000" lnSpcReduction="0"/>
          </a:bodyPr>
          <a:lstStyle>
            <a:lvl1pPr algn="l">
              <a:defRPr b="1" sz="3800">
                <a:solidFill>
                  <a:schemeClr val="accent2"/>
                </a:solidFill>
              </a:defRPr>
            </a:lvl1pPr>
          </a:lstStyle>
          <a:p>
            <a:pPr/>
            <a:r>
              <a:t>Click to add title</a:t>
            </a:r>
          </a:p>
        </p:txBody>
      </p:sp>
      <p:sp>
        <p:nvSpPr>
          <p:cNvPr id="19" name="Body Level One…"/>
          <p:cNvSpPr txBox="1"/>
          <p:nvPr>
            <p:ph type="body" sz="quarter" idx="1" hasCustomPrompt="1"/>
          </p:nvPr>
        </p:nvSpPr>
        <p:spPr>
          <a:xfrm>
            <a:off x="548640" y="2880360"/>
            <a:ext cx="8046720" cy="457201"/>
          </a:xfrm>
          <a:prstGeom prst="rect">
            <a:avLst/>
          </a:prstGeom>
        </p:spPr>
        <p:txBody>
          <a:bodyPr>
            <a:normAutofit fontScale="100000" lnSpcReduction="0"/>
          </a:bodyPr>
          <a:lstStyle>
            <a:lvl1pPr marL="0" indent="0">
              <a:spcBef>
                <a:spcPts val="400"/>
              </a:spcBef>
              <a:buSzTx/>
              <a:buFontTx/>
              <a:buNone/>
              <a:defRPr sz="1800">
                <a:solidFill>
                  <a:schemeClr val="accent4"/>
                </a:solidFill>
              </a:defRPr>
            </a:lvl1pPr>
            <a:lvl2pPr marL="640896" indent="-183696">
              <a:spcBef>
                <a:spcPts val="400"/>
              </a:spcBef>
              <a:buFontTx/>
              <a:defRPr sz="1800">
                <a:solidFill>
                  <a:schemeClr val="accent4"/>
                </a:solidFill>
              </a:defRPr>
            </a:lvl2pPr>
            <a:lvl3pPr marL="1085850" indent="-171450">
              <a:spcBef>
                <a:spcPts val="400"/>
              </a:spcBef>
              <a:buFontTx/>
              <a:defRPr sz="1800">
                <a:solidFill>
                  <a:schemeClr val="accent4"/>
                </a:solidFill>
              </a:defRPr>
            </a:lvl3pPr>
            <a:lvl4pPr marL="1577339" indent="-205739">
              <a:spcBef>
                <a:spcPts val="400"/>
              </a:spcBef>
              <a:buFontTx/>
              <a:defRPr sz="1800">
                <a:solidFill>
                  <a:schemeClr val="accent4"/>
                </a:solidFill>
              </a:defRPr>
            </a:lvl4pPr>
            <a:lvl5pPr marL="2034539" indent="-205739">
              <a:spcBef>
                <a:spcPts val="400"/>
              </a:spcBef>
              <a:buFontTx/>
              <a:defRPr sz="1800">
                <a:solidFill>
                  <a:schemeClr val="accent4"/>
                </a:solidFill>
              </a:defRPr>
            </a:lvl5pPr>
          </a:lstStyle>
          <a:p>
            <a:pPr/>
            <a:r>
              <a:t>Click to add text</a:t>
            </a:r>
          </a:p>
          <a:p>
            <a:pPr lvl="1"/>
            <a:r>
              <a:t/>
            </a:r>
          </a:p>
          <a:p>
            <a:pPr lvl="2"/>
            <a:r>
              <a:t/>
            </a:r>
          </a:p>
          <a:p>
            <a:pPr lvl="3"/>
            <a:r>
              <a:t/>
            </a:r>
          </a:p>
          <a:p>
            <a:pPr lvl="4"/>
            <a:r>
              <a:t/>
            </a:r>
          </a:p>
        </p:txBody>
      </p:sp>
      <p:sp>
        <p:nvSpPr>
          <p:cNvPr id="2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27" name="Click to add title"/>
          <p:cNvSpPr txBox="1"/>
          <p:nvPr>
            <p:ph type="title" hasCustomPrompt="1"/>
          </p:nvPr>
        </p:nvSpPr>
        <p:spPr>
          <a:xfrm>
            <a:off x="548640" y="1737360"/>
            <a:ext cx="8046720" cy="914401"/>
          </a:xfrm>
          <a:prstGeom prst="rect">
            <a:avLst/>
          </a:prstGeom>
        </p:spPr>
        <p:txBody>
          <a:bodyPr anchor="t">
            <a:normAutofit fontScale="100000" lnSpcReduction="0"/>
          </a:bodyPr>
          <a:lstStyle>
            <a:lvl1pPr algn="l">
              <a:defRPr b="1" sz="3400">
                <a:solidFill>
                  <a:schemeClr val="accent2"/>
                </a:solidFill>
              </a:defRPr>
            </a:lvl1pPr>
          </a:lstStyle>
          <a:p>
            <a:pPr/>
            <a:r>
              <a:t>Click to add title</a:t>
            </a:r>
          </a:p>
        </p:txBody>
      </p:sp>
      <p:sp>
        <p:nvSpPr>
          <p:cNvPr id="28" name="Body Level One…"/>
          <p:cNvSpPr txBox="1"/>
          <p:nvPr>
            <p:ph type="body" sz="quarter" idx="1" hasCustomPrompt="1"/>
          </p:nvPr>
        </p:nvSpPr>
        <p:spPr>
          <a:xfrm>
            <a:off x="548640" y="2743200"/>
            <a:ext cx="8046720" cy="457200"/>
          </a:xfrm>
          <a:prstGeom prst="rect">
            <a:avLst/>
          </a:prstGeom>
        </p:spPr>
        <p:txBody>
          <a:bodyPr>
            <a:normAutofit fontScale="100000" lnSpcReduction="0"/>
          </a:bodyPr>
          <a:lstStyle>
            <a:lvl1pPr marL="0" indent="0">
              <a:spcBef>
                <a:spcPts val="400"/>
              </a:spcBef>
              <a:buSzTx/>
              <a:buFontTx/>
              <a:buNone/>
              <a:defRPr sz="1800">
                <a:solidFill>
                  <a:schemeClr val="accent4"/>
                </a:solidFill>
              </a:defRPr>
            </a:lvl1pPr>
            <a:lvl2pPr marL="640896" indent="-183696">
              <a:spcBef>
                <a:spcPts val="400"/>
              </a:spcBef>
              <a:buFontTx/>
              <a:defRPr sz="1800">
                <a:solidFill>
                  <a:schemeClr val="accent4"/>
                </a:solidFill>
              </a:defRPr>
            </a:lvl2pPr>
            <a:lvl3pPr marL="1085850" indent="-171450">
              <a:spcBef>
                <a:spcPts val="400"/>
              </a:spcBef>
              <a:buFontTx/>
              <a:defRPr sz="1800">
                <a:solidFill>
                  <a:schemeClr val="accent4"/>
                </a:solidFill>
              </a:defRPr>
            </a:lvl3pPr>
            <a:lvl4pPr marL="1577339" indent="-205739">
              <a:spcBef>
                <a:spcPts val="400"/>
              </a:spcBef>
              <a:buFontTx/>
              <a:defRPr sz="1800">
                <a:solidFill>
                  <a:schemeClr val="accent4"/>
                </a:solidFill>
              </a:defRPr>
            </a:lvl4pPr>
            <a:lvl5pPr marL="2034539" indent="-205739">
              <a:spcBef>
                <a:spcPts val="400"/>
              </a:spcBef>
              <a:buFontTx/>
              <a:defRPr sz="1800">
                <a:solidFill>
                  <a:schemeClr val="accent4"/>
                </a:solidFill>
              </a:defRPr>
            </a:lvl5pPr>
          </a:lstStyle>
          <a:p>
            <a:pPr/>
            <a:r>
              <a:t>Click to add text</a:t>
            </a:r>
          </a:p>
          <a:p>
            <a:pPr lvl="1"/>
            <a:r>
              <a:t/>
            </a:r>
          </a:p>
          <a:p>
            <a:pPr lvl="2"/>
            <a:r>
              <a:t/>
            </a:r>
          </a:p>
          <a:p>
            <a:pPr lvl="3"/>
            <a:r>
              <a:t/>
            </a:r>
          </a:p>
          <a:p>
            <a:pPr lvl="4"/>
            <a:r>
              <a:t/>
            </a:r>
          </a:p>
        </p:txBody>
      </p:sp>
      <p:sp>
        <p:nvSpPr>
          <p:cNvPr id="29" name="Slide Number"/>
          <p:cNvSpPr txBox="1"/>
          <p:nvPr>
            <p:ph type="sldNum" sz="quarter" idx="2"/>
          </p:nvPr>
        </p:nvSpPr>
        <p:spPr>
          <a:xfrm>
            <a:off x="8229600" y="4709159"/>
            <a:ext cx="220003" cy="205915"/>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p:spTree>
      <p:nvGrpSpPr>
        <p:cNvPr id="1" name=""/>
        <p:cNvGrpSpPr/>
        <p:nvPr/>
      </p:nvGrpSpPr>
      <p:grpSpPr>
        <a:xfrm>
          <a:off x="0" y="0"/>
          <a:ext cx="0" cy="0"/>
          <a:chOff x="0" y="0"/>
          <a:chExt cx="0" cy="0"/>
        </a:xfrm>
      </p:grpSpPr>
      <p:sp>
        <p:nvSpPr>
          <p:cNvPr id="36" name="Click to add title"/>
          <p:cNvSpPr txBox="1"/>
          <p:nvPr>
            <p:ph type="title" hasCustomPrompt="1"/>
          </p:nvPr>
        </p:nvSpPr>
        <p:spPr>
          <a:xfrm>
            <a:off x="457200" y="274320"/>
            <a:ext cx="8229600" cy="685801"/>
          </a:xfrm>
          <a:prstGeom prst="rect">
            <a:avLst/>
          </a:prstGeom>
        </p:spPr>
        <p:txBody>
          <a:bodyPr anchor="t">
            <a:normAutofit fontScale="100000" lnSpcReduction="0"/>
          </a:bodyPr>
          <a:lstStyle>
            <a:lvl1pPr algn="l">
              <a:defRPr b="1" sz="2800">
                <a:solidFill>
                  <a:schemeClr val="accent2"/>
                </a:solidFill>
              </a:defRPr>
            </a:lvl1pPr>
          </a:lstStyle>
          <a:p>
            <a:pPr/>
            <a:r>
              <a:t>Click to add title</a:t>
            </a:r>
          </a:p>
        </p:txBody>
      </p:sp>
      <p:sp>
        <p:nvSpPr>
          <p:cNvPr id="37" name="Slide Number"/>
          <p:cNvSpPr txBox="1"/>
          <p:nvPr>
            <p:ph type="sldNum" sz="quarter" idx="2"/>
          </p:nvPr>
        </p:nvSpPr>
        <p:spPr>
          <a:xfrm>
            <a:off x="8229600" y="4709159"/>
            <a:ext cx="220003" cy="205915"/>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69056"/>
            <a:ext cx="8229600" cy="11310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6553200" y="4767262"/>
            <a:ext cx="2133600" cy="279401"/>
          </a:xfrm>
          <a:prstGeom prst="rect">
            <a:avLst/>
          </a:prstGeom>
          <a:ln w="12700">
            <a:miter lim="400000"/>
          </a:ln>
        </p:spPr>
        <p:txBody>
          <a:bodyPr wrap="none" lIns="45719" rIns="45719">
            <a:spAutoFit/>
          </a:bodyPr>
          <a:lstStyle>
            <a:lvl1pPr>
              <a:defRPr sz="900">
                <a:solidFill>
                  <a:schemeClr val="accent5"/>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B1F2E"/>
          </a:solidFill>
          <a:uFillTx/>
          <a:latin typeface="Cambria"/>
          <a:ea typeface="Cambria"/>
          <a:cs typeface="Cambria"/>
          <a:sym typeface="Cambria"/>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B1F2E"/>
          </a:solidFill>
          <a:uFillTx/>
          <a:latin typeface="Cambria"/>
          <a:ea typeface="Cambria"/>
          <a:cs typeface="Cambria"/>
          <a:sym typeface="Cambria"/>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B1F2E"/>
          </a:solidFill>
          <a:uFillTx/>
          <a:latin typeface="Cambria"/>
          <a:ea typeface="Cambria"/>
          <a:cs typeface="Cambria"/>
          <a:sym typeface="Cambria"/>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B1F2E"/>
          </a:solidFill>
          <a:uFillTx/>
          <a:latin typeface="Cambria"/>
          <a:ea typeface="Cambria"/>
          <a:cs typeface="Cambria"/>
          <a:sym typeface="Cambria"/>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B1F2E"/>
          </a:solidFill>
          <a:uFillTx/>
          <a:latin typeface="Cambria"/>
          <a:ea typeface="Cambria"/>
          <a:cs typeface="Cambria"/>
          <a:sym typeface="Cambria"/>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B1F2E"/>
          </a:solidFill>
          <a:uFillTx/>
          <a:latin typeface="Cambria"/>
          <a:ea typeface="Cambria"/>
          <a:cs typeface="Cambria"/>
          <a:sym typeface="Cambria"/>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B1F2E"/>
          </a:solidFill>
          <a:uFillTx/>
          <a:latin typeface="Cambria"/>
          <a:ea typeface="Cambria"/>
          <a:cs typeface="Cambria"/>
          <a:sym typeface="Cambria"/>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B1F2E"/>
          </a:solidFill>
          <a:uFillTx/>
          <a:latin typeface="Cambria"/>
          <a:ea typeface="Cambria"/>
          <a:cs typeface="Cambria"/>
          <a:sym typeface="Cambria"/>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B1F2E"/>
          </a:solidFill>
          <a:uFillTx/>
          <a:latin typeface="Cambria"/>
          <a:ea typeface="Cambria"/>
          <a:cs typeface="Cambria"/>
          <a:sym typeface="Cambria"/>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B1F2E"/>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B1F2E"/>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B1F2E"/>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B1F2E"/>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B1F2E"/>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B1F2E"/>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B1F2E"/>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B1F2E"/>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B1F2E"/>
          </a:solidFill>
          <a:uFillTx/>
          <a:latin typeface="+mj-lt"/>
          <a:ea typeface="+mj-ea"/>
          <a:cs typeface="+mj-cs"/>
          <a:sym typeface="Calibri"/>
        </a:defRPr>
      </a:lvl9pPr>
    </p:bodyStyle>
    <p:otherStyle>
      <a:lvl1pPr marL="0" marR="0" indent="0" algn="l"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1pPr>
      <a:lvl2pPr marL="0" marR="0" indent="457200" algn="l"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2pPr>
      <a:lvl3pPr marL="0" marR="0" indent="914400" algn="l"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3pPr>
      <a:lvl4pPr marL="0" marR="0" indent="1371600" algn="l"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4pPr>
      <a:lvl5pPr marL="0" marR="0" indent="1828800" algn="l"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5pPr>
      <a:lvl6pPr marL="0" marR="0" indent="2286000" algn="l"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6pPr>
      <a:lvl7pPr marL="0" marR="0" indent="2743200" algn="l"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7pPr>
      <a:lvl8pPr marL="0" marR="0" indent="3200400" algn="l"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8pPr>
      <a:lvl9pPr marL="0" marR="0" indent="3657600" algn="l"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jpeg"/></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 name="Text 0"/>
          <p:cNvSpPr txBox="1"/>
          <p:nvPr>
            <p:ph type="title"/>
          </p:nvPr>
        </p:nvSpPr>
        <p:spPr>
          <a:xfrm>
            <a:off x="548640" y="1371600"/>
            <a:ext cx="8046719" cy="1371600"/>
          </a:xfrm>
          <a:prstGeom prst="rect">
            <a:avLst/>
          </a:prstGeom>
        </p:spPr>
        <p:txBody>
          <a:bodyPr lIns="0" tIns="0" rIns="0" bIns="0" anchor="b"/>
          <a:lstStyle/>
          <a:p>
            <a:pPr/>
            <a:r>
              <a:t>Diversity, Discrimination and School in the USA</a:t>
            </a:r>
          </a:p>
        </p:txBody>
      </p:sp>
      <p:sp>
        <p:nvSpPr>
          <p:cNvPr id="47" name="Text 0"/>
          <p:cNvSpPr txBox="1"/>
          <p:nvPr>
            <p:ph type="body" sz="quarter" idx="1"/>
          </p:nvPr>
        </p:nvSpPr>
        <p:spPr>
          <a:xfrm>
            <a:off x="548640" y="2880360"/>
            <a:ext cx="8046719" cy="457201"/>
          </a:xfrm>
          <a:prstGeom prst="rect">
            <a:avLst/>
          </a:prstGeom>
        </p:spPr>
        <p:txBody>
          <a:bodyPr lIns="0" tIns="0" rIns="0" bIns="0"/>
          <a:lstStyle/>
          <a:p>
            <a:pP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 name="Text 0"/>
          <p:cNvSpPr txBox="1"/>
          <p:nvPr>
            <p:ph type="title"/>
          </p:nvPr>
        </p:nvSpPr>
        <p:spPr>
          <a:prstGeom prst="rect">
            <a:avLst/>
          </a:prstGeom>
        </p:spPr>
        <p:txBody>
          <a:bodyPr lIns="0" tIns="0" rIns="0" bIns="0" anchor="ctr"/>
          <a:lstStyle/>
          <a:p>
            <a:pPr/>
            <a:r>
              <a:t>Today's lesson</a:t>
            </a:r>
          </a:p>
        </p:txBody>
      </p:sp>
      <p:graphicFrame>
        <p:nvGraphicFramePr>
          <p:cNvPr id="52" name="table-1"/>
          <p:cNvGraphicFramePr/>
          <p:nvPr/>
        </p:nvGraphicFramePr>
        <p:xfrm>
          <a:off x="457200" y="1188719"/>
          <a:ext cx="8229600" cy="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645920"/>
                <a:gridCol w="6583680"/>
              </a:tblGrid>
              <a:tr h="50800">
                <a:tc>
                  <a:txBody>
                    <a:bodyPr/>
                    <a:lstStyle/>
                    <a:p>
                      <a:pPr>
                        <a:defRPr sz="1800">
                          <a:solidFill>
                            <a:srgbClr val="000000"/>
                          </a:solidFill>
                        </a:defRPr>
                      </a:pPr>
                      <a:r>
                        <a:rPr b="1" sz="1600">
                          <a:solidFill>
                            <a:schemeClr val="accent2"/>
                          </a:solidFill>
                        </a:rPr>
                        <a:t>Time</a:t>
                      </a:r>
                    </a:p>
                  </a:txBody>
                  <a:tcPr marL="0" marR="0" marT="0" marB="0" anchor="ctr" anchorCtr="0" horzOverflow="overflow">
                    <a:lnL w="12700">
                      <a:miter lim="400000"/>
                    </a:lnL>
                    <a:lnR w="12700">
                      <a:miter lim="400000"/>
                    </a:lnR>
                    <a:lnT w="12700">
                      <a:miter lim="400000"/>
                    </a:lnT>
                    <a:lnB w="15875">
                      <a:solidFill>
                        <a:schemeClr val="accent2"/>
                      </a:solidFill>
                    </a:lnB>
                    <a:noFill/>
                  </a:tcPr>
                </a:tc>
                <a:tc>
                  <a:txBody>
                    <a:bodyPr/>
                    <a:lstStyle/>
                    <a:p>
                      <a:pPr>
                        <a:defRPr sz="1800">
                          <a:solidFill>
                            <a:srgbClr val="000000"/>
                          </a:solidFill>
                        </a:defRPr>
                      </a:pPr>
                      <a:r>
                        <a:rPr b="1" sz="1600">
                          <a:solidFill>
                            <a:schemeClr val="accent2"/>
                          </a:solidFill>
                        </a:rPr>
                        <a:t>What we do</a:t>
                      </a:r>
                    </a:p>
                  </a:txBody>
                  <a:tcPr marL="0" marR="0" marT="0" marB="0" anchor="ctr" anchorCtr="0" horzOverflow="overflow">
                    <a:lnL w="12700">
                      <a:miter lim="400000"/>
                    </a:lnL>
                    <a:lnR w="12700">
                      <a:miter lim="400000"/>
                    </a:lnR>
                    <a:lnT w="12700">
                      <a:miter lim="400000"/>
                    </a:lnT>
                    <a:lnB w="15875">
                      <a:solidFill>
                        <a:schemeClr val="accent2"/>
                      </a:solidFill>
                    </a:lnB>
                    <a:noFill/>
                  </a:tcPr>
                </a:tc>
              </a:tr>
              <a:tr h="50800">
                <a:tc>
                  <a:txBody>
                    <a:bodyPr/>
                    <a:lstStyle/>
                    <a:p>
                      <a:pPr>
                        <a:defRPr sz="1800">
                          <a:solidFill>
                            <a:srgbClr val="000000"/>
                          </a:solidFill>
                        </a:defRPr>
                      </a:pPr>
                      <a:r>
                        <a:rPr sz="1600">
                          <a:solidFill>
                            <a:srgbClr val="1B1F2E"/>
                          </a:solidFill>
                        </a:rPr>
                        <a:t>5 min</a:t>
                      </a:r>
                    </a:p>
                  </a:txBody>
                  <a:tcPr marL="0" marR="0" marT="0" marB="0" anchor="ctr" anchorCtr="0" horzOverflow="overflow">
                    <a:lnL w="12700">
                      <a:miter lim="400000"/>
                    </a:lnL>
                    <a:lnR w="12700">
                      <a:miter lim="400000"/>
                    </a:lnR>
                    <a:lnT w="15875">
                      <a:solidFill>
                        <a:schemeClr val="accent2"/>
                      </a:solidFill>
                    </a:lnT>
                    <a:lnB>
                      <a:solidFill>
                        <a:srgbClr val="C9CCD8"/>
                      </a:solidFill>
                    </a:lnB>
                    <a:noFill/>
                  </a:tcPr>
                </a:tc>
                <a:tc>
                  <a:txBody>
                    <a:bodyPr/>
                    <a:lstStyle/>
                    <a:p>
                      <a:pPr>
                        <a:defRPr sz="1800">
                          <a:solidFill>
                            <a:srgbClr val="000000"/>
                          </a:solidFill>
                        </a:defRPr>
                      </a:pPr>
                      <a:r>
                        <a:rPr sz="1600">
                          <a:solidFill>
                            <a:srgbClr val="1B1F2E"/>
                          </a:solidFill>
                        </a:rPr>
                        <a:t>Warm-up: What do you already know about the USA?</a:t>
                      </a:r>
                    </a:p>
                  </a:txBody>
                  <a:tcPr marL="0" marR="0" marT="0" marB="0" anchor="ctr" anchorCtr="0" horzOverflow="overflow">
                    <a:lnL w="12700">
                      <a:miter lim="400000"/>
                    </a:lnL>
                    <a:lnR w="12700">
                      <a:miter lim="400000"/>
                    </a:lnR>
                    <a:lnT w="15875">
                      <a:solidFill>
                        <a:schemeClr val="accent2"/>
                      </a:solidFill>
                    </a:lnT>
                    <a:lnB>
                      <a:solidFill>
                        <a:srgbClr val="C9CCD8"/>
                      </a:solidFill>
                    </a:lnB>
                    <a:noFill/>
                  </a:tcPr>
                </a:tc>
              </a:tr>
              <a:tr h="50800">
                <a:tc>
                  <a:txBody>
                    <a:bodyPr/>
                    <a:lstStyle/>
                    <a:p>
                      <a:pPr>
                        <a:defRPr sz="1800">
                          <a:solidFill>
                            <a:srgbClr val="000000"/>
                          </a:solidFill>
                        </a:defRPr>
                      </a:pPr>
                      <a:r>
                        <a:rPr sz="1600">
                          <a:solidFill>
                            <a:srgbClr val="1B1F2E"/>
                          </a:solidFill>
                        </a:rPr>
                        <a:t>15–20 min</a:t>
                      </a:r>
                    </a:p>
                  </a:txBody>
                  <a:tcPr marL="0" marR="0" marT="0" marB="0" anchor="ctr" anchorCtr="0" horzOverflow="overflow">
                    <a:lnL w="12700">
                      <a:miter lim="400000"/>
                    </a:lnL>
                    <a:lnR w="12700">
                      <a:miter lim="400000"/>
                    </a:lnR>
                    <a:lnT>
                      <a:solidFill>
                        <a:srgbClr val="C9CCD8"/>
                      </a:solidFill>
                    </a:lnT>
                    <a:lnB>
                      <a:solidFill>
                        <a:srgbClr val="C9CCD8"/>
                      </a:solidFill>
                    </a:lnB>
                    <a:noFill/>
                  </a:tcPr>
                </a:tc>
                <a:tc>
                  <a:txBody>
                    <a:bodyPr/>
                    <a:lstStyle/>
                    <a:p>
                      <a:pPr>
                        <a:defRPr sz="1600"/>
                      </a:pPr>
                      <a:r>
                        <a:t>Part 1: A diverse country and the fight against discrimination</a:t>
                      </a:r>
                    </a:p>
                    <a:p>
                      <a:pPr>
                        <a:defRPr sz="1600"/>
                      </a:pPr>
                      <a:r>
                        <a:t>Part 2: School and college in the USA</a:t>
                      </a:r>
                    </a:p>
                  </a:txBody>
                  <a:tcPr marL="0" marR="0" marT="0" marB="0" anchor="ctr" anchorCtr="0" horzOverflow="overflow">
                    <a:lnL w="12700">
                      <a:miter lim="400000"/>
                    </a:lnL>
                    <a:lnR w="12700">
                      <a:miter lim="400000"/>
                    </a:lnR>
                    <a:lnT>
                      <a:solidFill>
                        <a:srgbClr val="C9CCD8"/>
                      </a:solidFill>
                    </a:lnT>
                    <a:lnB>
                      <a:solidFill>
                        <a:srgbClr val="C9CCD8"/>
                      </a:solidFill>
                    </a:lnB>
                    <a:noFill/>
                  </a:tcPr>
                </a:tc>
              </a:tr>
              <a:tr h="50800">
                <a:tc>
                  <a:txBody>
                    <a:bodyPr/>
                    <a:lstStyle/>
                    <a:p>
                      <a:pPr>
                        <a:defRPr sz="1800">
                          <a:solidFill>
                            <a:srgbClr val="000000"/>
                          </a:solidFill>
                        </a:defRPr>
                      </a:pPr>
                      <a:r>
                        <a:rPr sz="1600">
                          <a:solidFill>
                            <a:srgbClr val="1B1F2E"/>
                          </a:solidFill>
                        </a:rPr>
                        <a:t>15–20 min</a:t>
                      </a:r>
                    </a:p>
                  </a:txBody>
                  <a:tcPr marL="0" marR="0" marT="0" marB="0" anchor="ctr" anchorCtr="0" horzOverflow="overflow">
                    <a:lnL w="12700">
                      <a:miter lim="400000"/>
                    </a:lnL>
                    <a:lnR w="12700">
                      <a:miter lim="400000"/>
                    </a:lnR>
                    <a:lnT>
                      <a:solidFill>
                        <a:srgbClr val="C9CCD8"/>
                      </a:solidFill>
                    </a:lnT>
                    <a:lnB>
                      <a:solidFill>
                        <a:srgbClr val="C9CCD8"/>
                      </a:solidFill>
                    </a:lnB>
                    <a:noFill/>
                  </a:tcPr>
                </a:tc>
                <a:tc>
                  <a:txBody>
                    <a:bodyPr/>
                    <a:lstStyle/>
                    <a:p>
                      <a:pPr>
                        <a:defRPr sz="1800">
                          <a:solidFill>
                            <a:srgbClr val="000000"/>
                          </a:solidFill>
                        </a:defRPr>
                      </a:pPr>
                      <a:r>
                        <a:rPr sz="1600">
                          <a:solidFill>
                            <a:srgbClr val="1B1F2E"/>
                          </a:solidFill>
                        </a:rPr>
                        <a:t>Team quiz, then share your opinion in groups</a:t>
                      </a:r>
                    </a:p>
                  </a:txBody>
                  <a:tcPr marL="0" marR="0" marT="0" marB="0" anchor="ctr" anchorCtr="0" horzOverflow="overflow">
                    <a:lnL w="12700">
                      <a:miter lim="400000"/>
                    </a:lnL>
                    <a:lnR w="12700">
                      <a:miter lim="400000"/>
                    </a:lnR>
                    <a:lnT>
                      <a:solidFill>
                        <a:srgbClr val="C9CCD8"/>
                      </a:solidFill>
                    </a:lnT>
                    <a:lnB>
                      <a:solidFill>
                        <a:srgbClr val="C9CCD8"/>
                      </a:solidFill>
                    </a:lnB>
                    <a:noFill/>
                  </a:tcPr>
                </a:tc>
              </a:tr>
            </a:tbl>
          </a:graphicData>
        </a:graphic>
      </p:graphicFrame>
      <p:sp>
        <p:nvSpPr>
          <p:cNvPr id="53" name="Slide Number Placeholder 0"/>
          <p:cNvSpPr txBox="1"/>
          <p:nvPr>
            <p:ph type="sldNum" sz="quarter" idx="4294967295"/>
          </p:nvPr>
        </p:nvSpPr>
        <p:spPr>
          <a:xfrm>
            <a:off x="8229600" y="4709159"/>
            <a:ext cx="162072" cy="20591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 name="Text 0"/>
          <p:cNvSpPr txBox="1"/>
          <p:nvPr>
            <p:ph type="title"/>
          </p:nvPr>
        </p:nvSpPr>
        <p:spPr>
          <a:prstGeom prst="rect">
            <a:avLst/>
          </a:prstGeom>
        </p:spPr>
        <p:txBody>
          <a:bodyPr lIns="0" tIns="0" rIns="0" bIns="0" anchor="ctr"/>
          <a:lstStyle/>
          <a:p>
            <a:pPr/>
            <a:r>
              <a:t>Think of an American high school film</a:t>
            </a:r>
          </a:p>
        </p:txBody>
      </p:sp>
      <p:sp>
        <p:nvSpPr>
          <p:cNvPr id="58" name="text-2"/>
          <p:cNvSpPr txBox="1"/>
          <p:nvPr/>
        </p:nvSpPr>
        <p:spPr>
          <a:xfrm>
            <a:off x="457200" y="1142999"/>
            <a:ext cx="8229600" cy="4631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lvl1pPr>
          </a:lstStyle>
          <a:p>
            <a:pPr/>
            <a:r>
              <a:t>Talk to your neighbour for 1 minute. Which of these do you know from films or TV? Do you think life in the U.S. is really like that?</a:t>
            </a:r>
          </a:p>
        </p:txBody>
      </p:sp>
      <p:sp>
        <p:nvSpPr>
          <p:cNvPr id="59" name="text-3"/>
          <p:cNvSpPr txBox="1"/>
          <p:nvPr/>
        </p:nvSpPr>
        <p:spPr>
          <a:xfrm>
            <a:off x="457200" y="2011679"/>
            <a:ext cx="3840480" cy="16315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03200" indent="-203200">
              <a:spcBef>
                <a:spcPts val="800"/>
              </a:spcBef>
              <a:buSzPct val="100000"/>
              <a:buChar char="•"/>
              <a:defRPr sz="1600"/>
            </a:pPr>
            <a:r>
              <a:t>yellow school bus</a:t>
            </a:r>
          </a:p>
          <a:p>
            <a:pPr marL="203200" indent="-203200">
              <a:spcBef>
                <a:spcPts val="800"/>
              </a:spcBef>
              <a:buSzPct val="100000"/>
              <a:buChar char="•"/>
              <a:defRPr sz="1600"/>
            </a:pPr>
            <a:r>
              <a:t>lockers</a:t>
            </a:r>
          </a:p>
          <a:p>
            <a:pPr marL="203200" indent="-203200">
              <a:spcBef>
                <a:spcPts val="800"/>
              </a:spcBef>
              <a:buSzPct val="100000"/>
              <a:buChar char="•"/>
              <a:defRPr sz="1600"/>
            </a:pPr>
            <a:r>
              <a:t>prom</a:t>
            </a:r>
          </a:p>
          <a:p>
            <a:pPr marL="203200" indent="-203200">
              <a:spcBef>
                <a:spcPts val="800"/>
              </a:spcBef>
              <a:buSzPct val="100000"/>
              <a:buChar char="•"/>
              <a:defRPr sz="1600"/>
            </a:pPr>
            <a:r>
              <a:t>cheerleaders</a:t>
            </a:r>
          </a:p>
          <a:p>
            <a:pPr marL="203200" indent="-203200">
              <a:spcBef>
                <a:spcPts val="800"/>
              </a:spcBef>
              <a:buSzPct val="100000"/>
              <a:buChar char="•"/>
              <a:defRPr sz="1600"/>
            </a:pPr>
            <a:r>
              <a:t>the cafeteria</a:t>
            </a:r>
          </a:p>
        </p:txBody>
      </p:sp>
      <p:sp>
        <p:nvSpPr>
          <p:cNvPr id="60" name="text-4"/>
          <p:cNvSpPr txBox="1"/>
          <p:nvPr/>
        </p:nvSpPr>
        <p:spPr>
          <a:xfrm>
            <a:off x="4572000" y="2011679"/>
            <a:ext cx="4114800" cy="12759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03200" indent="-203200">
              <a:spcBef>
                <a:spcPts val="800"/>
              </a:spcBef>
              <a:buSzPct val="100000"/>
              <a:buChar char="•"/>
              <a:defRPr sz="1600"/>
            </a:pPr>
            <a:r>
              <a:t>football games</a:t>
            </a:r>
          </a:p>
          <a:p>
            <a:pPr marL="203200" indent="-203200">
              <a:spcBef>
                <a:spcPts val="800"/>
              </a:spcBef>
              <a:buSzPct val="100000"/>
              <a:buChar char="•"/>
              <a:defRPr sz="1600"/>
            </a:pPr>
            <a:r>
              <a:t>graduation caps</a:t>
            </a:r>
          </a:p>
          <a:p>
            <a:pPr marL="203200" indent="-203200">
              <a:spcBef>
                <a:spcPts val="800"/>
              </a:spcBef>
              <a:buSzPct val="100000"/>
              <a:buChar char="•"/>
              <a:defRPr sz="1600"/>
            </a:pPr>
            <a:r>
              <a:t>school spirit</a:t>
            </a:r>
          </a:p>
          <a:p>
            <a:pPr marL="203200" indent="-203200">
              <a:spcBef>
                <a:spcPts val="800"/>
              </a:spcBef>
              <a:buSzPct val="100000"/>
              <a:buChar char="•"/>
              <a:defRPr sz="1600"/>
            </a:pPr>
            <a:r>
              <a:t>the Pledge of Allegiance</a:t>
            </a:r>
          </a:p>
        </p:txBody>
      </p:sp>
      <p:sp>
        <p:nvSpPr>
          <p:cNvPr id="61" name="Slide Number Placeholder 0"/>
          <p:cNvSpPr txBox="1"/>
          <p:nvPr>
            <p:ph type="sldNum" sz="quarter" idx="4294967295"/>
          </p:nvPr>
        </p:nvSpPr>
        <p:spPr>
          <a:xfrm>
            <a:off x="8229600" y="4709159"/>
            <a:ext cx="162072" cy="20591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 name="Text 0"/>
          <p:cNvSpPr txBox="1"/>
          <p:nvPr>
            <p:ph type="title"/>
          </p:nvPr>
        </p:nvSpPr>
        <p:spPr>
          <a:prstGeom prst="rect">
            <a:avLst/>
          </a:prstGeom>
        </p:spPr>
        <p:txBody>
          <a:bodyPr lIns="0" tIns="0" rIns="0" bIns="0" anchor="ctr"/>
          <a:lstStyle/>
          <a:p>
            <a:pPr/>
            <a:r>
              <a:t>True or false? Take a guess!</a:t>
            </a:r>
          </a:p>
        </p:txBody>
      </p:sp>
      <p:sp>
        <p:nvSpPr>
          <p:cNvPr id="66" name="text-5"/>
          <p:cNvSpPr txBox="1"/>
          <p:nvPr/>
        </p:nvSpPr>
        <p:spPr>
          <a:xfrm>
            <a:off x="457200" y="1188719"/>
            <a:ext cx="8229600" cy="16513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28600" indent="-228600">
              <a:spcBef>
                <a:spcPts val="1400"/>
              </a:spcBef>
              <a:buSzPct val="100000"/>
              <a:buAutoNum type="arabicPeriod" startAt="1"/>
            </a:pPr>
            <a:r>
              <a:t>About 1 in 5 people in the USA is Hispanic or Latino.</a:t>
            </a:r>
          </a:p>
          <a:p>
            <a:pPr marL="228600" indent="-228600">
              <a:spcBef>
                <a:spcPts val="1400"/>
              </a:spcBef>
              <a:buSzPct val="100000"/>
              <a:buAutoNum type="arabicPeriod" startAt="1"/>
            </a:pPr>
            <a:r>
              <a:t>Most American students go to private schools.</a:t>
            </a:r>
          </a:p>
          <a:p>
            <a:pPr marL="228600" indent="-228600">
              <a:spcBef>
                <a:spcPts val="1400"/>
              </a:spcBef>
              <a:buSzPct val="100000"/>
              <a:buAutoNum type="arabicPeriod" startAt="1"/>
            </a:pPr>
            <a:r>
              <a:t>One year at a private US university costs about €4,000.</a:t>
            </a:r>
          </a:p>
          <a:p>
            <a:pPr marL="228600" indent="-228600">
              <a:spcBef>
                <a:spcPts val="1400"/>
              </a:spcBef>
              <a:buSzPct val="100000"/>
              <a:buAutoNum type="arabicPeriod" startAt="1"/>
            </a:pPr>
            <a:r>
              <a:t>Until 1954, Black and white children could legally be sent to separate schools.</a:t>
            </a:r>
          </a:p>
        </p:txBody>
      </p:sp>
      <p:sp>
        <p:nvSpPr>
          <p:cNvPr id="67" name="Slide Number Placeholder 0"/>
          <p:cNvSpPr txBox="1"/>
          <p:nvPr>
            <p:ph type="sldNum" sz="quarter" idx="4294967295"/>
          </p:nvPr>
        </p:nvSpPr>
        <p:spPr>
          <a:xfrm>
            <a:off x="8229600" y="4709159"/>
            <a:ext cx="162072" cy="20591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1" name="Text 0"/>
          <p:cNvSpPr txBox="1"/>
          <p:nvPr>
            <p:ph type="title"/>
          </p:nvPr>
        </p:nvSpPr>
        <p:spPr>
          <a:xfrm>
            <a:off x="548640" y="1737360"/>
            <a:ext cx="8046719" cy="914401"/>
          </a:xfrm>
          <a:prstGeom prst="rect">
            <a:avLst/>
          </a:prstGeom>
        </p:spPr>
        <p:txBody>
          <a:bodyPr lIns="0" tIns="0" rIns="0" bIns="0" anchor="b"/>
          <a:lstStyle/>
          <a:p>
            <a:pPr/>
            <a:r>
              <a:t>Part 1: Diversity in the U.S.</a:t>
            </a:r>
          </a:p>
        </p:txBody>
      </p:sp>
      <p:sp>
        <p:nvSpPr>
          <p:cNvPr id="72" name="Text 0"/>
          <p:cNvSpPr txBox="1"/>
          <p:nvPr>
            <p:ph type="body" sz="quarter" idx="1"/>
          </p:nvPr>
        </p:nvSpPr>
        <p:spPr>
          <a:xfrm>
            <a:off x="548640" y="2743200"/>
            <a:ext cx="8046719" cy="457200"/>
          </a:xfrm>
          <a:prstGeom prst="rect">
            <a:avLst/>
          </a:prstGeom>
        </p:spPr>
        <p:txBody>
          <a:bodyPr lIns="0" tIns="0" rIns="0" bIns="0"/>
          <a:lstStyle/>
          <a:p>
            <a:pPr/>
          </a:p>
        </p:txBody>
      </p:sp>
      <p:sp>
        <p:nvSpPr>
          <p:cNvPr id="73" name="Slide Number Placeholder 0"/>
          <p:cNvSpPr txBox="1"/>
          <p:nvPr>
            <p:ph type="sldNum" sz="quarter" idx="4294967295"/>
          </p:nvPr>
        </p:nvSpPr>
        <p:spPr>
          <a:xfrm>
            <a:off x="8229600" y="4709159"/>
            <a:ext cx="162072" cy="20591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7" name="Text 0"/>
          <p:cNvSpPr txBox="1"/>
          <p:nvPr>
            <p:ph type="title"/>
          </p:nvPr>
        </p:nvSpPr>
        <p:spPr>
          <a:prstGeom prst="rect">
            <a:avLst/>
          </a:prstGeom>
        </p:spPr>
        <p:txBody>
          <a:bodyPr lIns="0" tIns="0" rIns="0" bIns="0" anchor="ctr"/>
          <a:lstStyle/>
          <a:p>
            <a:pPr/>
            <a:r>
              <a:t>Key words</a:t>
            </a:r>
          </a:p>
        </p:txBody>
      </p:sp>
      <p:graphicFrame>
        <p:nvGraphicFramePr>
          <p:cNvPr id="78" name="table-6"/>
          <p:cNvGraphicFramePr/>
          <p:nvPr/>
        </p:nvGraphicFramePr>
        <p:xfrm>
          <a:off x="457200" y="1097280"/>
          <a:ext cx="8229600" cy="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011679"/>
                <a:gridCol w="4480560"/>
                <a:gridCol w="1737360"/>
              </a:tblGrid>
              <a:tr h="50800">
                <a:tc>
                  <a:txBody>
                    <a:bodyPr/>
                    <a:lstStyle/>
                    <a:p>
                      <a:pPr>
                        <a:defRPr sz="1800">
                          <a:solidFill>
                            <a:srgbClr val="000000"/>
                          </a:solidFill>
                        </a:defRPr>
                      </a:pPr>
                      <a:r>
                        <a:rPr b="1" sz="1500">
                          <a:solidFill>
                            <a:schemeClr val="accent2"/>
                          </a:solidFill>
                        </a:rPr>
                        <a:t>Word</a:t>
                      </a:r>
                    </a:p>
                  </a:txBody>
                  <a:tcPr marL="0" marR="0" marT="0" marB="0" anchor="ctr" anchorCtr="0" horzOverflow="overflow">
                    <a:lnL w="12700">
                      <a:miter lim="400000"/>
                    </a:lnL>
                    <a:lnR w="12700">
                      <a:miter lim="400000"/>
                    </a:lnR>
                    <a:lnT w="12700">
                      <a:miter lim="400000"/>
                    </a:lnT>
                    <a:lnB w="15875">
                      <a:solidFill>
                        <a:schemeClr val="accent2"/>
                      </a:solidFill>
                    </a:lnB>
                    <a:noFill/>
                  </a:tcPr>
                </a:tc>
                <a:tc>
                  <a:txBody>
                    <a:bodyPr/>
                    <a:lstStyle/>
                    <a:p>
                      <a:pPr>
                        <a:defRPr sz="1800">
                          <a:solidFill>
                            <a:srgbClr val="000000"/>
                          </a:solidFill>
                        </a:defRPr>
                      </a:pPr>
                      <a:r>
                        <a:rPr b="1" sz="1500">
                          <a:solidFill>
                            <a:schemeClr val="accent2"/>
                          </a:solidFill>
                        </a:rPr>
                        <a:t>Meaning</a:t>
                      </a:r>
                    </a:p>
                  </a:txBody>
                  <a:tcPr marL="0" marR="0" marT="0" marB="0" anchor="ctr" anchorCtr="0" horzOverflow="overflow">
                    <a:lnL w="12700">
                      <a:miter lim="400000"/>
                    </a:lnL>
                    <a:lnR w="12700">
                      <a:miter lim="400000"/>
                    </a:lnR>
                    <a:lnT w="12700">
                      <a:miter lim="400000"/>
                    </a:lnT>
                    <a:lnB w="15875">
                      <a:solidFill>
                        <a:schemeClr val="accent2"/>
                      </a:solidFill>
                    </a:lnB>
                    <a:noFill/>
                  </a:tcPr>
                </a:tc>
                <a:tc>
                  <a:txBody>
                    <a:bodyPr/>
                    <a:lstStyle/>
                    <a:p>
                      <a:pPr>
                        <a:defRPr sz="1800">
                          <a:solidFill>
                            <a:srgbClr val="000000"/>
                          </a:solidFill>
                        </a:defRPr>
                      </a:pPr>
                      <a:r>
                        <a:rPr b="1" sz="1500">
                          <a:solidFill>
                            <a:schemeClr val="accent2"/>
                          </a:solidFill>
                        </a:rPr>
                        <a:t>German</a:t>
                      </a:r>
                    </a:p>
                  </a:txBody>
                  <a:tcPr marL="0" marR="0" marT="0" marB="0" anchor="ctr" anchorCtr="0" horzOverflow="overflow">
                    <a:lnL w="12700">
                      <a:miter lim="400000"/>
                    </a:lnL>
                    <a:lnR w="12700">
                      <a:miter lim="400000"/>
                    </a:lnR>
                    <a:lnT w="12700">
                      <a:miter lim="400000"/>
                    </a:lnT>
                    <a:lnB w="15875">
                      <a:solidFill>
                        <a:schemeClr val="accent2"/>
                      </a:solidFill>
                    </a:lnB>
                    <a:noFill/>
                  </a:tcPr>
                </a:tc>
              </a:tr>
              <a:tr h="50800">
                <a:tc>
                  <a:txBody>
                    <a:bodyPr/>
                    <a:lstStyle/>
                    <a:p>
                      <a:pPr>
                        <a:defRPr sz="1800">
                          <a:solidFill>
                            <a:srgbClr val="000000"/>
                          </a:solidFill>
                        </a:defRPr>
                      </a:pPr>
                      <a:r>
                        <a:rPr sz="1500">
                          <a:solidFill>
                            <a:srgbClr val="1B1F2E"/>
                          </a:solidFill>
                        </a:rPr>
                        <a:t>diversity</a:t>
                      </a:r>
                    </a:p>
                  </a:txBody>
                  <a:tcPr marL="0" marR="0" marT="0" marB="0" anchor="ctr" anchorCtr="0" horzOverflow="overflow">
                    <a:lnL w="12700">
                      <a:miter lim="400000"/>
                    </a:lnL>
                    <a:lnR w="12700">
                      <a:miter lim="400000"/>
                    </a:lnR>
                    <a:lnT w="15875">
                      <a:solidFill>
                        <a:schemeClr val="accent2"/>
                      </a:solidFill>
                    </a:lnT>
                    <a:lnB>
                      <a:solidFill>
                        <a:srgbClr val="C9CCD8"/>
                      </a:solidFill>
                    </a:lnB>
                    <a:noFill/>
                  </a:tcPr>
                </a:tc>
                <a:tc>
                  <a:txBody>
                    <a:bodyPr/>
                    <a:lstStyle/>
                    <a:p>
                      <a:pPr>
                        <a:defRPr sz="1800">
                          <a:solidFill>
                            <a:srgbClr val="000000"/>
                          </a:solidFill>
                        </a:defRPr>
                      </a:pPr>
                      <a:r>
                        <a:rPr sz="1500">
                          <a:solidFill>
                            <a:srgbClr val="1B1F2E"/>
                          </a:solidFill>
                        </a:rPr>
                        <a:t>many different kinds of people living together</a:t>
                      </a:r>
                    </a:p>
                  </a:txBody>
                  <a:tcPr marL="0" marR="0" marT="0" marB="0" anchor="ctr" anchorCtr="0" horzOverflow="overflow">
                    <a:lnL w="12700">
                      <a:miter lim="400000"/>
                    </a:lnL>
                    <a:lnR w="12700">
                      <a:miter lim="400000"/>
                    </a:lnR>
                    <a:lnT w="15875">
                      <a:solidFill>
                        <a:schemeClr val="accent2"/>
                      </a:solidFill>
                    </a:lnT>
                    <a:lnB>
                      <a:solidFill>
                        <a:srgbClr val="C9CCD8"/>
                      </a:solidFill>
                    </a:lnB>
                    <a:noFill/>
                  </a:tcPr>
                </a:tc>
                <a:tc>
                  <a:txBody>
                    <a:bodyPr/>
                    <a:lstStyle/>
                    <a:p>
                      <a:pPr>
                        <a:defRPr sz="1800">
                          <a:solidFill>
                            <a:srgbClr val="000000"/>
                          </a:solidFill>
                        </a:defRPr>
                      </a:pPr>
                      <a:r>
                        <a:rPr sz="1500">
                          <a:solidFill>
                            <a:srgbClr val="1B1F2E"/>
                          </a:solidFill>
                        </a:rPr>
                        <a:t>Vielfalt</a:t>
                      </a:r>
                    </a:p>
                  </a:txBody>
                  <a:tcPr marL="0" marR="0" marT="0" marB="0" anchor="ctr" anchorCtr="0" horzOverflow="overflow">
                    <a:lnL w="12700">
                      <a:miter lim="400000"/>
                    </a:lnL>
                    <a:lnR w="12700">
                      <a:miter lim="400000"/>
                    </a:lnR>
                    <a:lnT w="15875">
                      <a:solidFill>
                        <a:schemeClr val="accent2"/>
                      </a:solidFill>
                    </a:lnT>
                    <a:lnB>
                      <a:solidFill>
                        <a:srgbClr val="C9CCD8"/>
                      </a:solidFill>
                    </a:lnB>
                    <a:noFill/>
                  </a:tcPr>
                </a:tc>
              </a:tr>
              <a:tr h="50800">
                <a:tc>
                  <a:txBody>
                    <a:bodyPr/>
                    <a:lstStyle/>
                    <a:p>
                      <a:pPr>
                        <a:defRPr sz="1800">
                          <a:solidFill>
                            <a:srgbClr val="000000"/>
                          </a:solidFill>
                        </a:defRPr>
                      </a:pPr>
                      <a:r>
                        <a:rPr sz="1500">
                          <a:solidFill>
                            <a:srgbClr val="1B1F2E"/>
                          </a:solidFill>
                        </a:rPr>
                        <a:t>discrimination</a:t>
                      </a:r>
                    </a:p>
                  </a:txBody>
                  <a:tcPr marL="0" marR="0" marT="0" marB="0" anchor="ctr" anchorCtr="0" horzOverflow="overflow">
                    <a:lnL w="12700">
                      <a:miter lim="400000"/>
                    </a:lnL>
                    <a:lnR w="12700">
                      <a:miter lim="400000"/>
                    </a:lnR>
                    <a:lnT>
                      <a:solidFill>
                        <a:srgbClr val="C9CCD8"/>
                      </a:solidFill>
                    </a:lnT>
                    <a:lnB>
                      <a:solidFill>
                        <a:srgbClr val="C9CCD8"/>
                      </a:solidFill>
                    </a:lnB>
                    <a:noFill/>
                  </a:tcPr>
                </a:tc>
                <a:tc>
                  <a:txBody>
                    <a:bodyPr/>
                    <a:lstStyle/>
                    <a:p>
                      <a:pPr>
                        <a:defRPr sz="1800">
                          <a:solidFill>
                            <a:srgbClr val="000000"/>
                          </a:solidFill>
                        </a:defRPr>
                      </a:pPr>
                      <a:r>
                        <a:rPr sz="1500">
                          <a:solidFill>
                            <a:srgbClr val="1B1F2E"/>
                          </a:solidFill>
                        </a:rPr>
                        <a:t>treating someone unfairly because of who they are</a:t>
                      </a:r>
                    </a:p>
                  </a:txBody>
                  <a:tcPr marL="0" marR="0" marT="0" marB="0" anchor="ctr" anchorCtr="0" horzOverflow="overflow">
                    <a:lnL w="12700">
                      <a:miter lim="400000"/>
                    </a:lnL>
                    <a:lnR w="12700">
                      <a:miter lim="400000"/>
                    </a:lnR>
                    <a:lnT>
                      <a:solidFill>
                        <a:srgbClr val="C9CCD8"/>
                      </a:solidFill>
                    </a:lnT>
                    <a:lnB>
                      <a:solidFill>
                        <a:srgbClr val="C9CCD8"/>
                      </a:solidFill>
                    </a:lnB>
                    <a:noFill/>
                  </a:tcPr>
                </a:tc>
                <a:tc>
                  <a:txBody>
                    <a:bodyPr/>
                    <a:lstStyle/>
                    <a:p>
                      <a:pPr>
                        <a:defRPr sz="1800">
                          <a:solidFill>
                            <a:srgbClr val="000000"/>
                          </a:solidFill>
                        </a:defRPr>
                      </a:pPr>
                      <a:r>
                        <a:rPr sz="1500">
                          <a:solidFill>
                            <a:srgbClr val="1B1F2E"/>
                          </a:solidFill>
                        </a:rPr>
                        <a:t>Diskriminierung</a:t>
                      </a:r>
                    </a:p>
                  </a:txBody>
                  <a:tcPr marL="0" marR="0" marT="0" marB="0" anchor="ctr" anchorCtr="0" horzOverflow="overflow">
                    <a:lnL w="12700">
                      <a:miter lim="400000"/>
                    </a:lnL>
                    <a:lnR w="12700">
                      <a:miter lim="400000"/>
                    </a:lnR>
                    <a:lnT>
                      <a:solidFill>
                        <a:srgbClr val="C9CCD8"/>
                      </a:solidFill>
                    </a:lnT>
                    <a:lnB>
                      <a:solidFill>
                        <a:srgbClr val="C9CCD8"/>
                      </a:solidFill>
                    </a:lnB>
                    <a:noFill/>
                  </a:tcPr>
                </a:tc>
              </a:tr>
              <a:tr h="50800">
                <a:tc>
                  <a:txBody>
                    <a:bodyPr/>
                    <a:lstStyle/>
                    <a:p>
                      <a:pPr>
                        <a:defRPr sz="1800">
                          <a:solidFill>
                            <a:srgbClr val="000000"/>
                          </a:solidFill>
                        </a:defRPr>
                      </a:pPr>
                      <a:r>
                        <a:rPr sz="1500">
                          <a:solidFill>
                            <a:srgbClr val="1B1F2E"/>
                          </a:solidFill>
                        </a:rPr>
                        <a:t>prejudice</a:t>
                      </a:r>
                    </a:p>
                  </a:txBody>
                  <a:tcPr marL="0" marR="0" marT="0" marB="0" anchor="ctr" anchorCtr="0" horzOverflow="overflow">
                    <a:lnL w="12700">
                      <a:miter lim="400000"/>
                    </a:lnL>
                    <a:lnR w="12700">
                      <a:miter lim="400000"/>
                    </a:lnR>
                    <a:lnT>
                      <a:solidFill>
                        <a:srgbClr val="C9CCD8"/>
                      </a:solidFill>
                    </a:lnT>
                    <a:lnB>
                      <a:solidFill>
                        <a:srgbClr val="C9CCD8"/>
                      </a:solidFill>
                    </a:lnB>
                    <a:noFill/>
                  </a:tcPr>
                </a:tc>
                <a:tc>
                  <a:txBody>
                    <a:bodyPr/>
                    <a:lstStyle/>
                    <a:p>
                      <a:pPr>
                        <a:defRPr sz="1800">
                          <a:solidFill>
                            <a:srgbClr val="000000"/>
                          </a:solidFill>
                        </a:defRPr>
                      </a:pPr>
                      <a:r>
                        <a:rPr sz="1500">
                          <a:solidFill>
                            <a:srgbClr val="1B1F2E"/>
                          </a:solidFill>
                        </a:rPr>
                        <a:t>an opinion about someone before you know them</a:t>
                      </a:r>
                    </a:p>
                  </a:txBody>
                  <a:tcPr marL="0" marR="0" marT="0" marB="0" anchor="ctr" anchorCtr="0" horzOverflow="overflow">
                    <a:lnL w="12700">
                      <a:miter lim="400000"/>
                    </a:lnL>
                    <a:lnR w="12700">
                      <a:miter lim="400000"/>
                    </a:lnR>
                    <a:lnT>
                      <a:solidFill>
                        <a:srgbClr val="C9CCD8"/>
                      </a:solidFill>
                    </a:lnT>
                    <a:lnB>
                      <a:solidFill>
                        <a:srgbClr val="C9CCD8"/>
                      </a:solidFill>
                    </a:lnB>
                    <a:noFill/>
                  </a:tcPr>
                </a:tc>
                <a:tc>
                  <a:txBody>
                    <a:bodyPr/>
                    <a:lstStyle/>
                    <a:p>
                      <a:pPr>
                        <a:defRPr sz="1800">
                          <a:solidFill>
                            <a:srgbClr val="000000"/>
                          </a:solidFill>
                        </a:defRPr>
                      </a:pPr>
                      <a:r>
                        <a:rPr sz="1500">
                          <a:solidFill>
                            <a:srgbClr val="1B1F2E"/>
                          </a:solidFill>
                        </a:rPr>
                        <a:t>Vorurteil</a:t>
                      </a:r>
                    </a:p>
                  </a:txBody>
                  <a:tcPr marL="0" marR="0" marT="0" marB="0" anchor="ctr" anchorCtr="0" horzOverflow="overflow">
                    <a:lnL w="12700">
                      <a:miter lim="400000"/>
                    </a:lnL>
                    <a:lnR w="12700">
                      <a:miter lim="400000"/>
                    </a:lnR>
                    <a:lnT>
                      <a:solidFill>
                        <a:srgbClr val="C9CCD8"/>
                      </a:solidFill>
                    </a:lnT>
                    <a:lnB>
                      <a:solidFill>
                        <a:srgbClr val="C9CCD8"/>
                      </a:solidFill>
                    </a:lnB>
                    <a:noFill/>
                  </a:tcPr>
                </a:tc>
              </a:tr>
              <a:tr h="50800">
                <a:tc>
                  <a:txBody>
                    <a:bodyPr/>
                    <a:lstStyle/>
                    <a:p>
                      <a:pPr>
                        <a:defRPr sz="1800">
                          <a:solidFill>
                            <a:srgbClr val="000000"/>
                          </a:solidFill>
                        </a:defRPr>
                      </a:pPr>
                      <a:r>
                        <a:rPr sz="1500">
                          <a:solidFill>
                            <a:srgbClr val="1B1F2E"/>
                          </a:solidFill>
                        </a:rPr>
                        <a:t>stereotype</a:t>
                      </a:r>
                    </a:p>
                  </a:txBody>
                  <a:tcPr marL="0" marR="0" marT="0" marB="0" anchor="ctr" anchorCtr="0" horzOverflow="overflow">
                    <a:lnL w="12700">
                      <a:miter lim="400000"/>
                    </a:lnL>
                    <a:lnR w="12700">
                      <a:miter lim="400000"/>
                    </a:lnR>
                    <a:lnT>
                      <a:solidFill>
                        <a:srgbClr val="C9CCD8"/>
                      </a:solidFill>
                    </a:lnT>
                    <a:lnB>
                      <a:solidFill>
                        <a:srgbClr val="C9CCD8"/>
                      </a:solidFill>
                    </a:lnB>
                    <a:noFill/>
                  </a:tcPr>
                </a:tc>
                <a:tc>
                  <a:txBody>
                    <a:bodyPr/>
                    <a:lstStyle/>
                    <a:p>
                      <a:pPr>
                        <a:defRPr sz="1800">
                          <a:solidFill>
                            <a:srgbClr val="000000"/>
                          </a:solidFill>
                        </a:defRPr>
                      </a:pPr>
                      <a:r>
                        <a:rPr sz="1500">
                          <a:solidFill>
                            <a:srgbClr val="1B1F2E"/>
                          </a:solidFill>
                        </a:rPr>
                        <a:t>a fixed, simple idea about a whole group</a:t>
                      </a:r>
                    </a:p>
                  </a:txBody>
                  <a:tcPr marL="0" marR="0" marT="0" marB="0" anchor="ctr" anchorCtr="0" horzOverflow="overflow">
                    <a:lnL w="12700">
                      <a:miter lim="400000"/>
                    </a:lnL>
                    <a:lnR w="12700">
                      <a:miter lim="400000"/>
                    </a:lnR>
                    <a:lnT>
                      <a:solidFill>
                        <a:srgbClr val="C9CCD8"/>
                      </a:solidFill>
                    </a:lnT>
                    <a:lnB>
                      <a:solidFill>
                        <a:srgbClr val="C9CCD8"/>
                      </a:solidFill>
                    </a:lnB>
                    <a:noFill/>
                  </a:tcPr>
                </a:tc>
                <a:tc>
                  <a:txBody>
                    <a:bodyPr/>
                    <a:lstStyle/>
                    <a:p>
                      <a:pPr>
                        <a:defRPr sz="1800">
                          <a:solidFill>
                            <a:srgbClr val="000000"/>
                          </a:solidFill>
                        </a:defRPr>
                      </a:pPr>
                      <a:r>
                        <a:rPr sz="1500">
                          <a:solidFill>
                            <a:srgbClr val="1B1F2E"/>
                          </a:solidFill>
                        </a:rPr>
                        <a:t>Klischee</a:t>
                      </a:r>
                    </a:p>
                  </a:txBody>
                  <a:tcPr marL="0" marR="0" marT="0" marB="0" anchor="ctr" anchorCtr="0" horzOverflow="overflow">
                    <a:lnL w="12700">
                      <a:miter lim="400000"/>
                    </a:lnL>
                    <a:lnR w="12700">
                      <a:miter lim="400000"/>
                    </a:lnR>
                    <a:lnT>
                      <a:solidFill>
                        <a:srgbClr val="C9CCD8"/>
                      </a:solidFill>
                    </a:lnT>
                    <a:lnB>
                      <a:solidFill>
                        <a:srgbClr val="C9CCD8"/>
                      </a:solidFill>
                    </a:lnB>
                    <a:noFill/>
                  </a:tcPr>
                </a:tc>
              </a:tr>
              <a:tr h="50800">
                <a:tc>
                  <a:txBody>
                    <a:bodyPr/>
                    <a:lstStyle/>
                    <a:p>
                      <a:pPr>
                        <a:defRPr sz="1800">
                          <a:solidFill>
                            <a:srgbClr val="000000"/>
                          </a:solidFill>
                        </a:defRPr>
                      </a:pPr>
                      <a:r>
                        <a:rPr sz="1500">
                          <a:solidFill>
                            <a:srgbClr val="1B1F2E"/>
                          </a:solidFill>
                        </a:rPr>
                        <a:t>minority</a:t>
                      </a:r>
                    </a:p>
                  </a:txBody>
                  <a:tcPr marL="0" marR="0" marT="0" marB="0" anchor="ctr" anchorCtr="0" horzOverflow="overflow">
                    <a:lnL w="12700">
                      <a:miter lim="400000"/>
                    </a:lnL>
                    <a:lnR w="12700">
                      <a:miter lim="400000"/>
                    </a:lnR>
                    <a:lnT>
                      <a:solidFill>
                        <a:srgbClr val="C9CCD8"/>
                      </a:solidFill>
                    </a:lnT>
                    <a:lnB>
                      <a:solidFill>
                        <a:srgbClr val="C9CCD8"/>
                      </a:solidFill>
                    </a:lnB>
                    <a:noFill/>
                  </a:tcPr>
                </a:tc>
                <a:tc>
                  <a:txBody>
                    <a:bodyPr/>
                    <a:lstStyle/>
                    <a:p>
                      <a:pPr>
                        <a:defRPr sz="1800">
                          <a:solidFill>
                            <a:srgbClr val="000000"/>
                          </a:solidFill>
                        </a:defRPr>
                      </a:pPr>
                      <a:r>
                        <a:rPr sz="1500">
                          <a:solidFill>
                            <a:srgbClr val="1B1F2E"/>
                          </a:solidFill>
                        </a:rPr>
                        <a:t>a smaller group within a population</a:t>
                      </a:r>
                    </a:p>
                  </a:txBody>
                  <a:tcPr marL="0" marR="0" marT="0" marB="0" anchor="ctr" anchorCtr="0" horzOverflow="overflow">
                    <a:lnL w="12700">
                      <a:miter lim="400000"/>
                    </a:lnL>
                    <a:lnR w="12700">
                      <a:miter lim="400000"/>
                    </a:lnR>
                    <a:lnT>
                      <a:solidFill>
                        <a:srgbClr val="C9CCD8"/>
                      </a:solidFill>
                    </a:lnT>
                    <a:lnB>
                      <a:solidFill>
                        <a:srgbClr val="C9CCD8"/>
                      </a:solidFill>
                    </a:lnB>
                    <a:noFill/>
                  </a:tcPr>
                </a:tc>
                <a:tc>
                  <a:txBody>
                    <a:bodyPr/>
                    <a:lstStyle/>
                    <a:p>
                      <a:pPr>
                        <a:defRPr sz="1800">
                          <a:solidFill>
                            <a:srgbClr val="000000"/>
                          </a:solidFill>
                        </a:defRPr>
                      </a:pPr>
                      <a:r>
                        <a:rPr sz="1500">
                          <a:solidFill>
                            <a:srgbClr val="1B1F2E"/>
                          </a:solidFill>
                        </a:rPr>
                        <a:t>Minderheit</a:t>
                      </a:r>
                    </a:p>
                  </a:txBody>
                  <a:tcPr marL="0" marR="0" marT="0" marB="0" anchor="ctr" anchorCtr="0" horzOverflow="overflow">
                    <a:lnL w="12700">
                      <a:miter lim="400000"/>
                    </a:lnL>
                    <a:lnR w="12700">
                      <a:miter lim="400000"/>
                    </a:lnR>
                    <a:lnT>
                      <a:solidFill>
                        <a:srgbClr val="C9CCD8"/>
                      </a:solidFill>
                    </a:lnT>
                    <a:lnB>
                      <a:solidFill>
                        <a:srgbClr val="C9CCD8"/>
                      </a:solidFill>
                    </a:lnB>
                    <a:noFill/>
                  </a:tcPr>
                </a:tc>
              </a:tr>
              <a:tr h="50800">
                <a:tc>
                  <a:txBody>
                    <a:bodyPr/>
                    <a:lstStyle/>
                    <a:p>
                      <a:pPr>
                        <a:defRPr sz="1800">
                          <a:solidFill>
                            <a:srgbClr val="000000"/>
                          </a:solidFill>
                        </a:defRPr>
                      </a:pPr>
                      <a:r>
                        <a:rPr sz="1500">
                          <a:solidFill>
                            <a:srgbClr val="1B1F2E"/>
                          </a:solidFill>
                        </a:rPr>
                        <a:t>segregation</a:t>
                      </a:r>
                    </a:p>
                  </a:txBody>
                  <a:tcPr marL="0" marR="0" marT="0" marB="0" anchor="ctr" anchorCtr="0" horzOverflow="overflow">
                    <a:lnL w="12700">
                      <a:miter lim="400000"/>
                    </a:lnL>
                    <a:lnR w="12700">
                      <a:miter lim="400000"/>
                    </a:lnR>
                    <a:lnT>
                      <a:solidFill>
                        <a:srgbClr val="C9CCD8"/>
                      </a:solidFill>
                    </a:lnT>
                    <a:lnB>
                      <a:solidFill>
                        <a:srgbClr val="C9CCD8"/>
                      </a:solidFill>
                    </a:lnB>
                    <a:noFill/>
                  </a:tcPr>
                </a:tc>
                <a:tc>
                  <a:txBody>
                    <a:bodyPr/>
                    <a:lstStyle/>
                    <a:p>
                      <a:pPr>
                        <a:defRPr sz="1800">
                          <a:solidFill>
                            <a:srgbClr val="000000"/>
                          </a:solidFill>
                        </a:defRPr>
                      </a:pPr>
                      <a:r>
                        <a:rPr sz="1500">
                          <a:solidFill>
                            <a:srgbClr val="1B1F2E"/>
                          </a:solidFill>
                        </a:rPr>
                        <a:t>keeping groups apart by law or custom</a:t>
                      </a:r>
                    </a:p>
                  </a:txBody>
                  <a:tcPr marL="0" marR="0" marT="0" marB="0" anchor="ctr" anchorCtr="0" horzOverflow="overflow">
                    <a:lnL w="12700">
                      <a:miter lim="400000"/>
                    </a:lnL>
                    <a:lnR w="12700">
                      <a:miter lim="400000"/>
                    </a:lnR>
                    <a:lnT>
                      <a:solidFill>
                        <a:srgbClr val="C9CCD8"/>
                      </a:solidFill>
                    </a:lnT>
                    <a:lnB>
                      <a:solidFill>
                        <a:srgbClr val="C9CCD8"/>
                      </a:solidFill>
                    </a:lnB>
                    <a:noFill/>
                  </a:tcPr>
                </a:tc>
                <a:tc>
                  <a:txBody>
                    <a:bodyPr/>
                    <a:lstStyle/>
                    <a:p>
                      <a:pPr>
                        <a:defRPr sz="1800">
                          <a:solidFill>
                            <a:srgbClr val="000000"/>
                          </a:solidFill>
                        </a:defRPr>
                      </a:pPr>
                      <a:r>
                        <a:rPr sz="1500">
                          <a:solidFill>
                            <a:srgbClr val="1B1F2E"/>
                          </a:solidFill>
                        </a:rPr>
                        <a:t>Rassentrennung</a:t>
                      </a:r>
                    </a:p>
                  </a:txBody>
                  <a:tcPr marL="0" marR="0" marT="0" marB="0" anchor="ctr" anchorCtr="0" horzOverflow="overflow">
                    <a:lnL w="12700">
                      <a:miter lim="400000"/>
                    </a:lnL>
                    <a:lnR w="12700">
                      <a:miter lim="400000"/>
                    </a:lnR>
                    <a:lnT>
                      <a:solidFill>
                        <a:srgbClr val="C9CCD8"/>
                      </a:solidFill>
                    </a:lnT>
                    <a:lnB>
                      <a:solidFill>
                        <a:srgbClr val="C9CCD8"/>
                      </a:solidFill>
                    </a:lnB>
                    <a:noFill/>
                  </a:tcPr>
                </a:tc>
              </a:tr>
              <a:tr h="50800">
                <a:tc>
                  <a:txBody>
                    <a:bodyPr/>
                    <a:lstStyle/>
                    <a:p>
                      <a:pPr>
                        <a:defRPr sz="1800">
                          <a:solidFill>
                            <a:srgbClr val="000000"/>
                          </a:solidFill>
                        </a:defRPr>
                      </a:pPr>
                      <a:r>
                        <a:rPr sz="1500">
                          <a:solidFill>
                            <a:srgbClr val="1B1F2E"/>
                          </a:solidFill>
                        </a:rPr>
                        <a:t>civil rights</a:t>
                      </a:r>
                    </a:p>
                  </a:txBody>
                  <a:tcPr marL="0" marR="0" marT="0" marB="0" anchor="ctr" anchorCtr="0" horzOverflow="overflow">
                    <a:lnL w="12700">
                      <a:miter lim="400000"/>
                    </a:lnL>
                    <a:lnR w="12700">
                      <a:miter lim="400000"/>
                    </a:lnR>
                    <a:lnT>
                      <a:solidFill>
                        <a:srgbClr val="C9CCD8"/>
                      </a:solidFill>
                    </a:lnT>
                    <a:lnB>
                      <a:solidFill>
                        <a:srgbClr val="C9CCD8"/>
                      </a:solidFill>
                    </a:lnB>
                    <a:noFill/>
                  </a:tcPr>
                </a:tc>
                <a:tc>
                  <a:txBody>
                    <a:bodyPr/>
                    <a:lstStyle/>
                    <a:p>
                      <a:pPr>
                        <a:defRPr sz="1800">
                          <a:solidFill>
                            <a:srgbClr val="000000"/>
                          </a:solidFill>
                        </a:defRPr>
                      </a:pPr>
                      <a:r>
                        <a:rPr sz="1500">
                          <a:solidFill>
                            <a:srgbClr val="1B1F2E"/>
                          </a:solidFill>
                        </a:rPr>
                        <a:t>the rights every citizen should have</a:t>
                      </a:r>
                    </a:p>
                  </a:txBody>
                  <a:tcPr marL="0" marR="0" marT="0" marB="0" anchor="ctr" anchorCtr="0" horzOverflow="overflow">
                    <a:lnL w="12700">
                      <a:miter lim="400000"/>
                    </a:lnL>
                    <a:lnR w="12700">
                      <a:miter lim="400000"/>
                    </a:lnR>
                    <a:lnT>
                      <a:solidFill>
                        <a:srgbClr val="C9CCD8"/>
                      </a:solidFill>
                    </a:lnT>
                    <a:lnB>
                      <a:solidFill>
                        <a:srgbClr val="C9CCD8"/>
                      </a:solidFill>
                    </a:lnB>
                    <a:noFill/>
                  </a:tcPr>
                </a:tc>
                <a:tc>
                  <a:txBody>
                    <a:bodyPr/>
                    <a:lstStyle/>
                    <a:p>
                      <a:pPr>
                        <a:defRPr sz="1800">
                          <a:solidFill>
                            <a:srgbClr val="000000"/>
                          </a:solidFill>
                        </a:defRPr>
                      </a:pPr>
                      <a:r>
                        <a:rPr sz="1500">
                          <a:solidFill>
                            <a:srgbClr val="1B1F2E"/>
                          </a:solidFill>
                        </a:rPr>
                        <a:t>Bürgerrechte</a:t>
                      </a:r>
                    </a:p>
                  </a:txBody>
                  <a:tcPr marL="0" marR="0" marT="0" marB="0" anchor="ctr" anchorCtr="0" horzOverflow="overflow">
                    <a:lnL w="12700">
                      <a:miter lim="400000"/>
                    </a:lnL>
                    <a:lnR w="12700">
                      <a:miter lim="400000"/>
                    </a:lnR>
                    <a:lnT>
                      <a:solidFill>
                        <a:srgbClr val="C9CCD8"/>
                      </a:solidFill>
                    </a:lnT>
                    <a:lnB>
                      <a:solidFill>
                        <a:srgbClr val="C9CCD8"/>
                      </a:solidFill>
                    </a:lnB>
                    <a:noFill/>
                  </a:tcPr>
                </a:tc>
              </a:tr>
              <a:tr h="50800">
                <a:tc>
                  <a:txBody>
                    <a:bodyPr/>
                    <a:lstStyle/>
                    <a:p>
                      <a:pPr>
                        <a:defRPr sz="1800">
                          <a:solidFill>
                            <a:srgbClr val="000000"/>
                          </a:solidFill>
                        </a:defRPr>
                      </a:pPr>
                      <a:r>
                        <a:rPr sz="1500">
                          <a:solidFill>
                            <a:srgbClr val="1B1F2E"/>
                          </a:solidFill>
                        </a:rPr>
                        <a:t>equal opportunity</a:t>
                      </a:r>
                    </a:p>
                  </a:txBody>
                  <a:tcPr marL="0" marR="0" marT="0" marB="0" anchor="ctr" anchorCtr="0" horzOverflow="overflow">
                    <a:lnL w="12700">
                      <a:miter lim="400000"/>
                    </a:lnL>
                    <a:lnR w="12700">
                      <a:miter lim="400000"/>
                    </a:lnR>
                    <a:lnT>
                      <a:solidFill>
                        <a:srgbClr val="C9CCD8"/>
                      </a:solidFill>
                    </a:lnT>
                    <a:lnB>
                      <a:solidFill>
                        <a:srgbClr val="C9CCD8"/>
                      </a:solidFill>
                    </a:lnB>
                    <a:noFill/>
                  </a:tcPr>
                </a:tc>
                <a:tc>
                  <a:txBody>
                    <a:bodyPr/>
                    <a:lstStyle/>
                    <a:p>
                      <a:pPr>
                        <a:defRPr sz="1800">
                          <a:solidFill>
                            <a:srgbClr val="000000"/>
                          </a:solidFill>
                        </a:defRPr>
                      </a:pPr>
                      <a:r>
                        <a:rPr sz="1500">
                          <a:solidFill>
                            <a:srgbClr val="1B1F2E"/>
                          </a:solidFill>
                        </a:rPr>
                        <a:t>the same chances for everyone</a:t>
                      </a:r>
                    </a:p>
                  </a:txBody>
                  <a:tcPr marL="0" marR="0" marT="0" marB="0" anchor="ctr" anchorCtr="0" horzOverflow="overflow">
                    <a:lnL w="12700">
                      <a:miter lim="400000"/>
                    </a:lnL>
                    <a:lnR w="12700">
                      <a:miter lim="400000"/>
                    </a:lnR>
                    <a:lnT>
                      <a:solidFill>
                        <a:srgbClr val="C9CCD8"/>
                      </a:solidFill>
                    </a:lnT>
                    <a:lnB>
                      <a:solidFill>
                        <a:srgbClr val="C9CCD8"/>
                      </a:solidFill>
                    </a:lnB>
                    <a:noFill/>
                  </a:tcPr>
                </a:tc>
                <a:tc>
                  <a:txBody>
                    <a:bodyPr/>
                    <a:lstStyle/>
                    <a:p>
                      <a:pPr>
                        <a:defRPr sz="1800">
                          <a:solidFill>
                            <a:srgbClr val="000000"/>
                          </a:solidFill>
                        </a:defRPr>
                      </a:pPr>
                      <a:r>
                        <a:rPr sz="1500">
                          <a:solidFill>
                            <a:srgbClr val="1B1F2E"/>
                          </a:solidFill>
                        </a:rPr>
                        <a:t>Chancengleichheit</a:t>
                      </a:r>
                    </a:p>
                  </a:txBody>
                  <a:tcPr marL="0" marR="0" marT="0" marB="0" anchor="ctr" anchorCtr="0" horzOverflow="overflow">
                    <a:lnL w="12700">
                      <a:miter lim="400000"/>
                    </a:lnL>
                    <a:lnR w="12700">
                      <a:miter lim="400000"/>
                    </a:lnR>
                    <a:lnT>
                      <a:solidFill>
                        <a:srgbClr val="C9CCD8"/>
                      </a:solidFill>
                    </a:lnT>
                    <a:lnB>
                      <a:solidFill>
                        <a:srgbClr val="C9CCD8"/>
                      </a:solidFill>
                    </a:lnB>
                    <a:noFill/>
                  </a:tcPr>
                </a:tc>
              </a:tr>
            </a:tbl>
          </a:graphicData>
        </a:graphic>
      </p:graphicFrame>
      <p:sp>
        <p:nvSpPr>
          <p:cNvPr id="79" name="Slide Number Placeholder 0"/>
          <p:cNvSpPr txBox="1"/>
          <p:nvPr>
            <p:ph type="sldNum" sz="quarter" idx="4294967295"/>
          </p:nvPr>
        </p:nvSpPr>
        <p:spPr>
          <a:xfrm>
            <a:off x="8229600" y="4709159"/>
            <a:ext cx="162072" cy="20591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3" name="Text 0"/>
          <p:cNvSpPr txBox="1"/>
          <p:nvPr>
            <p:ph type="title"/>
          </p:nvPr>
        </p:nvSpPr>
        <p:spPr>
          <a:prstGeom prst="rect">
            <a:avLst/>
          </a:prstGeom>
        </p:spPr>
        <p:txBody>
          <a:bodyPr lIns="0" tIns="0" rIns="0" bIns="0" anchor="ctr"/>
          <a:lstStyle/>
          <a:p>
            <a:pPr/>
            <a:r>
              <a:t>Who lives in the USA?</a:t>
            </a:r>
          </a:p>
        </p:txBody>
      </p:sp>
      <p:sp>
        <p:nvSpPr>
          <p:cNvPr id="84" name="text-8"/>
          <p:cNvSpPr txBox="1"/>
          <p:nvPr/>
        </p:nvSpPr>
        <p:spPr>
          <a:xfrm>
            <a:off x="5577840" y="1188719"/>
            <a:ext cx="3108961" cy="17613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03200" indent="-203200">
              <a:spcBef>
                <a:spcPts val="800"/>
              </a:spcBef>
              <a:buSzPct val="100000"/>
              <a:buChar char="•"/>
              <a:defRPr sz="1500"/>
            </a:pPr>
            <a:r>
              <a:t>About 340 million people live in the USA (Austria: about 9 million).</a:t>
            </a:r>
          </a:p>
          <a:p>
            <a:pPr marL="203200" indent="-203200">
              <a:spcBef>
                <a:spcPts val="800"/>
              </a:spcBef>
              <a:buSzPct val="100000"/>
              <a:buChar char="•"/>
              <a:defRPr sz="1500"/>
            </a:pPr>
            <a:r>
              <a:t>About 1 in 5 Americans is Hispanic or Latino, the largest minority.</a:t>
            </a:r>
          </a:p>
          <a:p>
            <a:pPr marL="203200" indent="-203200">
              <a:spcBef>
                <a:spcPts val="800"/>
              </a:spcBef>
              <a:buSzPct val="100000"/>
              <a:buChar char="•"/>
              <a:defRPr sz="1500"/>
            </a:pPr>
            <a:r>
              <a:t>Melting pot or salad bowl? Do cultures mix, or stay different side by side?</a:t>
            </a:r>
          </a:p>
        </p:txBody>
      </p:sp>
      <p:sp>
        <p:nvSpPr>
          <p:cNvPr id="85" name="text-9"/>
          <p:cNvSpPr txBox="1"/>
          <p:nvPr/>
        </p:nvSpPr>
        <p:spPr>
          <a:xfrm>
            <a:off x="457200" y="4434840"/>
            <a:ext cx="75895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chemeClr val="accent4"/>
                </a:solidFill>
              </a:defRPr>
            </a:lvl1pPr>
          </a:lstStyle>
          <a:p>
            <a:pPr/>
            <a:r>
              <a:t>Source: US Census Bureau, 2024 estimates. Hispanic people can be of any race, so the groups overlap.</a:t>
            </a:r>
          </a:p>
        </p:txBody>
      </p:sp>
      <p:sp>
        <p:nvSpPr>
          <p:cNvPr id="86" name="Slide Number Placeholder 0"/>
          <p:cNvSpPr txBox="1"/>
          <p:nvPr>
            <p:ph type="sldNum" sz="quarter" idx="4294967295"/>
          </p:nvPr>
        </p:nvSpPr>
        <p:spPr>
          <a:xfrm>
            <a:off x="8229600" y="4709159"/>
            <a:ext cx="162072" cy="20591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87" name="Screenshot 2026-10-13 at 06.37.23.jpg" descr="Screenshot 2026-10-13 at 06.37.23.jpg"/>
          <p:cNvPicPr>
            <a:picLocks noChangeAspect="1"/>
          </p:cNvPicPr>
          <p:nvPr/>
        </p:nvPicPr>
        <p:blipFill>
          <a:blip r:embed="rId3">
            <a:extLst/>
          </a:blip>
          <a:stretch>
            <a:fillRect/>
          </a:stretch>
        </p:blipFill>
        <p:spPr>
          <a:xfrm>
            <a:off x="209170" y="919105"/>
            <a:ext cx="4724401" cy="3060701"/>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1" name="Text 0"/>
          <p:cNvSpPr txBox="1"/>
          <p:nvPr>
            <p:ph type="title"/>
          </p:nvPr>
        </p:nvSpPr>
        <p:spPr>
          <a:prstGeom prst="rect">
            <a:avLst/>
          </a:prstGeom>
        </p:spPr>
        <p:txBody>
          <a:bodyPr lIns="0" tIns="0" rIns="0" bIns="0" anchor="ctr"/>
          <a:lstStyle/>
          <a:p>
            <a:pPr/>
            <a:r>
              <a:t>The long fight for equal rights</a:t>
            </a:r>
          </a:p>
        </p:txBody>
      </p:sp>
      <p:graphicFrame>
        <p:nvGraphicFramePr>
          <p:cNvPr id="92" name="table-10"/>
          <p:cNvGraphicFramePr/>
          <p:nvPr/>
        </p:nvGraphicFramePr>
        <p:xfrm>
          <a:off x="457200" y="1188719"/>
          <a:ext cx="8229600" cy="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097280"/>
                <a:gridCol w="7132319"/>
              </a:tblGrid>
              <a:tr h="50800">
                <a:tc>
                  <a:txBody>
                    <a:bodyPr/>
                    <a:lstStyle/>
                    <a:p>
                      <a:pPr>
                        <a:defRPr sz="1800">
                          <a:solidFill>
                            <a:srgbClr val="000000"/>
                          </a:solidFill>
                        </a:defRPr>
                      </a:pPr>
                      <a:r>
                        <a:rPr b="1" sz="1500">
                          <a:solidFill>
                            <a:schemeClr val="accent2"/>
                          </a:solidFill>
                        </a:rPr>
                        <a:t>Year</a:t>
                      </a:r>
                    </a:p>
                  </a:txBody>
                  <a:tcPr marL="0" marR="0" marT="0" marB="0" anchor="ctr" anchorCtr="0" horzOverflow="overflow">
                    <a:lnL w="12700">
                      <a:miter lim="400000"/>
                    </a:lnL>
                    <a:lnR w="12700">
                      <a:miter lim="400000"/>
                    </a:lnR>
                    <a:lnT w="12700">
                      <a:miter lim="400000"/>
                    </a:lnT>
                    <a:lnB w="15875">
                      <a:solidFill>
                        <a:schemeClr val="accent2"/>
                      </a:solidFill>
                    </a:lnB>
                    <a:noFill/>
                  </a:tcPr>
                </a:tc>
                <a:tc>
                  <a:txBody>
                    <a:bodyPr/>
                    <a:lstStyle/>
                    <a:p>
                      <a:pPr>
                        <a:defRPr sz="1800">
                          <a:solidFill>
                            <a:srgbClr val="000000"/>
                          </a:solidFill>
                        </a:defRPr>
                      </a:pPr>
                      <a:r>
                        <a:rPr b="1" sz="1500">
                          <a:solidFill>
                            <a:schemeClr val="accent2"/>
                          </a:solidFill>
                        </a:rPr>
                        <a:t>What happened</a:t>
                      </a:r>
                    </a:p>
                  </a:txBody>
                  <a:tcPr marL="0" marR="0" marT="0" marB="0" anchor="ctr" anchorCtr="0" horzOverflow="overflow">
                    <a:lnL w="12700">
                      <a:miter lim="400000"/>
                    </a:lnL>
                    <a:lnR w="12700">
                      <a:miter lim="400000"/>
                    </a:lnR>
                    <a:lnT w="12700">
                      <a:miter lim="400000"/>
                    </a:lnT>
                    <a:lnB w="15875">
                      <a:solidFill>
                        <a:schemeClr val="accent2"/>
                      </a:solidFill>
                    </a:lnB>
                    <a:noFill/>
                  </a:tcPr>
                </a:tc>
              </a:tr>
              <a:tr h="50800">
                <a:tc>
                  <a:txBody>
                    <a:bodyPr/>
                    <a:lstStyle/>
                    <a:p>
                      <a:pPr>
                        <a:defRPr sz="1800">
                          <a:solidFill>
                            <a:srgbClr val="000000"/>
                          </a:solidFill>
                        </a:defRPr>
                      </a:pPr>
                      <a:r>
                        <a:rPr sz="1500">
                          <a:solidFill>
                            <a:srgbClr val="1B1F2E"/>
                          </a:solidFill>
                        </a:rPr>
                        <a:t>1865</a:t>
                      </a:r>
                    </a:p>
                  </a:txBody>
                  <a:tcPr marL="0" marR="0" marT="0" marB="0" anchor="ctr" anchorCtr="0" horzOverflow="overflow">
                    <a:lnL w="12700">
                      <a:miter lim="400000"/>
                    </a:lnL>
                    <a:lnR w="12700">
                      <a:miter lim="400000"/>
                    </a:lnR>
                    <a:lnT w="15875">
                      <a:solidFill>
                        <a:schemeClr val="accent2"/>
                      </a:solidFill>
                    </a:lnT>
                    <a:lnB>
                      <a:solidFill>
                        <a:srgbClr val="C9CCD8"/>
                      </a:solidFill>
                    </a:lnB>
                    <a:noFill/>
                  </a:tcPr>
                </a:tc>
                <a:tc>
                  <a:txBody>
                    <a:bodyPr/>
                    <a:lstStyle/>
                    <a:p>
                      <a:pPr>
                        <a:defRPr sz="1800">
                          <a:solidFill>
                            <a:srgbClr val="000000"/>
                          </a:solidFill>
                        </a:defRPr>
                      </a:pPr>
                      <a:r>
                        <a:rPr sz="1500">
                          <a:solidFill>
                            <a:srgbClr val="1B1F2E"/>
                          </a:solidFill>
                        </a:rPr>
                        <a:t>Slavery ends (13th Amendment).</a:t>
                      </a:r>
                    </a:p>
                  </a:txBody>
                  <a:tcPr marL="0" marR="0" marT="0" marB="0" anchor="ctr" anchorCtr="0" horzOverflow="overflow">
                    <a:lnL w="12700">
                      <a:miter lim="400000"/>
                    </a:lnL>
                    <a:lnR w="12700">
                      <a:miter lim="400000"/>
                    </a:lnR>
                    <a:lnT w="15875">
                      <a:solidFill>
                        <a:schemeClr val="accent2"/>
                      </a:solidFill>
                    </a:lnT>
                    <a:lnB>
                      <a:solidFill>
                        <a:srgbClr val="C9CCD8"/>
                      </a:solidFill>
                    </a:lnB>
                    <a:noFill/>
                  </a:tcPr>
                </a:tc>
              </a:tr>
              <a:tr h="50800">
                <a:tc>
                  <a:txBody>
                    <a:bodyPr/>
                    <a:lstStyle/>
                    <a:p>
                      <a:pPr>
                        <a:defRPr sz="1800">
                          <a:solidFill>
                            <a:srgbClr val="000000"/>
                          </a:solidFill>
                        </a:defRPr>
                      </a:pPr>
                      <a:r>
                        <a:rPr sz="1500">
                          <a:solidFill>
                            <a:srgbClr val="1B1F2E"/>
                          </a:solidFill>
                        </a:rPr>
                        <a:t>1896</a:t>
                      </a:r>
                    </a:p>
                  </a:txBody>
                  <a:tcPr marL="0" marR="0" marT="0" marB="0" anchor="ctr" anchorCtr="0" horzOverflow="overflow">
                    <a:lnL w="12700">
                      <a:miter lim="400000"/>
                    </a:lnL>
                    <a:lnR w="12700">
                      <a:miter lim="400000"/>
                    </a:lnR>
                    <a:lnT>
                      <a:solidFill>
                        <a:srgbClr val="C9CCD8"/>
                      </a:solidFill>
                    </a:lnT>
                    <a:lnB>
                      <a:solidFill>
                        <a:srgbClr val="C9CCD8"/>
                      </a:solidFill>
                    </a:lnB>
                    <a:noFill/>
                  </a:tcPr>
                </a:tc>
                <a:tc>
                  <a:txBody>
                    <a:bodyPr/>
                    <a:lstStyle/>
                    <a:p>
                      <a:pPr>
                        <a:defRPr sz="1800">
                          <a:solidFill>
                            <a:srgbClr val="000000"/>
                          </a:solidFill>
                        </a:defRPr>
                      </a:pPr>
                      <a:r>
                        <a:rPr sz="1500">
                          <a:solidFill>
                            <a:srgbClr val="1B1F2E"/>
                          </a:solidFill>
                        </a:rPr>
                        <a:t>"Separate but equal": segregation becomes legal in the South.</a:t>
                      </a:r>
                    </a:p>
                  </a:txBody>
                  <a:tcPr marL="0" marR="0" marT="0" marB="0" anchor="ctr" anchorCtr="0" horzOverflow="overflow">
                    <a:lnL w="12700">
                      <a:miter lim="400000"/>
                    </a:lnL>
                    <a:lnR w="12700">
                      <a:miter lim="400000"/>
                    </a:lnR>
                    <a:lnT>
                      <a:solidFill>
                        <a:srgbClr val="C9CCD8"/>
                      </a:solidFill>
                    </a:lnT>
                    <a:lnB>
                      <a:solidFill>
                        <a:srgbClr val="C9CCD8"/>
                      </a:solidFill>
                    </a:lnB>
                    <a:noFill/>
                  </a:tcPr>
                </a:tc>
              </a:tr>
              <a:tr h="50800">
                <a:tc>
                  <a:txBody>
                    <a:bodyPr/>
                    <a:lstStyle/>
                    <a:p>
                      <a:pPr>
                        <a:defRPr sz="1800">
                          <a:solidFill>
                            <a:srgbClr val="000000"/>
                          </a:solidFill>
                        </a:defRPr>
                      </a:pPr>
                      <a:r>
                        <a:rPr sz="1500">
                          <a:solidFill>
                            <a:srgbClr val="1B1F2E"/>
                          </a:solidFill>
                        </a:rPr>
                        <a:t>1954</a:t>
                      </a:r>
                    </a:p>
                  </a:txBody>
                  <a:tcPr marL="0" marR="0" marT="0" marB="0" anchor="ctr" anchorCtr="0" horzOverflow="overflow">
                    <a:lnL w="12700">
                      <a:miter lim="400000"/>
                    </a:lnL>
                    <a:lnR w="12700">
                      <a:miter lim="400000"/>
                    </a:lnR>
                    <a:lnT>
                      <a:solidFill>
                        <a:srgbClr val="C9CCD8"/>
                      </a:solidFill>
                    </a:lnT>
                    <a:lnB>
                      <a:solidFill>
                        <a:srgbClr val="C9CCD8"/>
                      </a:solidFill>
                    </a:lnB>
                    <a:noFill/>
                  </a:tcPr>
                </a:tc>
                <a:tc>
                  <a:txBody>
                    <a:bodyPr/>
                    <a:lstStyle/>
                    <a:p>
                      <a:pPr>
                        <a:defRPr sz="1800">
                          <a:solidFill>
                            <a:srgbClr val="000000"/>
                          </a:solidFill>
                        </a:defRPr>
                      </a:pPr>
                      <a:r>
                        <a:rPr sz="1500">
                          <a:solidFill>
                            <a:srgbClr val="1B1F2E"/>
                          </a:solidFill>
                        </a:rPr>
                        <a:t>Brown v. Board of Education: separate schools are unconstitutional.</a:t>
                      </a:r>
                    </a:p>
                  </a:txBody>
                  <a:tcPr marL="0" marR="0" marT="0" marB="0" anchor="ctr" anchorCtr="0" horzOverflow="overflow">
                    <a:lnL w="12700">
                      <a:miter lim="400000"/>
                    </a:lnL>
                    <a:lnR w="12700">
                      <a:miter lim="400000"/>
                    </a:lnR>
                    <a:lnT>
                      <a:solidFill>
                        <a:srgbClr val="C9CCD8"/>
                      </a:solidFill>
                    </a:lnT>
                    <a:lnB>
                      <a:solidFill>
                        <a:srgbClr val="C9CCD8"/>
                      </a:solidFill>
                    </a:lnB>
                    <a:noFill/>
                  </a:tcPr>
                </a:tc>
              </a:tr>
              <a:tr h="50800">
                <a:tc>
                  <a:txBody>
                    <a:bodyPr/>
                    <a:lstStyle/>
                    <a:p>
                      <a:pPr>
                        <a:defRPr sz="1800">
                          <a:solidFill>
                            <a:srgbClr val="000000"/>
                          </a:solidFill>
                        </a:defRPr>
                      </a:pPr>
                      <a:r>
                        <a:rPr sz="1500">
                          <a:solidFill>
                            <a:srgbClr val="1B1F2E"/>
                          </a:solidFill>
                        </a:rPr>
                        <a:t>1955</a:t>
                      </a:r>
                    </a:p>
                  </a:txBody>
                  <a:tcPr marL="0" marR="0" marT="0" marB="0" anchor="ctr" anchorCtr="0" horzOverflow="overflow">
                    <a:lnL w="12700">
                      <a:miter lim="400000"/>
                    </a:lnL>
                    <a:lnR w="12700">
                      <a:miter lim="400000"/>
                    </a:lnR>
                    <a:lnT>
                      <a:solidFill>
                        <a:srgbClr val="C9CCD8"/>
                      </a:solidFill>
                    </a:lnT>
                    <a:lnB>
                      <a:solidFill>
                        <a:srgbClr val="C9CCD8"/>
                      </a:solidFill>
                    </a:lnB>
                    <a:noFill/>
                  </a:tcPr>
                </a:tc>
                <a:tc>
                  <a:txBody>
                    <a:bodyPr/>
                    <a:lstStyle/>
                    <a:p>
                      <a:pPr>
                        <a:defRPr sz="1800">
                          <a:solidFill>
                            <a:srgbClr val="000000"/>
                          </a:solidFill>
                        </a:defRPr>
                      </a:pPr>
                      <a:r>
                        <a:rPr sz="1500">
                          <a:solidFill>
                            <a:srgbClr val="1B1F2E"/>
                          </a:solidFill>
                        </a:rPr>
                        <a:t>Rosa Parks will not give up her bus seat to a white man.</a:t>
                      </a:r>
                    </a:p>
                  </a:txBody>
                  <a:tcPr marL="0" marR="0" marT="0" marB="0" anchor="ctr" anchorCtr="0" horzOverflow="overflow">
                    <a:lnL w="12700">
                      <a:miter lim="400000"/>
                    </a:lnL>
                    <a:lnR w="12700">
                      <a:miter lim="400000"/>
                    </a:lnR>
                    <a:lnT>
                      <a:solidFill>
                        <a:srgbClr val="C9CCD8"/>
                      </a:solidFill>
                    </a:lnT>
                    <a:lnB>
                      <a:solidFill>
                        <a:srgbClr val="C9CCD8"/>
                      </a:solidFill>
                    </a:lnB>
                    <a:noFill/>
                  </a:tcPr>
                </a:tc>
              </a:tr>
              <a:tr h="50800">
                <a:tc>
                  <a:txBody>
                    <a:bodyPr/>
                    <a:lstStyle/>
                    <a:p>
                      <a:pPr>
                        <a:defRPr sz="1800">
                          <a:solidFill>
                            <a:srgbClr val="000000"/>
                          </a:solidFill>
                        </a:defRPr>
                      </a:pPr>
                      <a:r>
                        <a:rPr sz="1500">
                          <a:solidFill>
                            <a:srgbClr val="1B1F2E"/>
                          </a:solidFill>
                        </a:rPr>
                        <a:t>1963</a:t>
                      </a:r>
                    </a:p>
                  </a:txBody>
                  <a:tcPr marL="0" marR="0" marT="0" marB="0" anchor="ctr" anchorCtr="0" horzOverflow="overflow">
                    <a:lnL w="12700">
                      <a:miter lim="400000"/>
                    </a:lnL>
                    <a:lnR w="12700">
                      <a:miter lim="400000"/>
                    </a:lnR>
                    <a:lnT>
                      <a:solidFill>
                        <a:srgbClr val="C9CCD8"/>
                      </a:solidFill>
                    </a:lnT>
                    <a:lnB>
                      <a:solidFill>
                        <a:srgbClr val="C9CCD8"/>
                      </a:solidFill>
                    </a:lnB>
                    <a:noFill/>
                  </a:tcPr>
                </a:tc>
                <a:tc>
                  <a:txBody>
                    <a:bodyPr/>
                    <a:lstStyle/>
                    <a:p>
                      <a:pPr>
                        <a:defRPr sz="1800">
                          <a:solidFill>
                            <a:srgbClr val="000000"/>
                          </a:solidFill>
                        </a:defRPr>
                      </a:pPr>
                      <a:r>
                        <a:rPr sz="1500">
                          <a:solidFill>
                            <a:srgbClr val="1B1F2E"/>
                          </a:solidFill>
                        </a:rPr>
                        <a:t>Martin Luther King Jr. gives his "I Have a Dream" speech.</a:t>
                      </a:r>
                    </a:p>
                  </a:txBody>
                  <a:tcPr marL="0" marR="0" marT="0" marB="0" anchor="ctr" anchorCtr="0" horzOverflow="overflow">
                    <a:lnL w="12700">
                      <a:miter lim="400000"/>
                    </a:lnL>
                    <a:lnR w="12700">
                      <a:miter lim="400000"/>
                    </a:lnR>
                    <a:lnT>
                      <a:solidFill>
                        <a:srgbClr val="C9CCD8"/>
                      </a:solidFill>
                    </a:lnT>
                    <a:lnB>
                      <a:solidFill>
                        <a:srgbClr val="C9CCD8"/>
                      </a:solidFill>
                    </a:lnB>
                    <a:noFill/>
                  </a:tcPr>
                </a:tc>
              </a:tr>
              <a:tr h="50800">
                <a:tc>
                  <a:txBody>
                    <a:bodyPr/>
                    <a:lstStyle/>
                    <a:p>
                      <a:pPr>
                        <a:defRPr sz="1800">
                          <a:solidFill>
                            <a:srgbClr val="000000"/>
                          </a:solidFill>
                        </a:defRPr>
                      </a:pPr>
                      <a:r>
                        <a:rPr sz="1500">
                          <a:solidFill>
                            <a:srgbClr val="1B1F2E"/>
                          </a:solidFill>
                        </a:rPr>
                        <a:t>1964</a:t>
                      </a:r>
                    </a:p>
                  </a:txBody>
                  <a:tcPr marL="0" marR="0" marT="0" marB="0" anchor="ctr" anchorCtr="0" horzOverflow="overflow">
                    <a:lnL w="12700">
                      <a:miter lim="400000"/>
                    </a:lnL>
                    <a:lnR w="12700">
                      <a:miter lim="400000"/>
                    </a:lnR>
                    <a:lnT>
                      <a:solidFill>
                        <a:srgbClr val="C9CCD8"/>
                      </a:solidFill>
                    </a:lnT>
                    <a:lnB>
                      <a:solidFill>
                        <a:srgbClr val="C9CCD8"/>
                      </a:solidFill>
                    </a:lnB>
                    <a:noFill/>
                  </a:tcPr>
                </a:tc>
                <a:tc>
                  <a:txBody>
                    <a:bodyPr/>
                    <a:lstStyle/>
                    <a:p>
                      <a:pPr>
                        <a:defRPr sz="1800">
                          <a:solidFill>
                            <a:srgbClr val="000000"/>
                          </a:solidFill>
                        </a:defRPr>
                      </a:pPr>
                      <a:r>
                        <a:rPr sz="1500">
                          <a:solidFill>
                            <a:srgbClr val="1B1F2E"/>
                          </a:solidFill>
                        </a:rPr>
                        <a:t>The Civil Rights Act bans discrimination because of race, colour, religion, sex or national origin.</a:t>
                      </a:r>
                    </a:p>
                  </a:txBody>
                  <a:tcPr marL="0" marR="0" marT="0" marB="0" anchor="ctr" anchorCtr="0" horzOverflow="overflow">
                    <a:lnL w="12700">
                      <a:miter lim="400000"/>
                    </a:lnL>
                    <a:lnR w="12700">
                      <a:miter lim="400000"/>
                    </a:lnR>
                    <a:lnT>
                      <a:solidFill>
                        <a:srgbClr val="C9CCD8"/>
                      </a:solidFill>
                    </a:lnT>
                    <a:lnB>
                      <a:solidFill>
                        <a:srgbClr val="C9CCD8"/>
                      </a:solidFill>
                    </a:lnB>
                    <a:noFill/>
                  </a:tcPr>
                </a:tc>
              </a:tr>
            </a:tbl>
          </a:graphicData>
        </a:graphic>
      </p:graphicFrame>
      <p:sp>
        <p:nvSpPr>
          <p:cNvPr id="93" name="Slide Number Placeholder 0"/>
          <p:cNvSpPr txBox="1"/>
          <p:nvPr>
            <p:ph type="sldNum" sz="quarter" idx="4294967295"/>
          </p:nvPr>
        </p:nvSpPr>
        <p:spPr>
          <a:xfrm>
            <a:off x="8229600" y="4709159"/>
            <a:ext cx="162072" cy="20591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7" name="Text 0"/>
          <p:cNvSpPr txBox="1"/>
          <p:nvPr>
            <p:ph type="title"/>
          </p:nvPr>
        </p:nvSpPr>
        <p:spPr>
          <a:prstGeom prst="rect">
            <a:avLst/>
          </a:prstGeom>
        </p:spPr>
        <p:txBody>
          <a:bodyPr lIns="0" tIns="0" rIns="0" bIns="0" anchor="ctr"/>
          <a:lstStyle/>
          <a:p>
            <a:pPr/>
            <a:r>
              <a:t>Ruby Bridges: a 6-year-old makes history</a:t>
            </a:r>
          </a:p>
        </p:txBody>
      </p:sp>
      <p:sp>
        <p:nvSpPr>
          <p:cNvPr id="98" name="text-11"/>
          <p:cNvSpPr txBox="1"/>
          <p:nvPr/>
        </p:nvSpPr>
        <p:spPr>
          <a:xfrm>
            <a:off x="457200" y="1188719"/>
            <a:ext cx="8229600" cy="174305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03200" indent="-203200">
              <a:spcBef>
                <a:spcPts val="1200"/>
              </a:spcBef>
              <a:buSzPct val="100000"/>
              <a:buChar char="•"/>
              <a:defRPr sz="1700"/>
            </a:pPr>
            <a:r>
              <a:t>In 1960, in New Orleans, Ruby was the first Black child to go to an all-white elementary school in the US South.</a:t>
            </a:r>
          </a:p>
          <a:p>
            <a:pPr marL="203200" indent="-203200">
              <a:spcBef>
                <a:spcPts val="1200"/>
              </a:spcBef>
              <a:buSzPct val="100000"/>
              <a:buChar char="•"/>
              <a:defRPr sz="1700"/>
            </a:pPr>
            <a:r>
              <a:t>Four federal marshals walked her to school because angry crowds shouted at her.</a:t>
            </a:r>
          </a:p>
          <a:p>
            <a:pPr marL="203200" indent="-203200">
              <a:spcBef>
                <a:spcPts val="1200"/>
              </a:spcBef>
              <a:buSzPct val="100000"/>
              <a:buChar char="•"/>
              <a:defRPr sz="1700"/>
            </a:pPr>
            <a:r>
              <a:t>Many white parents took their children out of the school.</a:t>
            </a:r>
          </a:p>
          <a:p>
            <a:pPr marL="203200" indent="-203200">
              <a:spcBef>
                <a:spcPts val="1200"/>
              </a:spcBef>
              <a:buSzPct val="100000"/>
              <a:buChar char="•"/>
              <a:defRPr sz="1700"/>
            </a:pPr>
            <a:r>
              <a:t>For a whole year, one teacher taught Ruby alone.</a:t>
            </a:r>
          </a:p>
        </p:txBody>
      </p:sp>
      <p:sp>
        <p:nvSpPr>
          <p:cNvPr id="99" name="text-12"/>
          <p:cNvSpPr txBox="1"/>
          <p:nvPr/>
        </p:nvSpPr>
        <p:spPr>
          <a:xfrm>
            <a:off x="457200" y="3383279"/>
            <a:ext cx="8229600" cy="21905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chemeClr val="accent1"/>
                </a:solidFill>
              </a:defRPr>
            </a:lvl1pPr>
          </a:lstStyle>
          <a:p>
            <a:pPr/>
            <a:r>
              <a:t>Think: How would you feel on your first day of school?</a:t>
            </a:r>
          </a:p>
        </p:txBody>
      </p:sp>
      <p:sp>
        <p:nvSpPr>
          <p:cNvPr id="100" name="Slide Number Placeholder 0"/>
          <p:cNvSpPr txBox="1"/>
          <p:nvPr>
            <p:ph type="sldNum" sz="quarter" idx="4294967295"/>
          </p:nvPr>
        </p:nvSpPr>
        <p:spPr>
          <a:xfrm>
            <a:off x="8229600" y="4709159"/>
            <a:ext cx="162072" cy="20591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4" name="Text 0"/>
          <p:cNvSpPr txBox="1"/>
          <p:nvPr>
            <p:ph type="title"/>
          </p:nvPr>
        </p:nvSpPr>
        <p:spPr>
          <a:prstGeom prst="rect">
            <a:avLst/>
          </a:prstGeom>
        </p:spPr>
        <p:txBody>
          <a:bodyPr lIns="0" tIns="0" rIns="0" bIns="0" anchor="ctr"/>
          <a:lstStyle/>
          <a:p>
            <a:pPr/>
            <a:r>
              <a:t>Is discrimination over?</a:t>
            </a:r>
          </a:p>
        </p:txBody>
      </p:sp>
      <p:sp>
        <p:nvSpPr>
          <p:cNvPr id="105" name="text-13"/>
          <p:cNvSpPr txBox="1"/>
          <p:nvPr/>
        </p:nvSpPr>
        <p:spPr>
          <a:xfrm>
            <a:off x="457200" y="1188719"/>
            <a:ext cx="8229600" cy="21141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03200" indent="-203200">
              <a:spcBef>
                <a:spcPts val="1000"/>
              </a:spcBef>
              <a:buSzPct val="100000"/>
              <a:buChar char="•"/>
              <a:defRPr b="1" sz="1600"/>
            </a:pPr>
            <a:r>
              <a:t>Jobs: </a:t>
            </a:r>
            <a:r>
              <a:rPr b="0"/>
              <a:t>In experiments with fake job applications, people with "white-sounding" names were often invited to more interviews.</a:t>
            </a:r>
          </a:p>
          <a:p>
            <a:pPr marL="203200" indent="-203200">
              <a:spcBef>
                <a:spcPts val="1000"/>
              </a:spcBef>
              <a:buSzPct val="100000"/>
              <a:buChar char="•"/>
              <a:defRPr b="1" sz="1600"/>
            </a:pPr>
            <a:r>
              <a:t>Housing: </a:t>
            </a:r>
            <a:r>
              <a:rPr b="0"/>
              <a:t>In the past, banks refused loans in Black neighborhoods ("redlining"). Many cities are still divided today.</a:t>
            </a:r>
          </a:p>
          <a:p>
            <a:pPr marL="203200" indent="-203200">
              <a:spcBef>
                <a:spcPts val="1000"/>
              </a:spcBef>
              <a:buSzPct val="100000"/>
              <a:buChar char="•"/>
              <a:defRPr b="1" sz="1600"/>
            </a:pPr>
            <a:r>
              <a:t>School money: </a:t>
            </a:r>
            <a:r>
              <a:rPr b="0"/>
              <a:t>Schools in poorer areas often have less money for teachers, books and buildings.</a:t>
            </a:r>
          </a:p>
          <a:p>
            <a:pPr marL="203200" indent="-203200">
              <a:spcBef>
                <a:spcPts val="1000"/>
              </a:spcBef>
              <a:buSzPct val="100000"/>
              <a:buChar char="•"/>
              <a:defRPr b="1" sz="1600"/>
            </a:pPr>
            <a:r>
              <a:t>Police/criminal justice: </a:t>
            </a:r>
            <a:r>
              <a:rPr b="0"/>
              <a:t>In 2020, the murder of George Floyd by a police officer led to protests in the US and around the world.</a:t>
            </a:r>
          </a:p>
        </p:txBody>
      </p:sp>
      <p:sp>
        <p:nvSpPr>
          <p:cNvPr id="106" name="text-14"/>
          <p:cNvSpPr txBox="1"/>
          <p:nvPr/>
        </p:nvSpPr>
        <p:spPr>
          <a:xfrm>
            <a:off x="457200" y="3657599"/>
            <a:ext cx="8229600" cy="4151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i="1" sz="1500">
                <a:solidFill>
                  <a:schemeClr val="accent4"/>
                </a:solidFill>
              </a:defRPr>
            </a:lvl1pPr>
          </a:lstStyle>
          <a:p>
            <a:pPr/>
            <a:r>
              <a:t>Not only race: people can also face discrimination because of gender, religion, disability, sexuality or where they come from.</a:t>
            </a:r>
          </a:p>
        </p:txBody>
      </p:sp>
      <p:sp>
        <p:nvSpPr>
          <p:cNvPr id="107" name="Slide Number Placeholder 0"/>
          <p:cNvSpPr txBox="1"/>
          <p:nvPr>
            <p:ph type="sldNum" sz="quarter" idx="4294967295"/>
          </p:nvPr>
        </p:nvSpPr>
        <p:spPr>
          <a:xfrm>
            <a:off x="8229600" y="4709159"/>
            <a:ext cx="220003" cy="20591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1" name="Text 0"/>
          <p:cNvSpPr txBox="1"/>
          <p:nvPr>
            <p:ph type="title"/>
          </p:nvPr>
        </p:nvSpPr>
        <p:spPr>
          <a:xfrm>
            <a:off x="548640" y="1737360"/>
            <a:ext cx="8046719" cy="914401"/>
          </a:xfrm>
          <a:prstGeom prst="rect">
            <a:avLst/>
          </a:prstGeom>
        </p:spPr>
        <p:txBody>
          <a:bodyPr lIns="0" tIns="0" rIns="0" bIns="0" anchor="b"/>
          <a:lstStyle/>
          <a:p>
            <a:pPr/>
            <a:r>
              <a:t>Part 2: Going to school in the USA</a:t>
            </a:r>
          </a:p>
        </p:txBody>
      </p:sp>
      <p:sp>
        <p:nvSpPr>
          <p:cNvPr id="112" name="Text 0"/>
          <p:cNvSpPr txBox="1"/>
          <p:nvPr>
            <p:ph type="body" sz="quarter" idx="1"/>
          </p:nvPr>
        </p:nvSpPr>
        <p:spPr>
          <a:xfrm>
            <a:off x="548640" y="2743200"/>
            <a:ext cx="8046719" cy="457200"/>
          </a:xfrm>
          <a:prstGeom prst="rect">
            <a:avLst/>
          </a:prstGeom>
        </p:spPr>
        <p:txBody>
          <a:bodyPr lIns="0" tIns="0" rIns="0" bIns="0"/>
          <a:lstStyle/>
          <a:p>
            <a:pPr/>
            <a:r>
              <a:t>From kindergarten to college</a:t>
            </a:r>
          </a:p>
        </p:txBody>
      </p:sp>
      <p:sp>
        <p:nvSpPr>
          <p:cNvPr id="113" name="Slide Number Placeholder 0"/>
          <p:cNvSpPr txBox="1"/>
          <p:nvPr>
            <p:ph type="sldNum" sz="quarter" idx="4294967295"/>
          </p:nvPr>
        </p:nvSpPr>
        <p:spPr>
          <a:xfrm>
            <a:off x="8229600" y="4709159"/>
            <a:ext cx="220003" cy="20591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7" name="Text 0"/>
          <p:cNvSpPr txBox="1"/>
          <p:nvPr>
            <p:ph type="title"/>
          </p:nvPr>
        </p:nvSpPr>
        <p:spPr>
          <a:prstGeom prst="rect">
            <a:avLst/>
          </a:prstGeom>
        </p:spPr>
        <p:txBody>
          <a:bodyPr lIns="0" tIns="0" rIns="0" bIns="0" anchor="ctr"/>
          <a:lstStyle/>
          <a:p>
            <a:pPr/>
            <a:r>
              <a:t>School in the USA and in Austria</a:t>
            </a:r>
          </a:p>
        </p:txBody>
      </p:sp>
      <p:graphicFrame>
        <p:nvGraphicFramePr>
          <p:cNvPr id="118" name="table-15"/>
          <p:cNvGraphicFramePr/>
          <p:nvPr/>
        </p:nvGraphicFramePr>
        <p:xfrm>
          <a:off x="457200" y="1188719"/>
          <a:ext cx="8229600" cy="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3657600"/>
                <a:gridCol w="914400"/>
                <a:gridCol w="3657600"/>
              </a:tblGrid>
              <a:tr h="50800">
                <a:tc>
                  <a:txBody>
                    <a:bodyPr/>
                    <a:lstStyle/>
                    <a:p>
                      <a:pPr>
                        <a:defRPr sz="1800">
                          <a:solidFill>
                            <a:srgbClr val="000000"/>
                          </a:solidFill>
                        </a:defRPr>
                      </a:pPr>
                      <a:r>
                        <a:rPr b="1" sz="1500">
                          <a:solidFill>
                            <a:schemeClr val="accent2"/>
                          </a:solidFill>
                        </a:rPr>
                        <a:t>USA</a:t>
                      </a:r>
                    </a:p>
                  </a:txBody>
                  <a:tcPr marL="0" marR="0" marT="0" marB="0" anchor="ctr" anchorCtr="0" horzOverflow="overflow">
                    <a:lnL w="12700">
                      <a:miter lim="400000"/>
                    </a:lnL>
                    <a:lnR w="12700">
                      <a:miter lim="400000"/>
                    </a:lnR>
                    <a:lnT w="12700">
                      <a:miter lim="400000"/>
                    </a:lnT>
                    <a:lnB w="15875">
                      <a:solidFill>
                        <a:schemeClr val="accent2"/>
                      </a:solidFill>
                    </a:lnB>
                    <a:noFill/>
                  </a:tcPr>
                </a:tc>
                <a:tc>
                  <a:txBody>
                    <a:bodyPr/>
                    <a:lstStyle/>
                    <a:p>
                      <a:pPr>
                        <a:defRPr sz="1800">
                          <a:solidFill>
                            <a:srgbClr val="000000"/>
                          </a:solidFill>
                        </a:defRPr>
                      </a:pPr>
                      <a:r>
                        <a:rPr b="1" sz="1500">
                          <a:solidFill>
                            <a:schemeClr val="accent2"/>
                          </a:solidFill>
                        </a:rPr>
                        <a:t>Age</a:t>
                      </a:r>
                    </a:p>
                  </a:txBody>
                  <a:tcPr marL="0" marR="0" marT="0" marB="0" anchor="ctr" anchorCtr="0" horzOverflow="overflow">
                    <a:lnL w="12700">
                      <a:miter lim="400000"/>
                    </a:lnL>
                    <a:lnR w="12700">
                      <a:miter lim="400000"/>
                    </a:lnR>
                    <a:lnT w="12700">
                      <a:miter lim="400000"/>
                    </a:lnT>
                    <a:lnB w="15875">
                      <a:solidFill>
                        <a:schemeClr val="accent2"/>
                      </a:solidFill>
                    </a:lnB>
                    <a:noFill/>
                  </a:tcPr>
                </a:tc>
                <a:tc>
                  <a:txBody>
                    <a:bodyPr/>
                    <a:lstStyle/>
                    <a:p>
                      <a:pPr>
                        <a:defRPr sz="1800">
                          <a:solidFill>
                            <a:srgbClr val="000000"/>
                          </a:solidFill>
                        </a:defRPr>
                      </a:pPr>
                      <a:r>
                        <a:rPr b="1" sz="1500">
                          <a:solidFill>
                            <a:schemeClr val="accent2"/>
                          </a:solidFill>
                        </a:rPr>
                        <a:t>Austria</a:t>
                      </a:r>
                    </a:p>
                  </a:txBody>
                  <a:tcPr marL="0" marR="0" marT="0" marB="0" anchor="ctr" anchorCtr="0" horzOverflow="overflow">
                    <a:lnL w="12700">
                      <a:miter lim="400000"/>
                    </a:lnL>
                    <a:lnR w="12700">
                      <a:miter lim="400000"/>
                    </a:lnR>
                    <a:lnT w="12700">
                      <a:miter lim="400000"/>
                    </a:lnT>
                    <a:lnB w="15875">
                      <a:solidFill>
                        <a:schemeClr val="accent2"/>
                      </a:solidFill>
                    </a:lnB>
                    <a:noFill/>
                  </a:tcPr>
                </a:tc>
              </a:tr>
              <a:tr h="50800">
                <a:tc>
                  <a:txBody>
                    <a:bodyPr/>
                    <a:lstStyle/>
                    <a:p>
                      <a:pPr>
                        <a:defRPr sz="1800">
                          <a:solidFill>
                            <a:srgbClr val="000000"/>
                          </a:solidFill>
                        </a:defRPr>
                      </a:pPr>
                      <a:r>
                        <a:rPr sz="1500">
                          <a:solidFill>
                            <a:srgbClr val="1B1F2E"/>
                          </a:solidFill>
                        </a:rPr>
                        <a:t>Elementary school (kindergarten to grade 5)</a:t>
                      </a:r>
                    </a:p>
                  </a:txBody>
                  <a:tcPr marL="0" marR="0" marT="0" marB="0" anchor="ctr" anchorCtr="0" horzOverflow="overflow">
                    <a:lnL w="12700">
                      <a:miter lim="400000"/>
                    </a:lnL>
                    <a:lnR w="12700">
                      <a:miter lim="400000"/>
                    </a:lnR>
                    <a:lnT w="15875">
                      <a:solidFill>
                        <a:schemeClr val="accent2"/>
                      </a:solidFill>
                    </a:lnT>
                    <a:lnB>
                      <a:solidFill>
                        <a:srgbClr val="C9CCD8"/>
                      </a:solidFill>
                    </a:lnB>
                    <a:noFill/>
                  </a:tcPr>
                </a:tc>
                <a:tc>
                  <a:txBody>
                    <a:bodyPr/>
                    <a:lstStyle/>
                    <a:p>
                      <a:pPr>
                        <a:defRPr sz="1800">
                          <a:solidFill>
                            <a:srgbClr val="000000"/>
                          </a:solidFill>
                        </a:defRPr>
                      </a:pPr>
                      <a:r>
                        <a:rPr sz="1500">
                          <a:solidFill>
                            <a:srgbClr val="1B1F2E"/>
                          </a:solidFill>
                        </a:rPr>
                        <a:t>5–11</a:t>
                      </a:r>
                    </a:p>
                  </a:txBody>
                  <a:tcPr marL="0" marR="0" marT="0" marB="0" anchor="ctr" anchorCtr="0" horzOverflow="overflow">
                    <a:lnL w="12700">
                      <a:miter lim="400000"/>
                    </a:lnL>
                    <a:lnR w="12700">
                      <a:miter lim="400000"/>
                    </a:lnR>
                    <a:lnT w="15875">
                      <a:solidFill>
                        <a:schemeClr val="accent2"/>
                      </a:solidFill>
                    </a:lnT>
                    <a:lnB>
                      <a:solidFill>
                        <a:srgbClr val="C9CCD8"/>
                      </a:solidFill>
                    </a:lnB>
                    <a:noFill/>
                  </a:tcPr>
                </a:tc>
                <a:tc>
                  <a:txBody>
                    <a:bodyPr/>
                    <a:lstStyle/>
                    <a:p>
                      <a:pPr>
                        <a:defRPr sz="1800">
                          <a:solidFill>
                            <a:srgbClr val="000000"/>
                          </a:solidFill>
                        </a:defRPr>
                      </a:pPr>
                      <a:r>
                        <a:rPr sz="1500">
                          <a:solidFill>
                            <a:srgbClr val="1B1F2E"/>
                          </a:solidFill>
                        </a:rPr>
                        <a:t>Volksschule (age 6–10)</a:t>
                      </a:r>
                    </a:p>
                  </a:txBody>
                  <a:tcPr marL="0" marR="0" marT="0" marB="0" anchor="ctr" anchorCtr="0" horzOverflow="overflow">
                    <a:lnL w="12700">
                      <a:miter lim="400000"/>
                    </a:lnL>
                    <a:lnR w="12700">
                      <a:miter lim="400000"/>
                    </a:lnR>
                    <a:lnT w="15875">
                      <a:solidFill>
                        <a:schemeClr val="accent2"/>
                      </a:solidFill>
                    </a:lnT>
                    <a:lnB>
                      <a:solidFill>
                        <a:srgbClr val="C9CCD8"/>
                      </a:solidFill>
                    </a:lnB>
                    <a:noFill/>
                  </a:tcPr>
                </a:tc>
              </a:tr>
              <a:tr h="50800">
                <a:tc>
                  <a:txBody>
                    <a:bodyPr/>
                    <a:lstStyle/>
                    <a:p>
                      <a:pPr>
                        <a:defRPr sz="1800">
                          <a:solidFill>
                            <a:srgbClr val="000000"/>
                          </a:solidFill>
                        </a:defRPr>
                      </a:pPr>
                      <a:r>
                        <a:rPr sz="1500">
                          <a:solidFill>
                            <a:srgbClr val="1B1F2E"/>
                          </a:solidFill>
                        </a:rPr>
                        <a:t>Middle school (grades 6–8)</a:t>
                      </a:r>
                    </a:p>
                  </a:txBody>
                  <a:tcPr marL="0" marR="0" marT="0" marB="0" anchor="ctr" anchorCtr="0" horzOverflow="overflow">
                    <a:lnL w="12700">
                      <a:miter lim="400000"/>
                    </a:lnL>
                    <a:lnR w="12700">
                      <a:miter lim="400000"/>
                    </a:lnR>
                    <a:lnT>
                      <a:solidFill>
                        <a:srgbClr val="C9CCD8"/>
                      </a:solidFill>
                    </a:lnT>
                    <a:lnB>
                      <a:solidFill>
                        <a:srgbClr val="C9CCD8"/>
                      </a:solidFill>
                    </a:lnB>
                    <a:noFill/>
                  </a:tcPr>
                </a:tc>
                <a:tc>
                  <a:txBody>
                    <a:bodyPr/>
                    <a:lstStyle/>
                    <a:p>
                      <a:pPr>
                        <a:defRPr sz="1800">
                          <a:solidFill>
                            <a:srgbClr val="000000"/>
                          </a:solidFill>
                        </a:defRPr>
                      </a:pPr>
                      <a:r>
                        <a:rPr sz="1500">
                          <a:solidFill>
                            <a:srgbClr val="1B1F2E"/>
                          </a:solidFill>
                        </a:rPr>
                        <a:t>11–14</a:t>
                      </a:r>
                    </a:p>
                  </a:txBody>
                  <a:tcPr marL="0" marR="0" marT="0" marB="0" anchor="ctr" anchorCtr="0" horzOverflow="overflow">
                    <a:lnL w="12700">
                      <a:miter lim="400000"/>
                    </a:lnL>
                    <a:lnR w="12700">
                      <a:miter lim="400000"/>
                    </a:lnR>
                    <a:lnT>
                      <a:solidFill>
                        <a:srgbClr val="C9CCD8"/>
                      </a:solidFill>
                    </a:lnT>
                    <a:lnB>
                      <a:solidFill>
                        <a:srgbClr val="C9CCD8"/>
                      </a:solidFill>
                    </a:lnB>
                    <a:noFill/>
                  </a:tcPr>
                </a:tc>
                <a:tc>
                  <a:txBody>
                    <a:bodyPr/>
                    <a:lstStyle/>
                    <a:p>
                      <a:pPr>
                        <a:defRPr sz="1800">
                          <a:solidFill>
                            <a:srgbClr val="000000"/>
                          </a:solidFill>
                        </a:defRPr>
                      </a:pPr>
                      <a:r>
                        <a:rPr sz="1500">
                          <a:solidFill>
                            <a:srgbClr val="1B1F2E"/>
                          </a:solidFill>
                        </a:rPr>
                        <a:t>Mittelschule / AHS (age 10–14)</a:t>
                      </a:r>
                    </a:p>
                  </a:txBody>
                  <a:tcPr marL="0" marR="0" marT="0" marB="0" anchor="ctr" anchorCtr="0" horzOverflow="overflow">
                    <a:lnL w="12700">
                      <a:miter lim="400000"/>
                    </a:lnL>
                    <a:lnR w="12700">
                      <a:miter lim="400000"/>
                    </a:lnR>
                    <a:lnT>
                      <a:solidFill>
                        <a:srgbClr val="C9CCD8"/>
                      </a:solidFill>
                    </a:lnT>
                    <a:lnB>
                      <a:solidFill>
                        <a:srgbClr val="C9CCD8"/>
                      </a:solidFill>
                    </a:lnB>
                    <a:noFill/>
                  </a:tcPr>
                </a:tc>
              </a:tr>
              <a:tr h="50800">
                <a:tc>
                  <a:txBody>
                    <a:bodyPr/>
                    <a:lstStyle/>
                    <a:p>
                      <a:pPr>
                        <a:defRPr sz="1800">
                          <a:solidFill>
                            <a:srgbClr val="000000"/>
                          </a:solidFill>
                        </a:defRPr>
                      </a:pPr>
                      <a:r>
                        <a:rPr sz="1500">
                          <a:solidFill>
                            <a:srgbClr val="1B1F2E"/>
                          </a:solidFill>
                        </a:rPr>
                        <a:t>High school (grades 9–12)</a:t>
                      </a:r>
                    </a:p>
                  </a:txBody>
                  <a:tcPr marL="0" marR="0" marT="0" marB="0" anchor="ctr" anchorCtr="0" horzOverflow="overflow">
                    <a:lnL w="12700">
                      <a:miter lim="400000"/>
                    </a:lnL>
                    <a:lnR w="12700">
                      <a:miter lim="400000"/>
                    </a:lnR>
                    <a:lnT>
                      <a:solidFill>
                        <a:srgbClr val="C9CCD8"/>
                      </a:solidFill>
                    </a:lnT>
                    <a:lnB>
                      <a:solidFill>
                        <a:srgbClr val="C9CCD8"/>
                      </a:solidFill>
                    </a:lnB>
                    <a:noFill/>
                  </a:tcPr>
                </a:tc>
                <a:tc>
                  <a:txBody>
                    <a:bodyPr/>
                    <a:lstStyle/>
                    <a:p>
                      <a:pPr>
                        <a:defRPr sz="1800">
                          <a:solidFill>
                            <a:srgbClr val="000000"/>
                          </a:solidFill>
                        </a:defRPr>
                      </a:pPr>
                      <a:r>
                        <a:rPr sz="1500">
                          <a:solidFill>
                            <a:srgbClr val="1B1F2E"/>
                          </a:solidFill>
                        </a:rPr>
                        <a:t>14–18</a:t>
                      </a:r>
                    </a:p>
                  </a:txBody>
                  <a:tcPr marL="0" marR="0" marT="0" marB="0" anchor="ctr" anchorCtr="0" horzOverflow="overflow">
                    <a:lnL w="12700">
                      <a:miter lim="400000"/>
                    </a:lnL>
                    <a:lnR w="12700">
                      <a:miter lim="400000"/>
                    </a:lnR>
                    <a:lnT>
                      <a:solidFill>
                        <a:srgbClr val="C9CCD8"/>
                      </a:solidFill>
                    </a:lnT>
                    <a:lnB>
                      <a:solidFill>
                        <a:srgbClr val="C9CCD8"/>
                      </a:solidFill>
                    </a:lnB>
                    <a:noFill/>
                  </a:tcPr>
                </a:tc>
                <a:tc>
                  <a:txBody>
                    <a:bodyPr/>
                    <a:lstStyle/>
                    <a:p>
                      <a:pPr>
                        <a:defRPr sz="1800">
                          <a:solidFill>
                            <a:srgbClr val="000000"/>
                          </a:solidFill>
                        </a:defRPr>
                      </a:pPr>
                      <a:r>
                        <a:rPr sz="1500">
                          <a:solidFill>
                            <a:srgbClr val="1B1F2E"/>
                          </a:solidFill>
                        </a:rPr>
                        <a:t>HAK, HTL, AHS Oberstufe (age 14–19)</a:t>
                      </a:r>
                    </a:p>
                  </a:txBody>
                  <a:tcPr marL="0" marR="0" marT="0" marB="0" anchor="ctr" anchorCtr="0" horzOverflow="overflow">
                    <a:lnL w="12700">
                      <a:miter lim="400000"/>
                    </a:lnL>
                    <a:lnR w="12700">
                      <a:miter lim="400000"/>
                    </a:lnR>
                    <a:lnT>
                      <a:solidFill>
                        <a:srgbClr val="C9CCD8"/>
                      </a:solidFill>
                    </a:lnT>
                    <a:lnB>
                      <a:solidFill>
                        <a:srgbClr val="C9CCD8"/>
                      </a:solidFill>
                    </a:lnB>
                    <a:noFill/>
                  </a:tcPr>
                </a:tc>
              </a:tr>
              <a:tr h="50800">
                <a:tc>
                  <a:txBody>
                    <a:bodyPr/>
                    <a:lstStyle/>
                    <a:p>
                      <a:pPr>
                        <a:defRPr sz="1800">
                          <a:solidFill>
                            <a:srgbClr val="000000"/>
                          </a:solidFill>
                        </a:defRPr>
                      </a:pPr>
                      <a:r>
                        <a:rPr sz="1500">
                          <a:solidFill>
                            <a:srgbClr val="1B1F2E"/>
                          </a:solidFill>
                        </a:rPr>
                        <a:t>College / university</a:t>
                      </a:r>
                    </a:p>
                  </a:txBody>
                  <a:tcPr marL="0" marR="0" marT="0" marB="0" anchor="ctr" anchorCtr="0" horzOverflow="overflow">
                    <a:lnL w="12700">
                      <a:miter lim="400000"/>
                    </a:lnL>
                    <a:lnR w="12700">
                      <a:miter lim="400000"/>
                    </a:lnR>
                    <a:lnT>
                      <a:solidFill>
                        <a:srgbClr val="C9CCD8"/>
                      </a:solidFill>
                    </a:lnT>
                    <a:lnB>
                      <a:solidFill>
                        <a:srgbClr val="C9CCD8"/>
                      </a:solidFill>
                    </a:lnB>
                    <a:noFill/>
                  </a:tcPr>
                </a:tc>
                <a:tc>
                  <a:txBody>
                    <a:bodyPr/>
                    <a:lstStyle/>
                    <a:p>
                      <a:pPr>
                        <a:defRPr sz="1800">
                          <a:solidFill>
                            <a:srgbClr val="000000"/>
                          </a:solidFill>
                        </a:defRPr>
                      </a:pPr>
                      <a:r>
                        <a:rPr sz="1500">
                          <a:solidFill>
                            <a:srgbClr val="1B1F2E"/>
                          </a:solidFill>
                        </a:rPr>
                        <a:t>18+</a:t>
                      </a:r>
                    </a:p>
                  </a:txBody>
                  <a:tcPr marL="0" marR="0" marT="0" marB="0" anchor="ctr" anchorCtr="0" horzOverflow="overflow">
                    <a:lnL w="12700">
                      <a:miter lim="400000"/>
                    </a:lnL>
                    <a:lnR w="12700">
                      <a:miter lim="400000"/>
                    </a:lnR>
                    <a:lnT>
                      <a:solidFill>
                        <a:srgbClr val="C9CCD8"/>
                      </a:solidFill>
                    </a:lnT>
                    <a:lnB>
                      <a:solidFill>
                        <a:srgbClr val="C9CCD8"/>
                      </a:solidFill>
                    </a:lnB>
                    <a:noFill/>
                  </a:tcPr>
                </a:tc>
                <a:tc>
                  <a:txBody>
                    <a:bodyPr/>
                    <a:lstStyle/>
                    <a:p>
                      <a:pPr>
                        <a:defRPr sz="1800">
                          <a:solidFill>
                            <a:srgbClr val="000000"/>
                          </a:solidFill>
                        </a:defRPr>
                      </a:pPr>
                      <a:r>
                        <a:rPr sz="1500">
                          <a:solidFill>
                            <a:srgbClr val="1B1F2E"/>
                          </a:solidFill>
                        </a:rPr>
                        <a:t>Universität / FH</a:t>
                      </a:r>
                    </a:p>
                  </a:txBody>
                  <a:tcPr marL="0" marR="0" marT="0" marB="0" anchor="ctr" anchorCtr="0" horzOverflow="overflow">
                    <a:lnL w="12700">
                      <a:miter lim="400000"/>
                    </a:lnL>
                    <a:lnR w="12700">
                      <a:miter lim="400000"/>
                    </a:lnR>
                    <a:lnT>
                      <a:solidFill>
                        <a:srgbClr val="C9CCD8"/>
                      </a:solidFill>
                    </a:lnT>
                    <a:lnB>
                      <a:solidFill>
                        <a:srgbClr val="C9CCD8"/>
                      </a:solidFill>
                    </a:lnB>
                    <a:noFill/>
                  </a:tcPr>
                </a:tc>
              </a:tr>
            </a:tbl>
          </a:graphicData>
        </a:graphic>
      </p:graphicFrame>
      <p:sp>
        <p:nvSpPr>
          <p:cNvPr id="119" name="text-16"/>
          <p:cNvSpPr txBox="1"/>
          <p:nvPr/>
        </p:nvSpPr>
        <p:spPr>
          <a:xfrm>
            <a:off x="457200" y="3428999"/>
            <a:ext cx="8229600"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pPr>
            <a:r>
              <a:t>High school years: </a:t>
            </a:r>
            <a:r>
              <a:rPr b="0"/>
              <a:t>9th grade = freshman, 10th = sophomore, 11th = junior, 12th = senior</a:t>
            </a:r>
          </a:p>
        </p:txBody>
      </p:sp>
      <p:sp>
        <p:nvSpPr>
          <p:cNvPr id="120" name="Slide Number Placeholder 0"/>
          <p:cNvSpPr txBox="1"/>
          <p:nvPr>
            <p:ph type="sldNum" sz="quarter" idx="4294967295"/>
          </p:nvPr>
        </p:nvSpPr>
        <p:spPr>
          <a:xfrm>
            <a:off x="8229600" y="4709159"/>
            <a:ext cx="220003" cy="20591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4" name="Text 0"/>
          <p:cNvSpPr txBox="1"/>
          <p:nvPr>
            <p:ph type="title"/>
          </p:nvPr>
        </p:nvSpPr>
        <p:spPr>
          <a:prstGeom prst="rect">
            <a:avLst/>
          </a:prstGeom>
        </p:spPr>
        <p:txBody>
          <a:bodyPr lIns="0" tIns="0" rIns="0" bIns="0" anchor="ctr"/>
          <a:lstStyle/>
          <a:p>
            <a:pPr/>
            <a:r>
              <a:t>Life at an American high school</a:t>
            </a:r>
          </a:p>
        </p:txBody>
      </p:sp>
      <p:sp>
        <p:nvSpPr>
          <p:cNvPr id="125" name="text-17"/>
          <p:cNvSpPr txBox="1"/>
          <p:nvPr/>
        </p:nvSpPr>
        <p:spPr>
          <a:xfrm>
            <a:off x="457200" y="1188719"/>
            <a:ext cx="4754880" cy="27491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03200" indent="-203200">
              <a:spcBef>
                <a:spcPts val="800"/>
              </a:spcBef>
              <a:buSzPct val="100000"/>
              <a:buChar char="•"/>
              <a:defRPr b="1" sz="1600"/>
            </a:pPr>
            <a:r>
              <a:t>School bus: </a:t>
            </a:r>
            <a:r>
              <a:rPr b="0"/>
              <a:t>many students ride the yellow bus.</a:t>
            </a:r>
          </a:p>
          <a:p>
            <a:pPr marL="203200" indent="-203200">
              <a:spcBef>
                <a:spcPts val="800"/>
              </a:spcBef>
              <a:buSzPct val="100000"/>
              <a:buChar char="•"/>
              <a:defRPr b="1" sz="1600"/>
            </a:pPr>
            <a:r>
              <a:t>Sports teams: </a:t>
            </a:r>
            <a:r>
              <a:rPr b="0"/>
              <a:t>football, basketball, track. The whole town watches.</a:t>
            </a:r>
          </a:p>
          <a:p>
            <a:pPr marL="203200" indent="-203200">
              <a:spcBef>
                <a:spcPts val="800"/>
              </a:spcBef>
              <a:buSzPct val="100000"/>
              <a:buChar char="•"/>
              <a:defRPr b="1" sz="1600"/>
            </a:pPr>
            <a:r>
              <a:t>Clubs: </a:t>
            </a:r>
            <a:r>
              <a:rPr b="0"/>
              <a:t>band, drama, debate, robotics…</a:t>
            </a:r>
          </a:p>
          <a:p>
            <a:pPr marL="203200" indent="-203200">
              <a:spcBef>
                <a:spcPts val="800"/>
              </a:spcBef>
              <a:buSzPct val="100000"/>
              <a:buChar char="•"/>
              <a:defRPr b="1" sz="1600"/>
            </a:pPr>
            <a:r>
              <a:t>Prom: </a:t>
            </a:r>
            <a:r>
              <a:rPr b="0"/>
              <a:t>a big formal dance at the end of the year.</a:t>
            </a:r>
          </a:p>
          <a:p>
            <a:pPr marL="203200" indent="-203200">
              <a:spcBef>
                <a:spcPts val="800"/>
              </a:spcBef>
              <a:buSzPct val="100000"/>
              <a:buChar char="•"/>
              <a:defRPr b="1" sz="1600"/>
            </a:pPr>
            <a:r>
              <a:t>Grades A–F: </a:t>
            </a:r>
            <a:r>
              <a:rPr b="0"/>
              <a:t>A is best, F means fail. The average is the GPA.</a:t>
            </a:r>
          </a:p>
          <a:p>
            <a:pPr marL="203200" indent="-203200">
              <a:spcBef>
                <a:spcPts val="800"/>
              </a:spcBef>
              <a:buSzPct val="100000"/>
              <a:buChar char="•"/>
              <a:defRPr b="1" sz="1600"/>
            </a:pPr>
            <a:r>
              <a:t>Diploma: </a:t>
            </a:r>
            <a:r>
              <a:rPr b="0"/>
              <a:t>there is no Matura. You graduate with a diploma.</a:t>
            </a:r>
          </a:p>
        </p:txBody>
      </p:sp>
      <p:sp>
        <p:nvSpPr>
          <p:cNvPr id="126" name="text-18"/>
          <p:cNvSpPr txBox="1"/>
          <p:nvPr/>
        </p:nvSpPr>
        <p:spPr>
          <a:xfrm>
            <a:off x="5577840" y="1234439"/>
            <a:ext cx="3108961" cy="12279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a:solidFill>
                  <a:schemeClr val="accent2"/>
                </a:solidFill>
              </a:defRPr>
            </a:pPr>
            <a:r>
              <a:t>About 9 in 10 students go to public schools, which are free.</a:t>
            </a:r>
          </a:p>
          <a:p>
            <a:pPr>
              <a:defRPr sz="800">
                <a:solidFill>
                  <a:schemeClr val="accent2"/>
                </a:solidFill>
              </a:defRPr>
            </a:pPr>
            <a:r>
              <a:t> </a:t>
            </a:r>
            <a:endParaRPr sz="1500"/>
          </a:p>
          <a:p>
            <a:pPr>
              <a:defRPr b="1" sz="1500">
                <a:solidFill>
                  <a:schemeClr val="accent2"/>
                </a:solidFill>
              </a:defRPr>
            </a:pPr>
            <a:r>
              <a:t>But a big part of the money comes from local property taxes. Rich town, rich school. Poor town, poor school.</a:t>
            </a:r>
          </a:p>
        </p:txBody>
      </p:sp>
      <p:sp>
        <p:nvSpPr>
          <p:cNvPr id="127" name="Slide Number Placeholder 0"/>
          <p:cNvSpPr txBox="1"/>
          <p:nvPr>
            <p:ph type="sldNum" sz="quarter" idx="4294967295"/>
          </p:nvPr>
        </p:nvSpPr>
        <p:spPr>
          <a:xfrm>
            <a:off x="8229600" y="4709159"/>
            <a:ext cx="220003" cy="20591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1" name="Text 0"/>
          <p:cNvSpPr txBox="1"/>
          <p:nvPr>
            <p:ph type="title"/>
          </p:nvPr>
        </p:nvSpPr>
        <p:spPr>
          <a:prstGeom prst="rect">
            <a:avLst/>
          </a:prstGeom>
        </p:spPr>
        <p:txBody>
          <a:bodyPr lIns="0" tIns="0" rIns="0" bIns="0" anchor="ctr"/>
          <a:lstStyle/>
          <a:p>
            <a:pPr/>
            <a:r>
              <a:t>College or university?</a:t>
            </a:r>
          </a:p>
        </p:txBody>
      </p:sp>
      <p:sp>
        <p:nvSpPr>
          <p:cNvPr id="132" name="text-19"/>
          <p:cNvSpPr txBox="1"/>
          <p:nvPr/>
        </p:nvSpPr>
        <p:spPr>
          <a:xfrm>
            <a:off x="457200" y="1097280"/>
            <a:ext cx="8229600"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i="1" sz="1600"/>
            </a:lvl1pPr>
          </a:lstStyle>
          <a:p>
            <a:pPr/>
            <a:r>
              <a:t>Americans say "I'm going to college" for any kind of higher education.</a:t>
            </a:r>
          </a:p>
        </p:txBody>
      </p:sp>
      <p:graphicFrame>
        <p:nvGraphicFramePr>
          <p:cNvPr id="133" name="table-20"/>
          <p:cNvGraphicFramePr/>
          <p:nvPr/>
        </p:nvGraphicFramePr>
        <p:xfrm>
          <a:off x="457200" y="1600200"/>
          <a:ext cx="8229600" cy="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377440"/>
                <a:gridCol w="1645920"/>
                <a:gridCol w="4206240"/>
              </a:tblGrid>
              <a:tr h="50800">
                <a:tc>
                  <a:txBody>
                    <a:bodyPr/>
                    <a:lstStyle/>
                    <a:p>
                      <a:pPr>
                        <a:defRPr sz="1800">
                          <a:solidFill>
                            <a:srgbClr val="000000"/>
                          </a:solidFill>
                        </a:defRPr>
                      </a:pPr>
                      <a:r>
                        <a:rPr b="1" sz="1500">
                          <a:solidFill>
                            <a:schemeClr val="accent2"/>
                          </a:solidFill>
                        </a:rPr>
                        <a:t>Type</a:t>
                      </a:r>
                    </a:p>
                  </a:txBody>
                  <a:tcPr marL="0" marR="0" marT="0" marB="0" anchor="ctr" anchorCtr="0" horzOverflow="overflow">
                    <a:lnL w="12700">
                      <a:miter lim="400000"/>
                    </a:lnL>
                    <a:lnR w="12700">
                      <a:miter lim="400000"/>
                    </a:lnR>
                    <a:lnT w="12700">
                      <a:miter lim="400000"/>
                    </a:lnT>
                    <a:lnB w="15875">
                      <a:solidFill>
                        <a:schemeClr val="accent2"/>
                      </a:solidFill>
                    </a:lnB>
                    <a:noFill/>
                  </a:tcPr>
                </a:tc>
                <a:tc>
                  <a:txBody>
                    <a:bodyPr/>
                    <a:lstStyle/>
                    <a:p>
                      <a:pPr>
                        <a:defRPr sz="1800">
                          <a:solidFill>
                            <a:srgbClr val="000000"/>
                          </a:solidFill>
                        </a:defRPr>
                      </a:pPr>
                      <a:r>
                        <a:rPr b="1" sz="1500">
                          <a:solidFill>
                            <a:schemeClr val="accent2"/>
                          </a:solidFill>
                        </a:rPr>
                        <a:t>Tuition per year</a:t>
                      </a:r>
                    </a:p>
                  </a:txBody>
                  <a:tcPr marL="0" marR="0" marT="0" marB="0" anchor="ctr" anchorCtr="0" horzOverflow="overflow">
                    <a:lnL w="12700">
                      <a:miter lim="400000"/>
                    </a:lnL>
                    <a:lnR w="12700">
                      <a:miter lim="400000"/>
                    </a:lnR>
                    <a:lnT w="12700">
                      <a:miter lim="400000"/>
                    </a:lnT>
                    <a:lnB w="15875">
                      <a:solidFill>
                        <a:schemeClr val="accent2"/>
                      </a:solidFill>
                    </a:lnB>
                    <a:noFill/>
                  </a:tcPr>
                </a:tc>
                <a:tc>
                  <a:txBody>
                    <a:bodyPr/>
                    <a:lstStyle/>
                    <a:p>
                      <a:pPr>
                        <a:defRPr sz="1800">
                          <a:solidFill>
                            <a:srgbClr val="000000"/>
                          </a:solidFill>
                        </a:defRPr>
                      </a:pPr>
                      <a:r>
                        <a:rPr b="1" sz="1500">
                          <a:solidFill>
                            <a:schemeClr val="accent2"/>
                          </a:solidFill>
                        </a:rPr>
                        <a:t>Notes</a:t>
                      </a:r>
                    </a:p>
                  </a:txBody>
                  <a:tcPr marL="0" marR="0" marT="0" marB="0" anchor="ctr" anchorCtr="0" horzOverflow="overflow">
                    <a:lnL w="12700">
                      <a:miter lim="400000"/>
                    </a:lnL>
                    <a:lnR w="12700">
                      <a:miter lim="400000"/>
                    </a:lnR>
                    <a:lnT w="12700">
                      <a:miter lim="400000"/>
                    </a:lnT>
                    <a:lnB w="15875">
                      <a:solidFill>
                        <a:schemeClr val="accent2"/>
                      </a:solidFill>
                    </a:lnB>
                    <a:noFill/>
                  </a:tcPr>
                </a:tc>
              </a:tr>
              <a:tr h="50800">
                <a:tc>
                  <a:txBody>
                    <a:bodyPr/>
                    <a:lstStyle/>
                    <a:p>
                      <a:pPr>
                        <a:defRPr sz="1800">
                          <a:solidFill>
                            <a:srgbClr val="000000"/>
                          </a:solidFill>
                        </a:defRPr>
                      </a:pPr>
                      <a:r>
                        <a:rPr sz="1500">
                          <a:solidFill>
                            <a:srgbClr val="1B1F2E"/>
                          </a:solidFill>
                        </a:rPr>
                        <a:t>Community college</a:t>
                      </a:r>
                    </a:p>
                  </a:txBody>
                  <a:tcPr marL="0" marR="0" marT="0" marB="0" anchor="ctr" anchorCtr="0" horzOverflow="overflow">
                    <a:lnL w="12700">
                      <a:miter lim="400000"/>
                    </a:lnL>
                    <a:lnR w="12700">
                      <a:miter lim="400000"/>
                    </a:lnR>
                    <a:lnT w="15875">
                      <a:solidFill>
                        <a:schemeClr val="accent2"/>
                      </a:solidFill>
                    </a:lnT>
                    <a:lnB>
                      <a:solidFill>
                        <a:srgbClr val="C9CCD8"/>
                      </a:solidFill>
                    </a:lnB>
                    <a:noFill/>
                  </a:tcPr>
                </a:tc>
                <a:tc>
                  <a:txBody>
                    <a:bodyPr/>
                    <a:lstStyle/>
                    <a:p>
                      <a:pPr>
                        <a:defRPr sz="1800">
                          <a:solidFill>
                            <a:srgbClr val="000000"/>
                          </a:solidFill>
                        </a:defRPr>
                      </a:pPr>
                      <a:r>
                        <a:rPr sz="1500">
                          <a:solidFill>
                            <a:srgbClr val="1B1F2E"/>
                          </a:solidFill>
                        </a:rPr>
                        <a:t>$4,150</a:t>
                      </a:r>
                    </a:p>
                  </a:txBody>
                  <a:tcPr marL="0" marR="0" marT="0" marB="0" anchor="ctr" anchorCtr="0" horzOverflow="overflow">
                    <a:lnL w="12700">
                      <a:miter lim="400000"/>
                    </a:lnL>
                    <a:lnR w="12700">
                      <a:miter lim="400000"/>
                    </a:lnR>
                    <a:lnT w="15875">
                      <a:solidFill>
                        <a:schemeClr val="accent2"/>
                      </a:solidFill>
                    </a:lnT>
                    <a:lnB>
                      <a:solidFill>
                        <a:srgbClr val="C9CCD8"/>
                      </a:solidFill>
                    </a:lnB>
                    <a:noFill/>
                  </a:tcPr>
                </a:tc>
                <a:tc>
                  <a:txBody>
                    <a:bodyPr/>
                    <a:lstStyle/>
                    <a:p>
                      <a:pPr>
                        <a:defRPr sz="1800">
                          <a:solidFill>
                            <a:srgbClr val="000000"/>
                          </a:solidFill>
                        </a:defRPr>
                      </a:pPr>
                      <a:r>
                        <a:rPr sz="1500">
                          <a:solidFill>
                            <a:srgbClr val="1B1F2E"/>
                          </a:solidFill>
                        </a:rPr>
                        <a:t>2 years, close to home. Many students change to a university later.</a:t>
                      </a:r>
                    </a:p>
                  </a:txBody>
                  <a:tcPr marL="0" marR="0" marT="0" marB="0" anchor="ctr" anchorCtr="0" horzOverflow="overflow">
                    <a:lnL w="12700">
                      <a:miter lim="400000"/>
                    </a:lnL>
                    <a:lnR w="12700">
                      <a:miter lim="400000"/>
                    </a:lnR>
                    <a:lnT w="15875">
                      <a:solidFill>
                        <a:schemeClr val="accent2"/>
                      </a:solidFill>
                    </a:lnT>
                    <a:lnB>
                      <a:solidFill>
                        <a:srgbClr val="C9CCD8"/>
                      </a:solidFill>
                    </a:lnB>
                    <a:noFill/>
                  </a:tcPr>
                </a:tc>
              </a:tr>
              <a:tr h="50800">
                <a:tc>
                  <a:txBody>
                    <a:bodyPr/>
                    <a:lstStyle/>
                    <a:p>
                      <a:pPr>
                        <a:defRPr sz="1800">
                          <a:solidFill>
                            <a:srgbClr val="000000"/>
                          </a:solidFill>
                        </a:defRPr>
                      </a:pPr>
                      <a:r>
                        <a:rPr sz="1500">
                          <a:solidFill>
                            <a:srgbClr val="1B1F2E"/>
                          </a:solidFill>
                        </a:rPr>
                        <a:t>State university (public)</a:t>
                      </a:r>
                    </a:p>
                  </a:txBody>
                  <a:tcPr marL="0" marR="0" marT="0" marB="0" anchor="ctr" anchorCtr="0" horzOverflow="overflow">
                    <a:lnL w="12700">
                      <a:miter lim="400000"/>
                    </a:lnL>
                    <a:lnR w="12700">
                      <a:miter lim="400000"/>
                    </a:lnR>
                    <a:lnT>
                      <a:solidFill>
                        <a:srgbClr val="C9CCD8"/>
                      </a:solidFill>
                    </a:lnT>
                    <a:lnB>
                      <a:solidFill>
                        <a:srgbClr val="C9CCD8"/>
                      </a:solidFill>
                    </a:lnB>
                    <a:noFill/>
                  </a:tcPr>
                </a:tc>
                <a:tc>
                  <a:txBody>
                    <a:bodyPr/>
                    <a:lstStyle/>
                    <a:p>
                      <a:pPr>
                        <a:defRPr sz="1800">
                          <a:solidFill>
                            <a:srgbClr val="000000"/>
                          </a:solidFill>
                        </a:defRPr>
                      </a:pPr>
                      <a:r>
                        <a:rPr sz="1500">
                          <a:solidFill>
                            <a:srgbClr val="1B1F2E"/>
                          </a:solidFill>
                        </a:rPr>
                        <a:t>$11,950</a:t>
                      </a:r>
                    </a:p>
                  </a:txBody>
                  <a:tcPr marL="0" marR="0" marT="0" marB="0" anchor="ctr" anchorCtr="0" horzOverflow="overflow">
                    <a:lnL w="12700">
                      <a:miter lim="400000"/>
                    </a:lnL>
                    <a:lnR w="12700">
                      <a:miter lim="400000"/>
                    </a:lnR>
                    <a:lnT>
                      <a:solidFill>
                        <a:srgbClr val="C9CCD8"/>
                      </a:solidFill>
                    </a:lnT>
                    <a:lnB>
                      <a:solidFill>
                        <a:srgbClr val="C9CCD8"/>
                      </a:solidFill>
                    </a:lnB>
                    <a:noFill/>
                  </a:tcPr>
                </a:tc>
                <a:tc>
                  <a:txBody>
                    <a:bodyPr/>
                    <a:lstStyle/>
                    <a:p>
                      <a:pPr>
                        <a:defRPr sz="1800">
                          <a:solidFill>
                            <a:srgbClr val="000000"/>
                          </a:solidFill>
                        </a:defRPr>
                      </a:pPr>
                      <a:r>
                        <a:rPr sz="1500">
                          <a:solidFill>
                            <a:srgbClr val="1B1F2E"/>
                          </a:solidFill>
                        </a:rPr>
                        <a:t>Students from other states pay much more (about $31,880).</a:t>
                      </a:r>
                    </a:p>
                  </a:txBody>
                  <a:tcPr marL="0" marR="0" marT="0" marB="0" anchor="ctr" anchorCtr="0" horzOverflow="overflow">
                    <a:lnL w="12700">
                      <a:miter lim="400000"/>
                    </a:lnL>
                    <a:lnR w="12700">
                      <a:miter lim="400000"/>
                    </a:lnR>
                    <a:lnT>
                      <a:solidFill>
                        <a:srgbClr val="C9CCD8"/>
                      </a:solidFill>
                    </a:lnT>
                    <a:lnB>
                      <a:solidFill>
                        <a:srgbClr val="C9CCD8"/>
                      </a:solidFill>
                    </a:lnB>
                    <a:noFill/>
                  </a:tcPr>
                </a:tc>
              </a:tr>
              <a:tr h="50800">
                <a:tc>
                  <a:txBody>
                    <a:bodyPr/>
                    <a:lstStyle/>
                    <a:p>
                      <a:pPr>
                        <a:defRPr sz="1800">
                          <a:solidFill>
                            <a:srgbClr val="000000"/>
                          </a:solidFill>
                        </a:defRPr>
                      </a:pPr>
                      <a:r>
                        <a:rPr sz="1500">
                          <a:solidFill>
                            <a:srgbClr val="1B1F2E"/>
                          </a:solidFill>
                        </a:rPr>
                        <a:t>Private university</a:t>
                      </a:r>
                    </a:p>
                  </a:txBody>
                  <a:tcPr marL="0" marR="0" marT="0" marB="0" anchor="ctr" anchorCtr="0" horzOverflow="overflow">
                    <a:lnL w="12700">
                      <a:miter lim="400000"/>
                    </a:lnL>
                    <a:lnR w="12700">
                      <a:miter lim="400000"/>
                    </a:lnR>
                    <a:lnT>
                      <a:solidFill>
                        <a:srgbClr val="C9CCD8"/>
                      </a:solidFill>
                    </a:lnT>
                    <a:lnB>
                      <a:solidFill>
                        <a:srgbClr val="C9CCD8"/>
                      </a:solidFill>
                    </a:lnB>
                    <a:noFill/>
                  </a:tcPr>
                </a:tc>
                <a:tc>
                  <a:txBody>
                    <a:bodyPr/>
                    <a:lstStyle/>
                    <a:p>
                      <a:pPr>
                        <a:defRPr sz="1800">
                          <a:solidFill>
                            <a:srgbClr val="000000"/>
                          </a:solidFill>
                        </a:defRPr>
                      </a:pPr>
                      <a:r>
                        <a:rPr sz="1500">
                          <a:solidFill>
                            <a:srgbClr val="1B1F2E"/>
                          </a:solidFill>
                        </a:rPr>
                        <a:t>$45,000</a:t>
                      </a:r>
                    </a:p>
                  </a:txBody>
                  <a:tcPr marL="0" marR="0" marT="0" marB="0" anchor="ctr" anchorCtr="0" horzOverflow="overflow">
                    <a:lnL w="12700">
                      <a:miter lim="400000"/>
                    </a:lnL>
                    <a:lnR w="12700">
                      <a:miter lim="400000"/>
                    </a:lnR>
                    <a:lnT>
                      <a:solidFill>
                        <a:srgbClr val="C9CCD8"/>
                      </a:solidFill>
                    </a:lnT>
                    <a:lnB>
                      <a:solidFill>
                        <a:srgbClr val="C9CCD8"/>
                      </a:solidFill>
                    </a:lnB>
                    <a:noFill/>
                  </a:tcPr>
                </a:tc>
                <a:tc>
                  <a:txBody>
                    <a:bodyPr/>
                    <a:lstStyle/>
                    <a:p>
                      <a:pPr>
                        <a:defRPr sz="1800">
                          <a:solidFill>
                            <a:srgbClr val="000000"/>
                          </a:solidFill>
                        </a:defRPr>
                      </a:pPr>
                      <a:r>
                        <a:rPr sz="1500">
                          <a:solidFill>
                            <a:srgbClr val="1B1F2E"/>
                          </a:solidFill>
                        </a:rPr>
                        <a:t>e.g. Harvard, Yale, Stanford. Many students get scholarships.</a:t>
                      </a:r>
                    </a:p>
                  </a:txBody>
                  <a:tcPr marL="0" marR="0" marT="0" marB="0" anchor="ctr" anchorCtr="0" horzOverflow="overflow">
                    <a:lnL w="12700">
                      <a:miter lim="400000"/>
                    </a:lnL>
                    <a:lnR w="12700">
                      <a:miter lim="400000"/>
                    </a:lnR>
                    <a:lnT>
                      <a:solidFill>
                        <a:srgbClr val="C9CCD8"/>
                      </a:solidFill>
                    </a:lnT>
                    <a:lnB>
                      <a:solidFill>
                        <a:srgbClr val="C9CCD8"/>
                      </a:solidFill>
                    </a:lnB>
                    <a:noFill/>
                  </a:tcPr>
                </a:tc>
              </a:tr>
            </a:tbl>
          </a:graphicData>
        </a:graphic>
      </p:graphicFrame>
      <p:sp>
        <p:nvSpPr>
          <p:cNvPr id="134" name="text-21"/>
          <p:cNvSpPr txBox="1"/>
          <p:nvPr/>
        </p:nvSpPr>
        <p:spPr>
          <a:xfrm>
            <a:off x="457200" y="4434840"/>
            <a:ext cx="75895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chemeClr val="accent4"/>
                </a:solidFill>
              </a:defRPr>
            </a:lvl1pPr>
          </a:lstStyle>
          <a:p>
            <a:pPr/>
            <a:r>
              <a:t>Average published tuition and fees, 2025–26. Source: College Board. Living costs (room, food, books) come on top.</a:t>
            </a:r>
          </a:p>
        </p:txBody>
      </p:sp>
      <p:sp>
        <p:nvSpPr>
          <p:cNvPr id="135" name="Slide Number Placeholder 0"/>
          <p:cNvSpPr txBox="1"/>
          <p:nvPr>
            <p:ph type="sldNum" sz="quarter" idx="4294967295"/>
          </p:nvPr>
        </p:nvSpPr>
        <p:spPr>
          <a:xfrm>
            <a:off x="8229600" y="4709159"/>
            <a:ext cx="220003" cy="20591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9" name="Text 0"/>
          <p:cNvSpPr txBox="1"/>
          <p:nvPr>
            <p:ph type="title"/>
          </p:nvPr>
        </p:nvSpPr>
        <p:spPr>
          <a:prstGeom prst="rect">
            <a:avLst/>
          </a:prstGeom>
        </p:spPr>
        <p:txBody>
          <a:bodyPr lIns="0" tIns="0" rIns="0" bIns="0" anchor="ctr"/>
          <a:lstStyle/>
          <a:p>
            <a:pPr/>
            <a:r>
              <a:t>Getting in and paying for it</a:t>
            </a:r>
          </a:p>
        </p:txBody>
      </p:sp>
      <p:sp>
        <p:nvSpPr>
          <p:cNvPr id="140" name="text-22"/>
          <p:cNvSpPr txBox="1"/>
          <p:nvPr/>
        </p:nvSpPr>
        <p:spPr>
          <a:xfrm>
            <a:off x="457200" y="1142999"/>
            <a:ext cx="3840480" cy="21905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chemeClr val="accent2"/>
                </a:solidFill>
              </a:defRPr>
            </a:lvl1pPr>
          </a:lstStyle>
          <a:p>
            <a:pPr/>
            <a:r>
              <a:t>How do you get in?</a:t>
            </a:r>
          </a:p>
        </p:txBody>
      </p:sp>
      <p:sp>
        <p:nvSpPr>
          <p:cNvPr id="141" name="text-23"/>
          <p:cNvSpPr txBox="1"/>
          <p:nvPr/>
        </p:nvSpPr>
        <p:spPr>
          <a:xfrm>
            <a:off x="457200" y="1600200"/>
            <a:ext cx="3840480" cy="15073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03200" indent="-203200">
              <a:spcBef>
                <a:spcPts val="800"/>
              </a:spcBef>
              <a:buSzPct val="100000"/>
              <a:buChar char="•"/>
              <a:defRPr sz="1500"/>
            </a:pPr>
            <a:r>
              <a:t>Good grades (GPA)</a:t>
            </a:r>
          </a:p>
          <a:p>
            <a:pPr marL="203200" indent="-203200">
              <a:spcBef>
                <a:spcPts val="800"/>
              </a:spcBef>
              <a:buSzPct val="100000"/>
              <a:buChar char="•"/>
              <a:defRPr sz="1500"/>
            </a:pPr>
            <a:r>
              <a:t>A test: the SAT or ACT</a:t>
            </a:r>
          </a:p>
          <a:p>
            <a:pPr marL="203200" indent="-203200">
              <a:spcBef>
                <a:spcPts val="800"/>
              </a:spcBef>
              <a:buSzPct val="100000"/>
              <a:buChar char="•"/>
              <a:defRPr sz="1500"/>
            </a:pPr>
            <a:r>
              <a:t>A personal essay</a:t>
            </a:r>
          </a:p>
          <a:p>
            <a:pPr marL="203200" indent="-203200">
              <a:spcBef>
                <a:spcPts val="800"/>
              </a:spcBef>
              <a:buSzPct val="100000"/>
              <a:buChar char="•"/>
              <a:defRPr sz="1500"/>
            </a:pPr>
            <a:r>
              <a:t>Activities: sports, clubs, volunteering</a:t>
            </a:r>
          </a:p>
          <a:p>
            <a:pPr marL="203200" indent="-203200">
              <a:spcBef>
                <a:spcPts val="800"/>
              </a:spcBef>
              <a:buSzPct val="100000"/>
              <a:buChar char="•"/>
              <a:defRPr sz="1500"/>
            </a:pPr>
            <a:r>
              <a:t>Letters of recommendation</a:t>
            </a:r>
          </a:p>
        </p:txBody>
      </p:sp>
      <p:sp>
        <p:nvSpPr>
          <p:cNvPr id="142" name="text-24"/>
          <p:cNvSpPr txBox="1"/>
          <p:nvPr/>
        </p:nvSpPr>
        <p:spPr>
          <a:xfrm>
            <a:off x="4754879" y="1142999"/>
            <a:ext cx="3931921" cy="21905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chemeClr val="accent2"/>
                </a:solidFill>
              </a:defRPr>
            </a:lvl1pPr>
          </a:lstStyle>
          <a:p>
            <a:pPr/>
            <a:r>
              <a:t>Paying for it</a:t>
            </a:r>
          </a:p>
        </p:txBody>
      </p:sp>
      <p:sp>
        <p:nvSpPr>
          <p:cNvPr id="143" name="text-25"/>
          <p:cNvSpPr txBox="1"/>
          <p:nvPr/>
        </p:nvSpPr>
        <p:spPr>
          <a:xfrm>
            <a:off x="4754879" y="1600200"/>
            <a:ext cx="3931921" cy="15327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03200" indent="-203200">
              <a:spcBef>
                <a:spcPts val="800"/>
              </a:spcBef>
              <a:buSzPct val="100000"/>
              <a:buChar char="•"/>
              <a:defRPr sz="1500"/>
            </a:pPr>
            <a:r>
              <a:t>Americans owe about $1.87 trillion in student loans (2026).</a:t>
            </a:r>
          </a:p>
          <a:p>
            <a:pPr marL="203200" indent="-203200">
              <a:spcBef>
                <a:spcPts val="800"/>
              </a:spcBef>
              <a:buSzPct val="100000"/>
              <a:buChar char="•"/>
              <a:defRPr sz="1500"/>
            </a:pPr>
            <a:r>
              <a:t>About 42.6 million people have federal student loans.</a:t>
            </a:r>
          </a:p>
          <a:p>
            <a:pPr marL="203200" indent="-203200">
              <a:spcBef>
                <a:spcPts val="800"/>
              </a:spcBef>
              <a:buSzPct val="100000"/>
              <a:buChar char="•"/>
              <a:defRPr sz="1500"/>
            </a:pPr>
            <a:r>
              <a:t>In Austria, public universities are mostly free for EU students. You only pay a small ÖH fee.</a:t>
            </a:r>
          </a:p>
        </p:txBody>
      </p:sp>
      <p:sp>
        <p:nvSpPr>
          <p:cNvPr id="144" name="text-26"/>
          <p:cNvSpPr txBox="1"/>
          <p:nvPr/>
        </p:nvSpPr>
        <p:spPr>
          <a:xfrm>
            <a:off x="457200" y="4434840"/>
            <a:ext cx="75895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chemeClr val="accent4"/>
                </a:solidFill>
              </a:defRPr>
            </a:lvl1pPr>
          </a:lstStyle>
          <a:p>
            <a:pPr/>
            <a:r>
              <a:t>Sources: Federal Reserve and Federal Student Aid, Q1 2026.</a:t>
            </a:r>
          </a:p>
        </p:txBody>
      </p:sp>
      <p:sp>
        <p:nvSpPr>
          <p:cNvPr id="145" name="Slide Number Placeholder 0"/>
          <p:cNvSpPr txBox="1"/>
          <p:nvPr>
            <p:ph type="sldNum" sz="quarter" idx="4294967295"/>
          </p:nvPr>
        </p:nvSpPr>
        <p:spPr>
          <a:xfrm>
            <a:off x="8229600" y="4709159"/>
            <a:ext cx="220003" cy="20591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9" name="Text 0"/>
          <p:cNvSpPr txBox="1"/>
          <p:nvPr>
            <p:ph type="title"/>
          </p:nvPr>
        </p:nvSpPr>
        <p:spPr>
          <a:prstGeom prst="rect">
            <a:avLst/>
          </a:prstGeom>
        </p:spPr>
        <p:txBody>
          <a:bodyPr lIns="0" tIns="0" rIns="0" bIns="0" anchor="ctr"/>
          <a:lstStyle/>
          <a:p>
            <a:pPr/>
            <a:r>
              <a:t>Should background matter?</a:t>
            </a:r>
          </a:p>
        </p:txBody>
      </p:sp>
      <p:sp>
        <p:nvSpPr>
          <p:cNvPr id="150" name="text-27"/>
          <p:cNvSpPr txBox="1"/>
          <p:nvPr/>
        </p:nvSpPr>
        <p:spPr>
          <a:xfrm>
            <a:off x="457200" y="1097280"/>
            <a:ext cx="8229600" cy="4151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lvl1pPr>
          </a:lstStyle>
          <a:p>
            <a:pPr/>
            <a:r>
              <a:t>For decades, many universities considered race when choosing students, to make campuses more diverse ("affirmative action"). In 2023, the US Supreme Court decided this is no longer allowed.</a:t>
            </a:r>
          </a:p>
        </p:txBody>
      </p:sp>
      <p:sp>
        <p:nvSpPr>
          <p:cNvPr id="151" name="text-28"/>
          <p:cNvSpPr txBox="1"/>
          <p:nvPr/>
        </p:nvSpPr>
        <p:spPr>
          <a:xfrm>
            <a:off x="457199" y="2057399"/>
            <a:ext cx="3931922"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chemeClr val="accent2"/>
                </a:solidFill>
              </a:defRPr>
            </a:lvl1pPr>
          </a:lstStyle>
          <a:p>
            <a:pPr/>
            <a:r>
              <a:t>Supporters of the decision say…</a:t>
            </a:r>
          </a:p>
        </p:txBody>
      </p:sp>
      <p:sp>
        <p:nvSpPr>
          <p:cNvPr id="152" name="text-29"/>
          <p:cNvSpPr txBox="1"/>
          <p:nvPr/>
        </p:nvSpPr>
        <p:spPr>
          <a:xfrm>
            <a:off x="457199" y="2468879"/>
            <a:ext cx="3931922" cy="6437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lvl1pPr>
          </a:lstStyle>
          <a:p>
            <a:pPr/>
            <a:r>
              <a:t>Every student should be judged as an individual, not by skin colour. Choosing by race is unfair to others.</a:t>
            </a:r>
          </a:p>
        </p:txBody>
      </p:sp>
      <p:sp>
        <p:nvSpPr>
          <p:cNvPr id="153" name="text-30"/>
          <p:cNvSpPr txBox="1"/>
          <p:nvPr/>
        </p:nvSpPr>
        <p:spPr>
          <a:xfrm>
            <a:off x="4754879" y="2057399"/>
            <a:ext cx="3931921"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chemeClr val="accent2"/>
                </a:solidFill>
              </a:defRPr>
            </a:lvl1pPr>
          </a:lstStyle>
          <a:p>
            <a:pPr/>
            <a:r>
              <a:t>Critics of the decision say…</a:t>
            </a:r>
          </a:p>
        </p:txBody>
      </p:sp>
      <p:sp>
        <p:nvSpPr>
          <p:cNvPr id="154" name="text-31"/>
          <p:cNvSpPr txBox="1"/>
          <p:nvPr/>
        </p:nvSpPr>
        <p:spPr>
          <a:xfrm>
            <a:off x="4754879" y="2468879"/>
            <a:ext cx="3931921" cy="6437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lvl1pPr>
          </a:lstStyle>
          <a:p>
            <a:pPr/>
            <a:r>
              <a:t>Some groups still have fewer chances (poorer schools, less money). Without it, campuses become less diverse.</a:t>
            </a:r>
          </a:p>
        </p:txBody>
      </p:sp>
      <p:sp>
        <p:nvSpPr>
          <p:cNvPr id="155" name="text-32"/>
          <p:cNvSpPr txBox="1"/>
          <p:nvPr/>
        </p:nvSpPr>
        <p:spPr>
          <a:xfrm>
            <a:off x="457200" y="3840479"/>
            <a:ext cx="8229600" cy="4151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i="1" sz="1500"/>
            </a:pPr>
          </a:p>
        </p:txBody>
      </p:sp>
      <p:sp>
        <p:nvSpPr>
          <p:cNvPr id="156" name="Slide Number Placeholder 0"/>
          <p:cNvSpPr txBox="1"/>
          <p:nvPr>
            <p:ph type="sldNum" sz="quarter" idx="4294967295"/>
          </p:nvPr>
        </p:nvSpPr>
        <p:spPr>
          <a:xfrm>
            <a:off x="8229600" y="4709159"/>
            <a:ext cx="220003" cy="20591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0" name="Text 0"/>
          <p:cNvSpPr txBox="1"/>
          <p:nvPr>
            <p:ph type="title"/>
          </p:nvPr>
        </p:nvSpPr>
        <p:spPr>
          <a:xfrm>
            <a:off x="548640" y="1737360"/>
            <a:ext cx="8046719" cy="914401"/>
          </a:xfrm>
          <a:prstGeom prst="rect">
            <a:avLst/>
          </a:prstGeom>
        </p:spPr>
        <p:txBody>
          <a:bodyPr lIns="0" tIns="0" rIns="0" bIns="0" anchor="b"/>
          <a:lstStyle/>
          <a:p>
            <a:pPr/>
            <a:r>
              <a:t>Your turn</a:t>
            </a:r>
          </a:p>
        </p:txBody>
      </p:sp>
      <p:sp>
        <p:nvSpPr>
          <p:cNvPr id="161" name="Text 0"/>
          <p:cNvSpPr txBox="1"/>
          <p:nvPr>
            <p:ph type="body" sz="quarter" idx="1"/>
          </p:nvPr>
        </p:nvSpPr>
        <p:spPr>
          <a:xfrm>
            <a:off x="548640" y="2743200"/>
            <a:ext cx="8046719" cy="457200"/>
          </a:xfrm>
          <a:prstGeom prst="rect">
            <a:avLst/>
          </a:prstGeom>
        </p:spPr>
        <p:txBody>
          <a:bodyPr lIns="0" tIns="0" rIns="0" bIns="0"/>
          <a:lstStyle/>
          <a:p>
            <a:pPr/>
            <a:r>
              <a:t>Round 1: Team quiz  ·  Round 2: What do you think?</a:t>
            </a:r>
          </a:p>
        </p:txBody>
      </p:sp>
      <p:sp>
        <p:nvSpPr>
          <p:cNvPr id="162" name="Slide Number Placeholder 0"/>
          <p:cNvSpPr txBox="1"/>
          <p:nvPr>
            <p:ph type="sldNum" sz="quarter" idx="4294967295"/>
          </p:nvPr>
        </p:nvSpPr>
        <p:spPr>
          <a:xfrm>
            <a:off x="8229600" y="4709159"/>
            <a:ext cx="220003" cy="20591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6" name="Text 0"/>
          <p:cNvSpPr txBox="1"/>
          <p:nvPr>
            <p:ph type="title"/>
          </p:nvPr>
        </p:nvSpPr>
        <p:spPr>
          <a:prstGeom prst="rect">
            <a:avLst/>
          </a:prstGeom>
        </p:spPr>
        <p:txBody>
          <a:bodyPr lIns="0" tIns="0" rIns="0" bIns="0" anchor="ctr"/>
          <a:lstStyle/>
          <a:p>
            <a:pPr/>
            <a:r>
              <a:t>Team quiz: questions 1–4</a:t>
            </a:r>
          </a:p>
        </p:txBody>
      </p:sp>
      <p:sp>
        <p:nvSpPr>
          <p:cNvPr id="167" name="text-33"/>
          <p:cNvSpPr txBox="1"/>
          <p:nvPr/>
        </p:nvSpPr>
        <p:spPr>
          <a:xfrm>
            <a:off x="457199" y="1143000"/>
            <a:ext cx="3977642" cy="14819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600"/>
              </a:spcBef>
              <a:defRPr b="1" sz="1500"/>
            </a:pPr>
            <a:r>
              <a:t>1. What did Brown v. Board of Education (1954) decide?</a:t>
            </a:r>
          </a:p>
          <a:p>
            <a:pPr>
              <a:spcBef>
                <a:spcPts val="300"/>
              </a:spcBef>
              <a:defRPr sz="1500"/>
            </a:pPr>
            <a:r>
              <a:t>A)  Women are allowed to vote.</a:t>
            </a:r>
          </a:p>
          <a:p>
            <a:pPr>
              <a:spcBef>
                <a:spcPts val="300"/>
              </a:spcBef>
              <a:defRPr sz="1500"/>
            </a:pPr>
            <a:r>
              <a:t>B)  Separate schools for Black and white children are unconstitutional.</a:t>
            </a:r>
          </a:p>
          <a:p>
            <a:pPr>
              <a:spcBef>
                <a:spcPts val="300"/>
              </a:spcBef>
              <a:defRPr sz="1500"/>
            </a:pPr>
            <a:r>
              <a:t>C)  English is the official language.</a:t>
            </a:r>
          </a:p>
        </p:txBody>
      </p:sp>
      <p:sp>
        <p:nvSpPr>
          <p:cNvPr id="168" name="text-34"/>
          <p:cNvSpPr txBox="1"/>
          <p:nvPr/>
        </p:nvSpPr>
        <p:spPr>
          <a:xfrm>
            <a:off x="4709159" y="1143000"/>
            <a:ext cx="3977641" cy="10247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600"/>
              </a:spcBef>
              <a:defRPr b="1" sz="1500"/>
            </a:pPr>
            <a:r>
              <a:t>2. Which group makes up about 1 in 5 Americans?</a:t>
            </a:r>
          </a:p>
          <a:p>
            <a:pPr>
              <a:spcBef>
                <a:spcPts val="300"/>
              </a:spcBef>
              <a:defRPr sz="1500"/>
            </a:pPr>
            <a:r>
              <a:t>A)  Asian Americans</a:t>
            </a:r>
          </a:p>
          <a:p>
            <a:pPr>
              <a:spcBef>
                <a:spcPts val="300"/>
              </a:spcBef>
              <a:defRPr sz="1500"/>
            </a:pPr>
            <a:r>
              <a:t>B)  Native Americans</a:t>
            </a:r>
          </a:p>
          <a:p>
            <a:pPr>
              <a:spcBef>
                <a:spcPts val="300"/>
              </a:spcBef>
              <a:defRPr sz="1500"/>
            </a:pPr>
            <a:r>
              <a:t>C)  Hispanic or Latino Americans</a:t>
            </a:r>
          </a:p>
        </p:txBody>
      </p:sp>
      <p:sp>
        <p:nvSpPr>
          <p:cNvPr id="169" name="text-35"/>
          <p:cNvSpPr txBox="1"/>
          <p:nvPr/>
        </p:nvSpPr>
        <p:spPr>
          <a:xfrm>
            <a:off x="457199" y="2926079"/>
            <a:ext cx="3977642" cy="10247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600"/>
              </a:spcBef>
              <a:defRPr b="1" sz="1500"/>
            </a:pPr>
            <a:r>
              <a:t>3. A student in 11th grade is a…</a:t>
            </a:r>
          </a:p>
          <a:p>
            <a:pPr>
              <a:spcBef>
                <a:spcPts val="300"/>
              </a:spcBef>
              <a:defRPr sz="1500"/>
            </a:pPr>
            <a:r>
              <a:t>A)  junior</a:t>
            </a:r>
          </a:p>
          <a:p>
            <a:pPr>
              <a:spcBef>
                <a:spcPts val="300"/>
              </a:spcBef>
              <a:defRPr sz="1500"/>
            </a:pPr>
            <a:r>
              <a:t>B)  freshman</a:t>
            </a:r>
          </a:p>
          <a:p>
            <a:pPr>
              <a:spcBef>
                <a:spcPts val="300"/>
              </a:spcBef>
              <a:defRPr sz="1500"/>
            </a:pPr>
            <a:r>
              <a:t>C)  senior</a:t>
            </a:r>
          </a:p>
        </p:txBody>
      </p:sp>
      <p:sp>
        <p:nvSpPr>
          <p:cNvPr id="170" name="text-36"/>
          <p:cNvSpPr txBox="1"/>
          <p:nvPr/>
        </p:nvSpPr>
        <p:spPr>
          <a:xfrm>
            <a:off x="4709159" y="2926079"/>
            <a:ext cx="3977641" cy="10247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600"/>
              </a:spcBef>
              <a:defRPr b="1" sz="1500"/>
            </a:pPr>
            <a:r>
              <a:t>4. What is a community college?</a:t>
            </a:r>
          </a:p>
          <a:p>
            <a:pPr>
              <a:spcBef>
                <a:spcPts val="300"/>
              </a:spcBef>
              <a:defRPr sz="1500"/>
            </a:pPr>
            <a:r>
              <a:t>A)  A school club for helping the town</a:t>
            </a:r>
          </a:p>
          <a:p>
            <a:pPr>
              <a:spcBef>
                <a:spcPts val="300"/>
              </a:spcBef>
              <a:defRPr sz="1500"/>
            </a:pPr>
            <a:r>
              <a:t>B)  An elite private university</a:t>
            </a:r>
          </a:p>
          <a:p>
            <a:pPr>
              <a:spcBef>
                <a:spcPts val="300"/>
              </a:spcBef>
              <a:defRPr sz="1500"/>
            </a:pPr>
            <a:r>
              <a:t>C)  A cheaper 2-year college close to home</a:t>
            </a:r>
          </a:p>
        </p:txBody>
      </p:sp>
      <p:sp>
        <p:nvSpPr>
          <p:cNvPr id="171" name="Slide Number Placeholder 0"/>
          <p:cNvSpPr txBox="1"/>
          <p:nvPr>
            <p:ph type="sldNum" sz="quarter" idx="4294967295"/>
          </p:nvPr>
        </p:nvSpPr>
        <p:spPr>
          <a:xfrm>
            <a:off x="8229600" y="4709159"/>
            <a:ext cx="220003" cy="20591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 name="Text 0"/>
          <p:cNvSpPr txBox="1"/>
          <p:nvPr>
            <p:ph type="title"/>
          </p:nvPr>
        </p:nvSpPr>
        <p:spPr>
          <a:prstGeom prst="rect">
            <a:avLst/>
          </a:prstGeom>
        </p:spPr>
        <p:txBody>
          <a:bodyPr lIns="0" tIns="0" rIns="0" bIns="0" anchor="ctr"/>
          <a:lstStyle/>
          <a:p>
            <a:pPr/>
            <a:r>
              <a:t>Team quiz: questions 5–8</a:t>
            </a:r>
          </a:p>
        </p:txBody>
      </p:sp>
      <p:sp>
        <p:nvSpPr>
          <p:cNvPr id="176" name="text-37"/>
          <p:cNvSpPr txBox="1"/>
          <p:nvPr/>
        </p:nvSpPr>
        <p:spPr>
          <a:xfrm>
            <a:off x="457199" y="1143000"/>
            <a:ext cx="3977642" cy="12533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600"/>
              </a:spcBef>
              <a:defRPr b="1" sz="1500"/>
            </a:pPr>
            <a:r>
              <a:t>5. Which law from 1964 bans discrimination because of race, religion or sex?</a:t>
            </a:r>
          </a:p>
          <a:p>
            <a:pPr>
              <a:spcBef>
                <a:spcPts val="300"/>
              </a:spcBef>
              <a:defRPr sz="1500"/>
            </a:pPr>
            <a:r>
              <a:t>A)  The Bill of Rights</a:t>
            </a:r>
          </a:p>
          <a:p>
            <a:pPr>
              <a:spcBef>
                <a:spcPts val="300"/>
              </a:spcBef>
              <a:defRPr sz="1500"/>
            </a:pPr>
            <a:r>
              <a:t>B)  The Civil Rights Act</a:t>
            </a:r>
          </a:p>
          <a:p>
            <a:pPr>
              <a:spcBef>
                <a:spcPts val="300"/>
              </a:spcBef>
              <a:defRPr sz="1500"/>
            </a:pPr>
            <a:r>
              <a:t>C)  The Fair School Act</a:t>
            </a:r>
          </a:p>
        </p:txBody>
      </p:sp>
      <p:sp>
        <p:nvSpPr>
          <p:cNvPr id="177" name="text-38"/>
          <p:cNvSpPr txBox="1"/>
          <p:nvPr/>
        </p:nvSpPr>
        <p:spPr>
          <a:xfrm>
            <a:off x="4709159" y="1143000"/>
            <a:ext cx="3977641" cy="12533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600"/>
              </a:spcBef>
              <a:defRPr b="1" sz="1500"/>
            </a:pPr>
            <a:r>
              <a:t>6. About how much does one year at a private university cost (tuition only)?</a:t>
            </a:r>
          </a:p>
          <a:p>
            <a:pPr>
              <a:spcBef>
                <a:spcPts val="300"/>
              </a:spcBef>
              <a:defRPr sz="1500"/>
            </a:pPr>
            <a:r>
              <a:t>A)  $4,000</a:t>
            </a:r>
          </a:p>
          <a:p>
            <a:pPr>
              <a:spcBef>
                <a:spcPts val="300"/>
              </a:spcBef>
              <a:defRPr sz="1500"/>
            </a:pPr>
            <a:r>
              <a:t>B)  $12,000</a:t>
            </a:r>
          </a:p>
          <a:p>
            <a:pPr>
              <a:spcBef>
                <a:spcPts val="300"/>
              </a:spcBef>
              <a:defRPr sz="1500"/>
            </a:pPr>
            <a:r>
              <a:t>C)  $45,000</a:t>
            </a:r>
          </a:p>
        </p:txBody>
      </p:sp>
      <p:sp>
        <p:nvSpPr>
          <p:cNvPr id="178" name="text-39"/>
          <p:cNvSpPr txBox="1"/>
          <p:nvPr/>
        </p:nvSpPr>
        <p:spPr>
          <a:xfrm>
            <a:off x="457199" y="2926079"/>
            <a:ext cx="3977642" cy="14819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600"/>
              </a:spcBef>
              <a:defRPr b="1" sz="1500"/>
            </a:pPr>
            <a:r>
              <a:t>7. Why do schools in rich areas often have more money?</a:t>
            </a:r>
          </a:p>
          <a:p>
            <a:pPr>
              <a:spcBef>
                <a:spcPts val="300"/>
              </a:spcBef>
              <a:defRPr sz="1500"/>
            </a:pPr>
            <a:r>
              <a:t>A)  Part of the money comes from local property taxes.</a:t>
            </a:r>
          </a:p>
          <a:p>
            <a:pPr>
              <a:spcBef>
                <a:spcPts val="300"/>
              </a:spcBef>
              <a:defRPr sz="1500"/>
            </a:pPr>
            <a:r>
              <a:t>B)  Rich students pay school fees.</a:t>
            </a:r>
          </a:p>
          <a:p>
            <a:pPr>
              <a:spcBef>
                <a:spcPts val="300"/>
              </a:spcBef>
              <a:defRPr sz="1500"/>
            </a:pPr>
            <a:r>
              <a:t>C)  The President chooses the best schools.</a:t>
            </a:r>
          </a:p>
        </p:txBody>
      </p:sp>
      <p:sp>
        <p:nvSpPr>
          <p:cNvPr id="179" name="text-40"/>
          <p:cNvSpPr txBox="1"/>
          <p:nvPr/>
        </p:nvSpPr>
        <p:spPr>
          <a:xfrm>
            <a:off x="4709159" y="2926079"/>
            <a:ext cx="3977641" cy="10247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600"/>
              </a:spcBef>
              <a:defRPr b="1" sz="1500"/>
            </a:pPr>
            <a:r>
              <a:t>8. A stereotype is…</a:t>
            </a:r>
          </a:p>
          <a:p>
            <a:pPr>
              <a:spcBef>
                <a:spcPts val="300"/>
              </a:spcBef>
              <a:defRPr sz="1500"/>
            </a:pPr>
            <a:r>
              <a:t>A)  a law against discrimination</a:t>
            </a:r>
          </a:p>
          <a:p>
            <a:pPr>
              <a:spcBef>
                <a:spcPts val="300"/>
              </a:spcBef>
              <a:defRPr sz="1500"/>
            </a:pPr>
            <a:r>
              <a:t>B)  a fixed, simple idea about a whole group</a:t>
            </a:r>
          </a:p>
          <a:p>
            <a:pPr>
              <a:spcBef>
                <a:spcPts val="300"/>
              </a:spcBef>
              <a:defRPr sz="1500"/>
            </a:pPr>
            <a:r>
              <a:t>C)  a type of American music</a:t>
            </a:r>
          </a:p>
        </p:txBody>
      </p:sp>
      <p:sp>
        <p:nvSpPr>
          <p:cNvPr id="180" name="Slide Number Placeholder 0"/>
          <p:cNvSpPr txBox="1"/>
          <p:nvPr>
            <p:ph type="sldNum" sz="quarter" idx="4294967295"/>
          </p:nvPr>
        </p:nvSpPr>
        <p:spPr>
          <a:xfrm>
            <a:off x="8229600" y="4709159"/>
            <a:ext cx="220003" cy="20591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4" name="Text 0"/>
          <p:cNvSpPr txBox="1"/>
          <p:nvPr>
            <p:ph type="title"/>
          </p:nvPr>
        </p:nvSpPr>
        <p:spPr>
          <a:prstGeom prst="rect">
            <a:avLst/>
          </a:prstGeom>
        </p:spPr>
        <p:txBody>
          <a:bodyPr lIns="0" tIns="0" rIns="0" bIns="0" anchor="ctr"/>
          <a:lstStyle/>
          <a:p>
            <a:pPr/>
            <a:r>
              <a:t>Quiz answers</a:t>
            </a:r>
          </a:p>
        </p:txBody>
      </p:sp>
      <p:sp>
        <p:nvSpPr>
          <p:cNvPr id="185" name="text-41"/>
          <p:cNvSpPr txBox="1"/>
          <p:nvPr/>
        </p:nvSpPr>
        <p:spPr>
          <a:xfrm>
            <a:off x="457199" y="1188719"/>
            <a:ext cx="4023361" cy="17867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1200"/>
              </a:spcBef>
              <a:defRPr sz="1500"/>
            </a:pPr>
            <a:r>
              <a:t>1. B: Brown v. Board (1954) made separate schools illegal.</a:t>
            </a:r>
          </a:p>
          <a:p>
            <a:pPr>
              <a:spcBef>
                <a:spcPts val="1200"/>
              </a:spcBef>
              <a:defRPr sz="1500"/>
            </a:pPr>
            <a:r>
              <a:t>2. C: about 20% of Americans are Hispanic or Latino.</a:t>
            </a:r>
          </a:p>
          <a:p>
            <a:pPr>
              <a:spcBef>
                <a:spcPts val="1200"/>
              </a:spcBef>
              <a:defRPr sz="1500"/>
            </a:pPr>
            <a:r>
              <a:t>3. A: 11th grade = junior.</a:t>
            </a:r>
          </a:p>
          <a:p>
            <a:pPr>
              <a:spcBef>
                <a:spcPts val="1200"/>
              </a:spcBef>
              <a:defRPr sz="1500"/>
            </a:pPr>
            <a:r>
              <a:t>4. C: 2 years, about $4,150 a year.</a:t>
            </a:r>
          </a:p>
        </p:txBody>
      </p:sp>
      <p:sp>
        <p:nvSpPr>
          <p:cNvPr id="186" name="text-42"/>
          <p:cNvSpPr txBox="1"/>
          <p:nvPr/>
        </p:nvSpPr>
        <p:spPr>
          <a:xfrm>
            <a:off x="4663440" y="1188719"/>
            <a:ext cx="4023360" cy="13295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1200"/>
              </a:spcBef>
              <a:defRPr sz="1500"/>
            </a:pPr>
            <a:r>
              <a:t>5. B: the Civil Rights Act (1964).</a:t>
            </a:r>
          </a:p>
          <a:p>
            <a:pPr>
              <a:spcBef>
                <a:spcPts val="1200"/>
              </a:spcBef>
              <a:defRPr sz="1500"/>
            </a:pPr>
            <a:r>
              <a:t>6. C: about $45,000 a year.</a:t>
            </a:r>
          </a:p>
          <a:p>
            <a:pPr>
              <a:spcBef>
                <a:spcPts val="1200"/>
              </a:spcBef>
              <a:defRPr sz="1500"/>
            </a:pPr>
            <a:r>
              <a:t>7. A: local property taxes, so rich town = rich school.</a:t>
            </a:r>
          </a:p>
          <a:p>
            <a:pPr>
              <a:spcBef>
                <a:spcPts val="1200"/>
              </a:spcBef>
              <a:defRPr sz="1500"/>
            </a:pPr>
            <a:r>
              <a:t>8. B: e.g. "All Austrians ski."</a:t>
            </a:r>
          </a:p>
        </p:txBody>
      </p:sp>
      <p:sp>
        <p:nvSpPr>
          <p:cNvPr id="187" name="text-43"/>
          <p:cNvSpPr txBox="1"/>
          <p:nvPr/>
        </p:nvSpPr>
        <p:spPr>
          <a:xfrm>
            <a:off x="457200" y="3383279"/>
            <a:ext cx="8229600"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lvl1pPr>
          </a:lstStyle>
          <a:p>
            <a:pPr/>
            <a:r>
              <a:t>Which team has the most points?</a:t>
            </a:r>
          </a:p>
        </p:txBody>
      </p:sp>
      <p:sp>
        <p:nvSpPr>
          <p:cNvPr id="188" name="Slide Number Placeholder 0"/>
          <p:cNvSpPr txBox="1"/>
          <p:nvPr>
            <p:ph type="sldNum" sz="quarter" idx="4294967295"/>
          </p:nvPr>
        </p:nvSpPr>
        <p:spPr>
          <a:xfrm>
            <a:off x="8229600" y="4709159"/>
            <a:ext cx="220003" cy="20591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2" name="Text 0"/>
          <p:cNvSpPr txBox="1"/>
          <p:nvPr>
            <p:ph type="title"/>
          </p:nvPr>
        </p:nvSpPr>
        <p:spPr>
          <a:prstGeom prst="rect">
            <a:avLst/>
          </a:prstGeom>
        </p:spPr>
        <p:txBody>
          <a:bodyPr lIns="0" tIns="0" rIns="0" bIns="0" anchor="ctr"/>
          <a:lstStyle/>
          <a:p>
            <a:pPr/>
            <a:r>
              <a:t>Round 2: What do you think?</a:t>
            </a:r>
          </a:p>
        </p:txBody>
      </p:sp>
      <p:sp>
        <p:nvSpPr>
          <p:cNvPr id="193" name="text-44"/>
          <p:cNvSpPr txBox="1"/>
          <p:nvPr/>
        </p:nvSpPr>
        <p:spPr>
          <a:xfrm>
            <a:off x="457200" y="1097280"/>
            <a:ext cx="8229600"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i="1" sz="1500"/>
            </a:lvl1pPr>
          </a:lstStyle>
          <a:p>
            <a:pPr/>
            <a:r>
              <a:t>Each team gets one statement. Agree or disagree? Find 3 reasons. Then present your opinion in 1 minute.</a:t>
            </a:r>
          </a:p>
        </p:txBody>
      </p:sp>
      <p:sp>
        <p:nvSpPr>
          <p:cNvPr id="194" name="text-45"/>
          <p:cNvSpPr txBox="1"/>
          <p:nvPr/>
        </p:nvSpPr>
        <p:spPr>
          <a:xfrm>
            <a:off x="457200" y="1737360"/>
            <a:ext cx="8229600" cy="17105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28600" indent="-228600">
              <a:spcBef>
                <a:spcPts val="600"/>
              </a:spcBef>
              <a:buSzPct val="100000"/>
              <a:buAutoNum type="arabicPeriod" startAt="1"/>
              <a:defRPr sz="1500"/>
            </a:pPr>
            <a:r>
              <a:t>University should be free for everyone, like in Austria.</a:t>
            </a:r>
          </a:p>
          <a:p>
            <a:pPr marL="228600" indent="-228600">
              <a:spcBef>
                <a:spcPts val="600"/>
              </a:spcBef>
              <a:buSzPct val="100000"/>
              <a:buAutoNum type="arabicPeriod" startAt="1"/>
              <a:defRPr sz="1500"/>
            </a:pPr>
            <a:r>
              <a:t>All schools should get the same money, no matter where they are.</a:t>
            </a:r>
          </a:p>
          <a:p>
            <a:pPr marL="228600" indent="-228600">
              <a:spcBef>
                <a:spcPts val="600"/>
              </a:spcBef>
              <a:buSzPct val="100000"/>
              <a:buAutoNum type="arabicPeriod" startAt="1"/>
              <a:defRPr sz="1500"/>
            </a:pPr>
            <a:r>
              <a:t>School sports and clubs are as important as good grades.</a:t>
            </a:r>
          </a:p>
          <a:p>
            <a:pPr marL="228600" indent="-228600">
              <a:spcBef>
                <a:spcPts val="600"/>
              </a:spcBef>
              <a:buSzPct val="100000"/>
              <a:buAutoNum type="arabicPeriod" startAt="1"/>
              <a:defRPr sz="1500"/>
            </a:pPr>
            <a:r>
              <a:t>Universities should consider students' backgrounds when they choose who gets in.</a:t>
            </a:r>
          </a:p>
          <a:p>
            <a:pPr marL="228600" indent="-228600">
              <a:spcBef>
                <a:spcPts val="600"/>
              </a:spcBef>
              <a:buSzPct val="100000"/>
              <a:buAutoNum type="arabicPeriod" startAt="1"/>
              <a:defRPr sz="1500"/>
            </a:pPr>
            <a:r>
              <a:t>Austrian schools should have a prom, school teams and a school bus, like in the US.</a:t>
            </a:r>
          </a:p>
          <a:p>
            <a:pPr marL="228600" indent="-228600">
              <a:spcBef>
                <a:spcPts val="600"/>
              </a:spcBef>
              <a:buSzPct val="100000"/>
              <a:buAutoNum type="arabicPeriod" startAt="1"/>
              <a:defRPr sz="1500"/>
            </a:pPr>
            <a:r>
              <a:t>Every student should spend a year at a school in another country.</a:t>
            </a:r>
          </a:p>
        </p:txBody>
      </p:sp>
      <p:sp>
        <p:nvSpPr>
          <p:cNvPr id="195" name="Slide Number Placeholder 0"/>
          <p:cNvSpPr txBox="1"/>
          <p:nvPr>
            <p:ph type="sldNum" sz="quarter" idx="4294967295"/>
          </p:nvPr>
        </p:nvSpPr>
        <p:spPr>
          <a:xfrm>
            <a:off x="8229600" y="4709159"/>
            <a:ext cx="220003" cy="20591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9" name="Text 0"/>
          <p:cNvSpPr txBox="1"/>
          <p:nvPr>
            <p:ph type="title"/>
          </p:nvPr>
        </p:nvSpPr>
        <p:spPr>
          <a:prstGeom prst="rect">
            <a:avLst/>
          </a:prstGeom>
        </p:spPr>
        <p:txBody>
          <a:bodyPr lIns="0" tIns="0" rIns="0" bIns="0" anchor="ctr"/>
          <a:lstStyle/>
          <a:p>
            <a:pPr/>
            <a:r>
              <a:t>Useful phrases</a:t>
            </a:r>
          </a:p>
        </p:txBody>
      </p:sp>
      <p:sp>
        <p:nvSpPr>
          <p:cNvPr id="200" name="text-46"/>
          <p:cNvSpPr txBox="1"/>
          <p:nvPr/>
        </p:nvSpPr>
        <p:spPr>
          <a:xfrm>
            <a:off x="457199" y="1142999"/>
            <a:ext cx="3977642" cy="2091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chemeClr val="accent2"/>
                </a:solidFill>
              </a:defRPr>
            </a:lvl1pPr>
          </a:lstStyle>
          <a:p>
            <a:pPr/>
            <a:r>
              <a:t>Giving your opinion</a:t>
            </a:r>
          </a:p>
        </p:txBody>
      </p:sp>
      <p:sp>
        <p:nvSpPr>
          <p:cNvPr id="201" name="text-47"/>
          <p:cNvSpPr txBox="1"/>
          <p:nvPr/>
        </p:nvSpPr>
        <p:spPr>
          <a:xfrm>
            <a:off x="457199" y="1554480"/>
            <a:ext cx="3977642" cy="7199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03200" indent="-203200">
              <a:spcBef>
                <a:spcPts val="300"/>
              </a:spcBef>
              <a:buSzPct val="100000"/>
              <a:buChar char="•"/>
              <a:defRPr sz="1500"/>
            </a:pPr>
            <a:r>
              <a:t>In my opinion, …</a:t>
            </a:r>
          </a:p>
          <a:p>
            <a:pPr marL="203200" indent="-203200">
              <a:spcBef>
                <a:spcPts val="300"/>
              </a:spcBef>
              <a:buSzPct val="100000"/>
              <a:buChar char="•"/>
              <a:defRPr sz="1500"/>
            </a:pPr>
            <a:r>
              <a:t>I think / I believe that …</a:t>
            </a:r>
          </a:p>
          <a:p>
            <a:pPr marL="203200" indent="-203200">
              <a:spcBef>
                <a:spcPts val="300"/>
              </a:spcBef>
              <a:buSzPct val="100000"/>
              <a:buChar char="•"/>
              <a:defRPr sz="1500"/>
            </a:pPr>
            <a:r>
              <a:t>From my point of view, …</a:t>
            </a:r>
          </a:p>
        </p:txBody>
      </p:sp>
      <p:sp>
        <p:nvSpPr>
          <p:cNvPr id="202" name="text-48"/>
          <p:cNvSpPr txBox="1"/>
          <p:nvPr/>
        </p:nvSpPr>
        <p:spPr>
          <a:xfrm>
            <a:off x="4709159" y="1142999"/>
            <a:ext cx="3977641" cy="2091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chemeClr val="accent2"/>
                </a:solidFill>
              </a:defRPr>
            </a:lvl1pPr>
          </a:lstStyle>
          <a:p>
            <a:pPr/>
            <a:r>
              <a:t>Agreeing and disagreeing</a:t>
            </a:r>
          </a:p>
        </p:txBody>
      </p:sp>
      <p:sp>
        <p:nvSpPr>
          <p:cNvPr id="203" name="text-49"/>
          <p:cNvSpPr txBox="1"/>
          <p:nvPr/>
        </p:nvSpPr>
        <p:spPr>
          <a:xfrm>
            <a:off x="4709159" y="1554480"/>
            <a:ext cx="3977641" cy="7199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03200" indent="-203200">
              <a:spcBef>
                <a:spcPts val="300"/>
              </a:spcBef>
              <a:buSzPct val="100000"/>
              <a:buChar char="•"/>
              <a:defRPr sz="1500"/>
            </a:pPr>
            <a:r>
              <a:t>I (totally) agree because …</a:t>
            </a:r>
          </a:p>
          <a:p>
            <a:pPr marL="203200" indent="-203200">
              <a:spcBef>
                <a:spcPts val="300"/>
              </a:spcBef>
              <a:buSzPct val="100000"/>
              <a:buChar char="•"/>
              <a:defRPr sz="1500"/>
            </a:pPr>
            <a:r>
              <a:t>I don't agree because …</a:t>
            </a:r>
          </a:p>
          <a:p>
            <a:pPr marL="203200" indent="-203200">
              <a:spcBef>
                <a:spcPts val="300"/>
              </a:spcBef>
              <a:buSzPct val="100000"/>
              <a:buChar char="•"/>
              <a:defRPr sz="1500"/>
            </a:pPr>
            <a:r>
              <a:t>That's true, but …</a:t>
            </a:r>
          </a:p>
        </p:txBody>
      </p:sp>
      <p:sp>
        <p:nvSpPr>
          <p:cNvPr id="204" name="text-50"/>
          <p:cNvSpPr txBox="1"/>
          <p:nvPr/>
        </p:nvSpPr>
        <p:spPr>
          <a:xfrm>
            <a:off x="457199" y="2880360"/>
            <a:ext cx="3977642"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chemeClr val="accent2"/>
                </a:solidFill>
              </a:defRPr>
            </a:lvl1pPr>
          </a:lstStyle>
          <a:p>
            <a:pPr/>
            <a:r>
              <a:t>Giving reasons</a:t>
            </a:r>
          </a:p>
        </p:txBody>
      </p:sp>
      <p:sp>
        <p:nvSpPr>
          <p:cNvPr id="205" name="text-51"/>
          <p:cNvSpPr txBox="1"/>
          <p:nvPr/>
        </p:nvSpPr>
        <p:spPr>
          <a:xfrm>
            <a:off x="457199" y="3291840"/>
            <a:ext cx="3977642" cy="7199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03200" indent="-203200">
              <a:spcBef>
                <a:spcPts val="300"/>
              </a:spcBef>
              <a:buSzPct val="100000"/>
              <a:buChar char="•"/>
              <a:defRPr sz="1500"/>
            </a:pPr>
            <a:r>
              <a:t>First, … Second, … Finally, …</a:t>
            </a:r>
          </a:p>
          <a:p>
            <a:pPr marL="203200" indent="-203200">
              <a:spcBef>
                <a:spcPts val="300"/>
              </a:spcBef>
              <a:buSzPct val="100000"/>
              <a:buChar char="•"/>
              <a:defRPr sz="1500"/>
            </a:pPr>
            <a:r>
              <a:t>One reason is that …</a:t>
            </a:r>
          </a:p>
          <a:p>
            <a:pPr marL="203200" indent="-203200">
              <a:spcBef>
                <a:spcPts val="300"/>
              </a:spcBef>
              <a:buSzPct val="100000"/>
              <a:buChar char="•"/>
              <a:defRPr sz="1500"/>
            </a:pPr>
            <a:r>
              <a:t>For example, …</a:t>
            </a:r>
          </a:p>
        </p:txBody>
      </p:sp>
      <p:sp>
        <p:nvSpPr>
          <p:cNvPr id="206" name="text-52"/>
          <p:cNvSpPr txBox="1"/>
          <p:nvPr/>
        </p:nvSpPr>
        <p:spPr>
          <a:xfrm>
            <a:off x="4709159" y="2880360"/>
            <a:ext cx="397764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chemeClr val="accent2"/>
                </a:solidFill>
              </a:defRPr>
            </a:lvl1pPr>
          </a:lstStyle>
          <a:p>
            <a:pPr/>
            <a:r>
              <a:t>Comparing the USA and Austria</a:t>
            </a:r>
          </a:p>
        </p:txBody>
      </p:sp>
      <p:sp>
        <p:nvSpPr>
          <p:cNvPr id="207" name="text-53"/>
          <p:cNvSpPr txBox="1"/>
          <p:nvPr/>
        </p:nvSpPr>
        <p:spPr>
          <a:xfrm>
            <a:off x="4709159" y="3291840"/>
            <a:ext cx="3977641" cy="7199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03200" indent="-203200">
              <a:spcBef>
                <a:spcPts val="300"/>
              </a:spcBef>
              <a:buSzPct val="100000"/>
              <a:buChar char="•"/>
              <a:defRPr sz="1500"/>
            </a:pPr>
            <a:r>
              <a:t>In the USA …, whereas in Austria …</a:t>
            </a:r>
          </a:p>
          <a:p>
            <a:pPr marL="203200" indent="-203200">
              <a:spcBef>
                <a:spcPts val="300"/>
              </a:spcBef>
              <a:buSzPct val="100000"/>
              <a:buChar char="•"/>
              <a:defRPr sz="1500"/>
            </a:pPr>
            <a:r>
              <a:t>Compared to Austria, …</a:t>
            </a:r>
          </a:p>
          <a:p>
            <a:pPr marL="203200" indent="-203200">
              <a:spcBef>
                <a:spcPts val="300"/>
              </a:spcBef>
              <a:buSzPct val="100000"/>
              <a:buChar char="•"/>
              <a:defRPr sz="1500"/>
            </a:pPr>
            <a:r>
              <a:t>Both countries …</a:t>
            </a:r>
          </a:p>
        </p:txBody>
      </p:sp>
      <p:sp>
        <p:nvSpPr>
          <p:cNvPr id="208" name="Slide Number Placeholder 0"/>
          <p:cNvSpPr txBox="1"/>
          <p:nvPr>
            <p:ph type="sldNum" sz="quarter" idx="4294967295"/>
          </p:nvPr>
        </p:nvSpPr>
        <p:spPr>
          <a:xfrm>
            <a:off x="8229600" y="4709159"/>
            <a:ext cx="220003" cy="20591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2" name="Text 0"/>
          <p:cNvSpPr txBox="1"/>
          <p:nvPr>
            <p:ph type="title"/>
          </p:nvPr>
        </p:nvSpPr>
        <p:spPr>
          <a:prstGeom prst="rect">
            <a:avLst/>
          </a:prstGeom>
        </p:spPr>
        <p:txBody>
          <a:bodyPr lIns="0" tIns="0" rIns="0" bIns="0" anchor="ctr"/>
          <a:lstStyle/>
          <a:p>
            <a:pPr/>
            <a:r>
              <a:t>Before you go</a:t>
            </a:r>
          </a:p>
        </p:txBody>
      </p:sp>
      <p:sp>
        <p:nvSpPr>
          <p:cNvPr id="213" name="text-54"/>
          <p:cNvSpPr txBox="1"/>
          <p:nvPr/>
        </p:nvSpPr>
        <p:spPr>
          <a:xfrm>
            <a:off x="457200" y="1188719"/>
            <a:ext cx="8229600" cy="21905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solidFill>
                  <a:schemeClr val="accent2"/>
                </a:solidFill>
              </a:defRPr>
            </a:lvl1pPr>
          </a:lstStyle>
          <a:p>
            <a:pPr/>
            <a:r>
              <a:t>Tell your neighbour:</a:t>
            </a:r>
          </a:p>
        </p:txBody>
      </p:sp>
      <p:sp>
        <p:nvSpPr>
          <p:cNvPr id="214" name="text-55"/>
          <p:cNvSpPr txBox="1"/>
          <p:nvPr/>
        </p:nvSpPr>
        <p:spPr>
          <a:xfrm>
            <a:off x="457200" y="1645920"/>
            <a:ext cx="8229600" cy="9556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03200" indent="-203200">
              <a:spcBef>
                <a:spcPts val="800"/>
              </a:spcBef>
              <a:buSzPct val="100000"/>
              <a:buChar char="•"/>
              <a:defRPr sz="1700"/>
            </a:pPr>
            <a:r>
              <a:t>one new thing you learned today</a:t>
            </a:r>
          </a:p>
          <a:p>
            <a:pPr marL="203200" indent="-203200">
              <a:spcBef>
                <a:spcPts val="800"/>
              </a:spcBef>
              <a:buSzPct val="100000"/>
              <a:buChar char="•"/>
              <a:defRPr sz="1700"/>
            </a:pPr>
            <a:r>
              <a:t>one thing that surprised you about the USA</a:t>
            </a:r>
          </a:p>
          <a:p>
            <a:pPr marL="203200" indent="-203200">
              <a:spcBef>
                <a:spcPts val="800"/>
              </a:spcBef>
              <a:buSzPct val="100000"/>
              <a:buChar char="•"/>
              <a:defRPr sz="1700"/>
            </a:pPr>
            <a:r>
              <a:t>one question you still have about American schools</a:t>
            </a:r>
          </a:p>
        </p:txBody>
      </p:sp>
      <p:sp>
        <p:nvSpPr>
          <p:cNvPr id="215" name="text-56"/>
          <p:cNvSpPr txBox="1"/>
          <p:nvPr/>
        </p:nvSpPr>
        <p:spPr>
          <a:xfrm>
            <a:off x="457200" y="3108960"/>
            <a:ext cx="8229600" cy="463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pPr>
            <a:r>
              <a:t>Homework (optional): </a:t>
            </a:r>
            <a:r>
              <a:rPr b="0"/>
              <a:t>Write 150–200 words: "Would you rather go to school in the USA or in Austria? Why?"</a:t>
            </a:r>
          </a:p>
        </p:txBody>
      </p:sp>
      <p:sp>
        <p:nvSpPr>
          <p:cNvPr id="216" name="Slide Number Placeholder 0"/>
          <p:cNvSpPr txBox="1"/>
          <p:nvPr>
            <p:ph type="sldNum" sz="quarter" idx="4294967295"/>
          </p:nvPr>
        </p:nvSpPr>
        <p:spPr>
          <a:xfrm>
            <a:off x="8229600" y="4709159"/>
            <a:ext cx="220003" cy="20591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USA Lesson Plain">
  <a:themeElements>
    <a:clrScheme name="USA Lesson Plain">
      <a:dk1>
        <a:srgbClr val="1B1F2E"/>
      </a:dk1>
      <a:lt1>
        <a:srgbClr val="FFFFFF"/>
      </a:lt1>
      <a:dk2>
        <a:srgbClr val="A7A7A7"/>
      </a:dk2>
      <a:lt2>
        <a:srgbClr val="535353"/>
      </a:lt2>
      <a:accent1>
        <a:srgbClr val="B3122E"/>
      </a:accent1>
      <a:accent2>
        <a:srgbClr val="1E2761"/>
      </a:accent2>
      <a:accent3>
        <a:srgbClr val="4F6FA8"/>
      </a:accent3>
      <a:accent4>
        <a:srgbClr val="6B7189"/>
      </a:accent4>
      <a:accent5>
        <a:srgbClr val="8A90A6"/>
      </a:accent5>
      <a:accent6>
        <a:srgbClr val="2E7D5B"/>
      </a:accent6>
      <a:hlink>
        <a:srgbClr val="0000FF"/>
      </a:hlink>
      <a:folHlink>
        <a:srgbClr val="FF00FF"/>
      </a:folHlink>
    </a:clrScheme>
    <a:fontScheme name="USA Lesson Plain">
      <a:majorFont>
        <a:latin typeface="Calibri"/>
        <a:ea typeface="Calibri"/>
        <a:cs typeface="Calibri"/>
      </a:majorFont>
      <a:minorFont>
        <a:latin typeface="Helvetica"/>
        <a:ea typeface="Helvetica"/>
        <a:cs typeface="Helvetica"/>
      </a:minorFont>
    </a:fontScheme>
    <a:fmtScheme name="USA Lesson Plai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B1F2E"/>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B1F2E"/>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USA Lesson Plain">
  <a:themeElements>
    <a:clrScheme name="USA Lesson Plain">
      <a:dk1>
        <a:srgbClr val="1B1F2E"/>
      </a:dk1>
      <a:lt1>
        <a:srgbClr val="2E2813"/>
      </a:lt1>
      <a:dk2>
        <a:srgbClr val="A7A7A7"/>
      </a:dk2>
      <a:lt2>
        <a:srgbClr val="535353"/>
      </a:lt2>
      <a:accent1>
        <a:srgbClr val="B3122E"/>
      </a:accent1>
      <a:accent2>
        <a:srgbClr val="1E2761"/>
      </a:accent2>
      <a:accent3>
        <a:srgbClr val="4F6FA8"/>
      </a:accent3>
      <a:accent4>
        <a:srgbClr val="6B7189"/>
      </a:accent4>
      <a:accent5>
        <a:srgbClr val="8A90A6"/>
      </a:accent5>
      <a:accent6>
        <a:srgbClr val="2E7D5B"/>
      </a:accent6>
      <a:hlink>
        <a:srgbClr val="0000FF"/>
      </a:hlink>
      <a:folHlink>
        <a:srgbClr val="FF00FF"/>
      </a:folHlink>
    </a:clrScheme>
    <a:fontScheme name="USA Lesson Plain">
      <a:majorFont>
        <a:latin typeface="Calibri"/>
        <a:ea typeface="Calibri"/>
        <a:cs typeface="Calibri"/>
      </a:majorFont>
      <a:minorFont>
        <a:latin typeface="Helvetica"/>
        <a:ea typeface="Helvetica"/>
        <a:cs typeface="Helvetica"/>
      </a:minorFont>
    </a:fontScheme>
    <a:fmtScheme name="USA Lesson Plai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B1F2E"/>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B1F2E"/>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