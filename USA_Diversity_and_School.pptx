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ae45538c-cbff-6143-c0d2-ca0175f0c562}">
          <p14:sldIdLst>
            <p14:sldId id="256"/>
            <p14:sldId id="257"/>
          </p14:sldIdLst>
        </p14:section>
        <p14:section name="Warm-up" id="{0603a794-086c-29aa-b943-0723936becc3}">
          <p14:sldIdLst>
            <p14:sldId id="258"/>
            <p14:sldId id="259"/>
          </p14:sldIdLst>
        </p14:section>
        <p14:section name="Part 1: Diversity" id="{3ff2747e-fe09-5a1f-7e07-bf2c766e3f04}">
          <p14:sldIdLst>
            <p14:sldId id="260"/>
            <p14:sldId id="261"/>
            <p14:sldId id="262"/>
            <p14:sldId id="263"/>
            <p14:sldId id="264"/>
            <p14:sldId id="265"/>
          </p14:sldIdLst>
        </p14:section>
        <p14:section name="Part 2: School" id="{0bb9aa4d-c60b-c487-3714-b8d543148e20}">
          <p14:sldIdLst>
            <p14:sldId id="266"/>
            <p14:sldId id="267"/>
            <p14:sldId id="268"/>
            <p14:sldId id="269"/>
            <p14:sldId id="270"/>
            <p14:sldId id="271"/>
          </p14:sldIdLst>
        </p14:section>
        <p14:section name="Activity" id="{1059e053-da00-e8b9-f5b9-c13426ba987e}">
          <p14:sldIdLst>
            <p14:sldId id="272"/>
            <p14:sldId id="273"/>
            <p14:sldId id="274"/>
            <p14:sldId id="275"/>
            <p14:sldId id="276"/>
            <p14:sldId id="277"/>
          </p14:sldIdLst>
        </p14:section>
        <p14:section name="Wrap-up" id="{4e23f830-2164-45bb-4a2b-72a3f3445cfa}">
          <p14:sldIdLst>
            <p14:sldId id="278"/>
          </p14:sldIdLst>
        </p14:section>
        <p14:section name="For teachers" id="{d52a3778-120d-1852-f7aa-73c2c2d5ef13}">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population</c:v>
                </c:pt>
              </c:strCache>
            </c:strRef>
          </c:tx>
          <c:spPr>
            <a:solidFill>
              <a:srgbClr val="1E2761"/>
            </a:solidFill>
            <a:effectLst/>
          </c:spPr>
          <c:invertIfNegative val="0"/>
          <c:dLbls>
            <c:numFmt formatCode="0&quot;%&quot;" sourceLinked="0"/>
            <c:txPr>
              <a:bodyPr/>
              <a:lstStyle/>
              <a:p>
                <a:pPr>
                  <a:defRPr b="0" i="0" strike="noStrike" sz="1100" u="none">
                    <a:solidFill>
                      <a:srgbClr val="1B1F2E"/>
                    </a:solidFill>
                    <a:latin typeface="+mn-lt"/>
                  </a:defRPr>
                </a:pPr>
              </a:p>
            </c:txPr>
            <c:showLegendKey val="0"/>
            <c:showVal val="1"/>
            <c:showCatName val="0"/>
            <c:showSerName val="0"/>
            <c:showPercent val="0"/>
            <c:showBubbleSize val="0"/>
            <c:showLeaderLines val="0"/>
          </c:dLbls>
          <c:cat>
            <c:multiLvlStrRef>
              <c:f>Sheet1!$A$2:$A$7</c:f>
              <c:multiLvlStrCache>
                <c:ptCount val="6"/>
                <c:lvl>
                  <c:pt idx="0">
                    <c:v>White (not Hispanic)</c:v>
                  </c:pt>
                  <c:pt idx="1">
                    <c:v>Hispanic or Latino</c:v>
                  </c:pt>
                  <c:pt idx="2">
                    <c:v>Black</c:v>
                  </c:pt>
                  <c:pt idx="3">
                    <c:v>Asian</c:v>
                  </c:pt>
                  <c:pt idx="4">
                    <c:v>Two or more races</c:v>
                  </c:pt>
                  <c:pt idx="5">
                    <c:v>Native American</c:v>
                  </c:pt>
                </c:lvl>
              </c:multiLvlStrCache>
            </c:multiLvlStrRef>
          </c:cat>
          <c:val>
            <c:numRef>
              <c:f>Sheet1!$B$2:$B$7</c:f>
              <c:numCache>
                <c:formatCode>General</c:formatCode>
                <c:ptCount val="6"/>
                <c:pt idx="0">
                  <c:v>56.3</c:v>
                </c:pt>
                <c:pt idx="1">
                  <c:v>20</c:v>
                </c:pt>
                <c:pt idx="2">
                  <c:v>13.7</c:v>
                </c:pt>
                <c:pt idx="3">
                  <c:v>6.7</c:v>
                </c:pt>
                <c:pt idx="4">
                  <c:v>3.1</c:v>
                </c:pt>
                <c:pt idx="5">
                  <c:v>1.4</c:v>
                </c:pt>
              </c:numCache>
            </c:numRef>
          </c:val>
        </c:ser>
        <c:dLbls>
          <c:numFmt formatCode="0&quot;%&quot;" sourceLinked="0"/>
          <c:txPr>
            <a:bodyPr/>
            <a:lstStyle/>
            <a:p>
              <a:pPr>
                <a:defRPr b="0" i="0" strike="noStrike" sz="1100" u="none">
                  <a:solidFill>
                    <a:srgbClr val="1B1F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1F2E"/>
                </a:solidFill>
                <a:latin typeface="+mn-lt"/>
              </a:defRPr>
            </a:pPr>
            <a:endParaRPr lang="en-US"/>
          </a:p>
        </c:txPr>
        <c:crossAx val="2094734552"/>
        <c:crosses val="autoZero"/>
        <c:auto val="1"/>
        <c:lblAlgn val="ctr"/>
        <c:noMultiLvlLbl val="1"/>
      </c:catAx>
      <c:valAx>
        <c:axId val="2094734552"/>
        <c:scaling>
          <c:orientation val="minMax"/>
          <c:max val="7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Introduce the topic: today we look at two sides of the USA: how diverse the country is (and where people are treated unfairly), and what going to school and college there is like. At the end you will compare the US with Austria.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overview of the 45 minutes so students know what is coming. At the end everyone should be able to say a few sentences comparing the US and Austria.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Students talk in pairs, then collect a few ideas in class. Ask: Which of these exist in Austrian schools? (Most do not: no school buses for most, no proms in the same way, no school sports teams like this.) Good moment for a personal story about your own school if you went to school in the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 minutes. Students guess with a show of hands (or thumbs up/down). Do NOT give the answers yet: tell them they will find out during the lesson.
Answers:
1. TRUE: about 20% (US Census Bureau, 2024).
2. FALSE: about 9 in 10 students go to public schools.
3. FALSE: the average published price at a private university is about $45,000 per year (College Board, 2025-26).
4. TRUE: the Supreme Court decision Brown v. Board of Education (1954) made school segregation unconstitutional.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of the input phase (about 8–10 minutes for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Read each word, students repeat (pronunciation!). Ask for an example where useful, e.g. a stereotype about Austrians (they all ski / wear Lederhosen). For lower grades, spend more time here; for 4th/5th forms, cover the German column and ask students to define the words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Warm-up answer 1 is TRUE: about 20% are Hispanic or Latino.
Explain: the US is a country of immigrants. Most Hispanic Americans have roots in Mexico; there are also many people from Puerto Rico, Cuba, Central and South America. Note: the Census counts 'Hispanic' separately from race, so the numbers overlap.
Ask: 'melting pot' (everyone mixes into one culture) or 'salad bowl' (cultures stay different, side by side)? Which describes the US better? Which describes Austria?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 minutes. Walk through the timeline:
- 1865: slavery ends after the Civil War.
- 1896: Plessy v. Ferguson: the Supreme Court says 'separate but equal' is OK. In the South, 'Jim Crow' laws separate Black and white people in schools, buses, restaurants.
- 1954: Brown v. Board of Education: separate schools are unconstitutional. (Warm-up answer 4 is TRUE.)
- 1955: Rosa Parks refuses to give her bus seat to a white man in Montgomery, Alabama; this starts a bus boycott.
- 1963: March on Washington, Martin Luther King Jr.'s famous speech.
- 1964: Civil Rights Act.
Optional extra: 1972 Title IX bans sex discrimination in education (important for girls' school sports).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(skip if short on time). Even after Brown v. Board (1954), many Southern states resisted. In 1960 Ruby Bridges started at William Frantz Elementary School in New Orleans, escorted by US marshals. Her teacher, Barbara Henry, taught her alone for a year. Ask 1–2 students the 'Think' question. Optional: Norman Rockwell's painting 'The Problem We All Live With' (1964) shows this scene; you can show it from a museum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2–3 minutes. Laws changed in the 1960s, but unequal treatment still exists in everyday life. Keep it factual: these are examples studied by researchers and reported widely. Ask: 'Does discrimination exist in Austria too? Where?' (e.g. job applications with foreign names, housing). Be sensitive: students in the class may have their own experiences; don't put anyone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(about 8–10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Kindergarten is the first year of elementary school (age 5). Grades are numbered 1–12 all the way through, so a 3rd form HAK student (age ~16–17) would be in 10th or 11th grade: a sophomore or junior. Ask: 'What would you be in the US?'
Key difference: in the US almost everyone goes to the same type of high school until 18. There is no early split at age 10 like Mittelschule vs AHS, and no school type like the HAK. Specialising happens later, at college.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 minutes. Warm-up answer 2 is FALSE: about 9 in 10 students go to public schools.
School sports are a huge part of US school culture (unlike Austria, where sport happens in clubs/Vereine). Explain GPA: grade point average, A = 4.0. No central final exam like the Matura; students graduate when they have enough credits.
Link back to Part 1: because schools are partly paid for by local taxes, schools in rich areas often have much more money. This is one reason why discrimination and inequality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Warm-up answer 3 is FALSE: a private university costs on average about $45,000 per year for tuition alone. With housing and food, the total is often $60,000+.
Vocabulary: undergraduate (first degree, usually a 4-year bachelor's), major (main subject), campus, dorm (student house), tuition (Studiengebühren), scholarship (Stipendium). Many students get grants or scholarships, e.g. for sports or good grades, so they pay less than the published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Applying is a long process in the last year of high school; students often apply to 5–10 colleges. Top universities accept only a small share of applicants.
Many students take out loans and pay them back for years or even decades after graduating. Ask: 'Would you go to university if it cost €40,000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(optional for lower grades; great for 4th/5th forms). This connects Part 1 and Part 2. Present both sides neutrally; Americans strongly disagree about this. The 2023 case was Students for Fair Admissions v. Harvard (and v. University of North Carolina).
'Legacy admissions' = advantages for children of alumni. Critics on both sides say this mostly helps rich (and often white) families; some universities and states have ended it.
Transition: 'Now it's your turn to give your opinion!'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phase, 15–20 minutes (quiz about 6 min, opinion groups about 12 min). Make teams of 3–4 students now (count off 1–6 to mix them). Each team needs a sheet of paper and a team name. The same teams work together in both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1, about 6 minutes for both quiz slides. Teams discuss IN ENGLISH and write down their answers (number + letter). Give about 1.5 minutes per slide. Optional rule: if you hear German, the team loses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teams the same time as for the first quiz slide, then go to the answers. Teams can swap papers and mark each other's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1–2 minutes. Before showing this slide, you can ask a team to say the answer and WHY in one sentence ('Number 7 is A because…'). That is extra speaking practice and checks understanding. Applaud the winner.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12 minutes in total:
- 4 min: teams prepare (agree/disagree + 3 reasons; use the phrases on the next slide).
- 6–8 min: each team presents for about 1 minute. Everyone in the team should say at least one sentence.
- The class can react: 'Who agrees? Who disagrees?'
Tip: show the useful phrases slide while teams prepare. If there are more than 6 teams, two teams can take the same statement: one agrees, one disagrees, as a mini debate.
While students talk, walk around and note common mistakes for quick feedback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on screen while teams prepare and present. Lower grades: ask every student to use at least one phrase. Higher grades: ban 'I think' and push for 'whereas', 'on the other hand', 'in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2–3 minutes. Pairs share a fact and a surprise. Use any time left for questions about your own experience of American school. Give quick feedback on 2–3 common language mistakes you noted.
Homework: 4th/5th forms can write a Matura-style opinion essay (250 words) on 'Should university be free for everyone?'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Hide this slide before teaching (right-click &gt; Hide Slide) or delete it. Timing guide: warm-up slides 3–4 (5 min), input slides 5–16 (15–20 min), activity slides 17–22 (15–20 min), wrap-up slide 23 (2–3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rtlCol="0"/>
          <a:lstStyle>
            <a:lvl1pPr algn="l" indent="0" marL="0">
              <a:buNone/>
              <a:defRPr lang="en-US" sz="3800" b="1" dirty="0">
                <a:solidFill>
                  <a:schemeClr val="tx2"/>
                </a:solidFill>
              </a:defRPr>
            </a:lvl1pPr>
          </a:lstStyle>
          <a:p>
            <a:pPr algn="l" indent="0" marL="0">
              <a:buNone/>
            </a:pPr>
            <a:endParaRPr lang="en-US" sz="3800" dirty="0"/>
          </a:p>
        </p:txBody>
      </p:sp>
      <p:sp>
        <p:nvSpPr>
          <p:cNvPr id="3" name="Text 0"/>
          <p:cNvSpPr/>
          <p:nvPr>
            <p:ph idx="101" type="body" hasCustomPrompt="1"/>
          </p:nvPr>
        </p:nvSpPr>
        <p:spPr>
          <a:xfrm>
            <a:off x="548640" y="2880360"/>
            <a:ext cx="8046720" cy="457200"/>
          </a:xfrm>
          <a:prstGeom prst="rect">
            <a:avLst/>
          </a:prstGeom>
          <a:noFill/>
          <a:ln/>
        </p:spPr>
        <p:txBody>
          <a:bodyPr wrap="square" rtlCol="0"/>
          <a:lstStyle>
            <a:lvl1pPr algn="l" indent="0" marL="0">
              <a:buNone/>
              <a:defRPr lang="en-US" sz="1800" dirty="0">
                <a:solidFill>
                  <a:schemeClr val="accent4"/>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91440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ph idx="101" type="body" hasCustomPrompt="1"/>
          </p:nvPr>
        </p:nvSpPr>
        <p:spPr>
          <a:xfrm>
            <a:off x="548640" y="2743200"/>
            <a:ext cx="8046720" cy="457200"/>
          </a:xfrm>
          <a:prstGeom prst="rect">
            <a:avLst/>
          </a:prstGeom>
          <a:noFill/>
          <a:ln/>
        </p:spPr>
        <p:txBody>
          <a:bodyPr wrap="square" rtlCol="0"/>
          <a:lstStyle>
            <a:lvl1pPr algn="l" indent="0" marL="0">
              <a:buNone/>
              <a:defRPr lang="en-US" sz="1800" dirty="0">
                <a:solidFill>
                  <a:schemeClr val="accent4"/>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371600"/>
          </a:xfrm>
          <a:prstGeom prst="rect">
            <a:avLst/>
          </a:prstGeom>
          <a:noFill/>
          <a:ln/>
        </p:spPr>
        <p:txBody>
          <a:bodyPr wrap="square" lIns="0" tIns="0" rIns="0" bIns="0" rtlCol="0" anchor="b"/>
          <a:lstStyle/>
          <a:p>
            <a:pPr algn="l" indent="0" marL="0">
              <a:buNone/>
            </a:pPr>
            <a:r>
              <a:rPr lang="en-US" sz="3800" b="1" dirty="0">
                <a:solidFill>
                  <a:schemeClr val="tx2"/>
                </a:solidFill>
              </a:rPr>
              <a:t>Diversity, Discrimination and School in the USA</a:t>
            </a:r>
            <a:endParaRPr lang="en-US" sz="3800" dirty="0"/>
          </a:p>
        </p:txBody>
      </p:sp>
      <p:sp>
        <p:nvSpPr>
          <p:cNvPr id="3" name="Text 0"/>
          <p:cNvSpPr/>
          <p:nvPr>
            <p:ph idx="101" type="body" hasCustomPrompt="1"/>
          </p:nvPr>
        </p:nvSpPr>
        <p:spPr>
          <a:xfrm>
            <a:off x="548640" y="2880360"/>
            <a:ext cx="8046720" cy="457200"/>
          </a:xfrm>
          <a:prstGeom prst="rect">
            <a:avLst/>
          </a:prstGeom>
          <a:noFill/>
          <a:ln/>
        </p:spPr>
        <p:txBody>
          <a:bodyPr wrap="square" lIns="0" tIns="0" rIns="0" bIns="0" rtlCol="0" anchor="t"/>
          <a:lstStyle/>
          <a:p>
            <a:pPr algn="l" indent="0" marL="0">
              <a:buNone/>
            </a:pPr>
            <a:r>
              <a:rPr lang="en-US" sz="1800" dirty="0">
                <a:solidFill>
                  <a:schemeClr val="accent4"/>
                </a:solidFill>
              </a:rPr>
              <a:t>English · 45 minutes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Today's lesson</a:t>
            </a:r>
            <a:endParaRPr lang="en-US" sz="2800" dirty="0"/>
          </a:p>
        </p:txBody>
      </p:sp>
      <p:graphicFrame>
        <p:nvGraphicFramePr>
          <p:cNvPr id="3" name="table-1"/>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45920"/>
                <a:gridCol w="6583680"/>
              </a:tblGrid>
              <a:tr h="0">
                <a:tc>
                  <a:txBody>
                    <a:bodyPr/>
                    <a:lstStyle/>
                    <a:p>
                      <a:pPr indent="0" marL="0">
                        <a:buNone/>
                      </a:pPr>
                      <a:r>
                        <a:rPr lang="en-US" sz="1600" b="1" dirty="0">
                          <a:solidFill>
                            <a:srgbClr val="1E2761"/>
                          </a:solidFill>
                          <a:latin typeface="Calibri" pitchFamily="34" charset="0"/>
                          <a:ea typeface="Calibri" pitchFamily="34" charset="-122"/>
                          <a:cs typeface="Calibri" pitchFamily="34" charset="-120"/>
                        </a:rPr>
                        <a:t>Time</a:t>
                      </a:r>
                      <a:endParaRPr lang="en-US" sz="16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c>
                  <a:txBody>
                    <a:bodyPr/>
                    <a:lstStyle/>
                    <a:p>
                      <a:pPr indent="0" marL="0">
                        <a:buNone/>
                      </a:pPr>
                      <a:r>
                        <a:rPr lang="en-US" sz="1600" b="1" dirty="0">
                          <a:solidFill>
                            <a:srgbClr val="1E2761"/>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r>
              <a:tr h="0">
                <a:tc>
                  <a:txBody>
                    <a:bodyPr/>
                    <a:lstStyle/>
                    <a:p>
                      <a:pPr indent="0" marL="0">
                        <a:buNone/>
                      </a:pPr>
                      <a:r>
                        <a:rPr lang="en-US" sz="1600" dirty="0">
                          <a:solidFill>
                            <a:srgbClr val="1B1F2E"/>
                          </a:solidFill>
                          <a:latin typeface="Calibri" pitchFamily="34" charset="0"/>
                          <a:ea typeface="Calibri" pitchFamily="34" charset="-122"/>
                          <a:cs typeface="Calibri" pitchFamily="34" charset="-120"/>
                        </a:rPr>
                        <a:t>5 min</a:t>
                      </a:r>
                      <a:endParaRPr lang="en-US" sz="16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600" dirty="0">
                          <a:solidFill>
                            <a:srgbClr val="1B1F2E"/>
                          </a:solidFill>
                          <a:latin typeface="Calibri" pitchFamily="34" charset="0"/>
                          <a:ea typeface="Calibri" pitchFamily="34" charset="-122"/>
                          <a:cs typeface="Calibri" pitchFamily="34" charset="-120"/>
                        </a:rPr>
                        <a:t>Warm-up: What do you already know about the USA?</a:t>
                      </a:r>
                      <a:endParaRPr lang="en-US" sz="16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600" dirty="0">
                          <a:solidFill>
                            <a:srgbClr val="1B1F2E"/>
                          </a:solidFill>
                          <a:latin typeface="Calibri" pitchFamily="34" charset="0"/>
                          <a:ea typeface="Calibri" pitchFamily="34" charset="-122"/>
                          <a:cs typeface="Calibri" pitchFamily="34" charset="-120"/>
                        </a:rPr>
                        <a:t>15–20 min</a:t>
                      </a:r>
                      <a:endParaRPr lang="en-US" sz="16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600" dirty="0">
                          <a:solidFill>
                            <a:srgbClr val="1B1F2E"/>
                          </a:solidFill>
                          <a:latin typeface="Calibri" pitchFamily="34" charset="0"/>
                          <a:ea typeface="Calibri" pitchFamily="34" charset="-122"/>
                          <a:cs typeface="Calibri" pitchFamily="34" charset="-120"/>
                        </a:rPr>
                        <a:t>Part 1: A diverse country and the fight against discrimination</a:t>
                      </a:r>
                      <a:endParaRPr lang="en-US" sz="1600" dirty="0">
                        <a:latin typeface="Calibri" charset="0"/>
                        <a:ea typeface="Calibri" charset="0"/>
                        <a:cs typeface="Calibri" charset="0"/>
                      </a:endParaRPr>
                    </a:p>
                    <a:p>
                      <a:pPr indent="0" marL="0">
                        <a:buNone/>
                      </a:pPr>
                      <a:r>
                        <a:rPr lang="en-US" sz="1600" dirty="0">
                          <a:solidFill>
                            <a:srgbClr val="1B1F2E"/>
                          </a:solidFill>
                          <a:latin typeface="Calibri" pitchFamily="34" charset="0"/>
                          <a:ea typeface="Calibri" pitchFamily="34" charset="-122"/>
                          <a:cs typeface="Calibri" pitchFamily="34" charset="-120"/>
                        </a:rPr>
                        <a:t>Part 2: School and college in the USA</a:t>
                      </a:r>
                      <a:endParaRPr lang="en-US" sz="16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600" dirty="0">
                          <a:solidFill>
                            <a:srgbClr val="1B1F2E"/>
                          </a:solidFill>
                          <a:latin typeface="Calibri" pitchFamily="34" charset="0"/>
                          <a:ea typeface="Calibri" pitchFamily="34" charset="-122"/>
                          <a:cs typeface="Calibri" pitchFamily="34" charset="-120"/>
                        </a:rPr>
                        <a:t>15–20 min</a:t>
                      </a:r>
                      <a:endParaRPr lang="en-US" sz="16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600" dirty="0">
                          <a:solidFill>
                            <a:srgbClr val="1B1F2E"/>
                          </a:solidFill>
                          <a:latin typeface="Calibri" pitchFamily="34" charset="0"/>
                          <a:ea typeface="Calibri" pitchFamily="34" charset="-122"/>
                          <a:cs typeface="Calibri" pitchFamily="34" charset="-120"/>
                        </a:rPr>
                        <a:t>Team quiz, then share your opinion in groups</a:t>
                      </a:r>
                      <a:endParaRPr lang="en-US" sz="16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Think of an American high school film</a:t>
            </a:r>
            <a:endParaRPr lang="en-US" sz="2800" dirty="0"/>
          </a:p>
        </p:txBody>
      </p:sp>
      <p:sp>
        <p:nvSpPr>
          <p:cNvPr id="3" name="text-2"/>
          <p:cNvSpPr txBox="1"/>
          <p:nvPr/>
        </p:nvSpPr>
        <p:spPr>
          <a:xfrm>
            <a:off x="457200" y="1143000"/>
            <a:ext cx="8229600" cy="640080"/>
          </a:xfrm>
          <a:prstGeom prst="rect">
            <a:avLst/>
          </a:prstGeom>
          <a:noFill/>
          <a:ln/>
        </p:spPr>
        <p:txBody>
          <a:bodyPr wrap="square" lIns="0" tIns="0" rIns="0" bIns="0" rtlCol="0" anchor="t"/>
          <a:lstStyle/>
          <a:p>
            <a:pPr indent="0" marL="0">
              <a:buNone/>
            </a:pPr>
            <a:r>
              <a:rPr lang="en-US" sz="1600" dirty="0">
                <a:solidFill>
                  <a:schemeClr val="tx1"/>
                </a:solidFill>
              </a:rPr>
              <a:t>Talk to your neighbour for 1 minute. Which of these do you know from films or TV? Is it really like that?</a:t>
            </a:r>
            <a:endParaRPr lang="en-US" sz="1600" dirty="0"/>
          </a:p>
        </p:txBody>
      </p:sp>
      <p:sp>
        <p:nvSpPr>
          <p:cNvPr id="4" name="text-3"/>
          <p:cNvSpPr txBox="1"/>
          <p:nvPr/>
        </p:nvSpPr>
        <p:spPr>
          <a:xfrm>
            <a:off x="457200" y="2011680"/>
            <a:ext cx="3840480" cy="23774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yellow school bus</a:t>
            </a:r>
            <a:endParaRPr lang="en-US" sz="1600" dirty="0"/>
          </a:p>
          <a:p>
            <a:pPr marL="203200" indent="-203200">
              <a:spcAft>
                <a:spcPts val="800"/>
              </a:spcAft>
              <a:buSzPct val="100000"/>
              <a:buChar char="•"/>
            </a:pPr>
            <a:r>
              <a:rPr lang="en-US" sz="1600" dirty="0">
                <a:solidFill>
                  <a:schemeClr val="tx1"/>
                </a:solidFill>
              </a:rPr>
              <a:t>lockers</a:t>
            </a:r>
            <a:endParaRPr lang="en-US" sz="1600" dirty="0"/>
          </a:p>
          <a:p>
            <a:pPr marL="203200" indent="-203200">
              <a:spcAft>
                <a:spcPts val="800"/>
              </a:spcAft>
              <a:buSzPct val="100000"/>
              <a:buChar char="•"/>
            </a:pPr>
            <a:r>
              <a:rPr lang="en-US" sz="1600" dirty="0">
                <a:solidFill>
                  <a:schemeClr val="tx1"/>
                </a:solidFill>
              </a:rPr>
              <a:t>prom</a:t>
            </a:r>
            <a:endParaRPr lang="en-US" sz="1600" dirty="0"/>
          </a:p>
          <a:p>
            <a:pPr marL="203200" indent="-203200">
              <a:spcAft>
                <a:spcPts val="800"/>
              </a:spcAft>
              <a:buSzPct val="100000"/>
              <a:buChar char="•"/>
            </a:pPr>
            <a:r>
              <a:rPr lang="en-US" sz="1600" dirty="0">
                <a:solidFill>
                  <a:schemeClr val="tx1"/>
                </a:solidFill>
              </a:rPr>
              <a:t>cheerleaders</a:t>
            </a:r>
            <a:endParaRPr lang="en-US" sz="1600" dirty="0"/>
          </a:p>
          <a:p>
            <a:pPr marL="203200" indent="-203200">
              <a:spcAft>
                <a:spcPts val="800"/>
              </a:spcAft>
              <a:buSzPct val="100000"/>
              <a:buChar char="•"/>
            </a:pPr>
            <a:r>
              <a:rPr lang="en-US" sz="1600" dirty="0">
                <a:solidFill>
                  <a:schemeClr val="tx1"/>
                </a:solidFill>
              </a:rPr>
              <a:t>the cafeteria</a:t>
            </a:r>
            <a:endParaRPr lang="en-US" sz="1600" dirty="0"/>
          </a:p>
        </p:txBody>
      </p:sp>
      <p:sp>
        <p:nvSpPr>
          <p:cNvPr id="5" name="text-4"/>
          <p:cNvSpPr txBox="1"/>
          <p:nvPr/>
        </p:nvSpPr>
        <p:spPr>
          <a:xfrm>
            <a:off x="4572000" y="2011680"/>
            <a:ext cx="4114800" cy="23774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football games</a:t>
            </a:r>
            <a:endParaRPr lang="en-US" sz="1600" dirty="0"/>
          </a:p>
          <a:p>
            <a:pPr marL="203200" indent="-203200">
              <a:spcAft>
                <a:spcPts val="800"/>
              </a:spcAft>
              <a:buSzPct val="100000"/>
              <a:buChar char="•"/>
            </a:pPr>
            <a:r>
              <a:rPr lang="en-US" sz="1600" dirty="0">
                <a:solidFill>
                  <a:schemeClr val="tx1"/>
                </a:solidFill>
              </a:rPr>
              <a:t>graduation caps</a:t>
            </a:r>
            <a:endParaRPr lang="en-US" sz="1600" dirty="0"/>
          </a:p>
          <a:p>
            <a:pPr marL="203200" indent="-203200">
              <a:spcAft>
                <a:spcPts val="800"/>
              </a:spcAft>
              <a:buSzPct val="100000"/>
              <a:buChar char="•"/>
            </a:pPr>
            <a:r>
              <a:rPr lang="en-US" sz="1600" dirty="0">
                <a:solidFill>
                  <a:schemeClr val="tx1"/>
                </a:solidFill>
              </a:rPr>
              <a:t>school spirit</a:t>
            </a:r>
            <a:endParaRPr lang="en-US" sz="1600" dirty="0"/>
          </a:p>
          <a:p>
            <a:pPr marL="203200" indent="-203200">
              <a:spcAft>
                <a:spcPts val="800"/>
              </a:spcAft>
              <a:buSzPct val="100000"/>
              <a:buChar char="•"/>
            </a:pPr>
            <a:r>
              <a:rPr lang="en-US" sz="1600" dirty="0">
                <a:solidFill>
                  <a:schemeClr val="tx1"/>
                </a:solidFill>
              </a:rPr>
              <a:t>the Pledge of Allegiance</a:t>
            </a:r>
            <a:endParaRPr lang="en-US" sz="16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True or false? Take a guess!</a:t>
            </a:r>
            <a:endParaRPr lang="en-US" sz="2800" dirty="0"/>
          </a:p>
        </p:txBody>
      </p:sp>
      <p:sp>
        <p:nvSpPr>
          <p:cNvPr id="3" name="text-5"/>
          <p:cNvSpPr txBox="1"/>
          <p:nvPr/>
        </p:nvSpPr>
        <p:spPr>
          <a:xfrm>
            <a:off x="457200" y="1188720"/>
            <a:ext cx="8229600" cy="3200400"/>
          </a:xfrm>
          <a:prstGeom prst="rect">
            <a:avLst/>
          </a:prstGeom>
          <a:noFill/>
          <a:ln/>
        </p:spPr>
        <p:txBody>
          <a:bodyPr wrap="square" lIns="0" tIns="0" rIns="0" bIns="0" rtlCol="0" anchor="t"/>
          <a:lstStyle/>
          <a:p>
            <a:pPr marL="228600" indent="-228600">
              <a:spcAft>
                <a:spcPts val="1400"/>
              </a:spcAft>
              <a:buSzPct val="100000"/>
              <a:buFont typeface="+mj-lt"/>
              <a:buAutoNum type="arabicPeriod" startAt="1"/>
            </a:pPr>
            <a:r>
              <a:rPr lang="en-US" sz="1800" dirty="0">
                <a:solidFill>
                  <a:schemeClr val="tx1"/>
                </a:solidFill>
              </a:rPr>
              <a:t>About 1 in 5 people in the USA is Hispanic or Latino.</a:t>
            </a:r>
            <a:endParaRPr lang="en-US" sz="1800" dirty="0"/>
          </a:p>
          <a:p>
            <a:pPr marL="228600" indent="-228600">
              <a:spcAft>
                <a:spcPts val="1400"/>
              </a:spcAft>
              <a:buSzPct val="100000"/>
              <a:buFont typeface="+mj-lt"/>
              <a:buAutoNum type="arabicPeriod" startAt="1"/>
            </a:pPr>
            <a:r>
              <a:rPr lang="en-US" sz="1800" dirty="0">
                <a:solidFill>
                  <a:schemeClr val="tx1"/>
                </a:solidFill>
              </a:rPr>
              <a:t>Most American students go to private schools.</a:t>
            </a:r>
            <a:endParaRPr lang="en-US" sz="1800" dirty="0"/>
          </a:p>
          <a:p>
            <a:pPr marL="228600" indent="-228600">
              <a:spcAft>
                <a:spcPts val="1400"/>
              </a:spcAft>
              <a:buSzPct val="100000"/>
              <a:buFont typeface="+mj-lt"/>
              <a:buAutoNum type="arabicPeriod" startAt="1"/>
            </a:pPr>
            <a:r>
              <a:rPr lang="en-US" sz="1800" dirty="0">
                <a:solidFill>
                  <a:schemeClr val="tx1"/>
                </a:solidFill>
              </a:rPr>
              <a:t>One year at a private US university costs about €4,000.</a:t>
            </a:r>
            <a:endParaRPr lang="en-US" sz="1800" dirty="0"/>
          </a:p>
          <a:p>
            <a:pPr marL="228600" indent="-228600">
              <a:spcAft>
                <a:spcPts val="1400"/>
              </a:spcAft>
              <a:buSzPct val="100000"/>
              <a:buFont typeface="+mj-lt"/>
              <a:buAutoNum type="arabicPeriod" startAt="1"/>
            </a:pPr>
            <a:r>
              <a:rPr lang="en-US" sz="1800" dirty="0">
                <a:solidFill>
                  <a:schemeClr val="tx1"/>
                </a:solidFill>
              </a:rPr>
              <a:t>Until 1954, Black and white children could legally be sent to separate schools.</a:t>
            </a: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914400"/>
          </a:xfrm>
          <a:prstGeom prst="rect">
            <a:avLst/>
          </a:prstGeom>
          <a:noFill/>
          <a:ln/>
        </p:spPr>
        <p:txBody>
          <a:bodyPr wrap="square" lIns="0" tIns="0" rIns="0" bIns="0" rtlCol="0" anchor="b"/>
          <a:lstStyle/>
          <a:p>
            <a:pPr algn="l" indent="0" marL="0">
              <a:buNone/>
            </a:pPr>
            <a:r>
              <a:rPr lang="en-US" sz="3400" b="1" dirty="0">
                <a:solidFill>
                  <a:schemeClr val="tx2"/>
                </a:solidFill>
              </a:rPr>
              <a:t>Part 1: A nation of many backgrounds</a:t>
            </a:r>
            <a:endParaRPr lang="en-US" sz="3400" dirty="0"/>
          </a:p>
        </p:txBody>
      </p:sp>
      <p:sp>
        <p:nvSpPr>
          <p:cNvPr id="3" name="Text 0"/>
          <p:cNvSpPr/>
          <p:nvPr>
            <p:ph idx="101" type="body" hasCustomPrompt="1"/>
          </p:nvPr>
        </p:nvSpPr>
        <p:spPr>
          <a:xfrm>
            <a:off x="548640" y="2743200"/>
            <a:ext cx="8046720" cy="457200"/>
          </a:xfrm>
          <a:prstGeom prst="rect">
            <a:avLst/>
          </a:prstGeom>
          <a:noFill/>
          <a:ln/>
        </p:spPr>
        <p:txBody>
          <a:bodyPr wrap="square" lIns="0" tIns="0" rIns="0" bIns="0" rtlCol="0" anchor="t"/>
          <a:lstStyle/>
          <a:p>
            <a:pPr algn="l" indent="0" marL="0">
              <a:buNone/>
            </a:pPr>
            <a:r>
              <a:rPr lang="en-US" sz="1800" dirty="0">
                <a:solidFill>
                  <a:schemeClr val="accent4"/>
                </a:solidFill>
              </a:rPr>
              <a:t>Diversity, discrimination and the fight for equal rights</a:t>
            </a: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Key words</a:t>
            </a:r>
            <a:endParaRPr lang="en-US" sz="2800" dirty="0"/>
          </a:p>
        </p:txBody>
      </p:sp>
      <p:graphicFrame>
        <p:nvGraphicFramePr>
          <p:cNvPr id="7" name="table-6"/>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4480560"/>
                <a:gridCol w="1737360"/>
              </a:tblGrid>
              <a:tr h="0">
                <a:tc>
                  <a:txBody>
                    <a:bodyPr/>
                    <a:lstStyle/>
                    <a:p>
                      <a:pPr indent="0" marL="0">
                        <a:buNone/>
                      </a:pPr>
                      <a:r>
                        <a:rPr lang="en-US" sz="1500" b="1" dirty="0">
                          <a:solidFill>
                            <a:srgbClr val="1E2761"/>
                          </a:solidFill>
                          <a:latin typeface="Calibri" pitchFamily="34" charset="0"/>
                          <a:ea typeface="Calibri" pitchFamily="34" charset="-122"/>
                          <a:cs typeface="Calibri" pitchFamily="34" charset="-120"/>
                        </a:rPr>
                        <a:t>Word</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c>
                  <a:txBody>
                    <a:bodyPr/>
                    <a:lstStyle/>
                    <a:p>
                      <a:pPr indent="0" marL="0">
                        <a:buNone/>
                      </a:pPr>
                      <a:r>
                        <a:rPr lang="en-US" sz="1500" b="1" dirty="0">
                          <a:solidFill>
                            <a:srgbClr val="1E2761"/>
                          </a:solidFill>
                          <a:latin typeface="Calibri" pitchFamily="34" charset="0"/>
                          <a:ea typeface="Calibri" pitchFamily="34" charset="-122"/>
                          <a:cs typeface="Calibri" pitchFamily="34" charset="-120"/>
                        </a:rPr>
                        <a:t>Meaning</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c>
                  <a:txBody>
                    <a:bodyPr/>
                    <a:lstStyle/>
                    <a:p>
                      <a:pPr indent="0" marL="0">
                        <a:buNone/>
                      </a:pPr>
                      <a:r>
                        <a:rPr lang="en-US" sz="1500" b="1" dirty="0">
                          <a:solidFill>
                            <a:srgbClr val="1E2761"/>
                          </a:solidFill>
                          <a:latin typeface="Calibri" pitchFamily="34" charset="0"/>
                          <a:ea typeface="Calibri" pitchFamily="34" charset="-122"/>
                          <a:cs typeface="Calibri" pitchFamily="34" charset="-120"/>
                        </a:rPr>
                        <a:t>German</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diversity</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many different kinds of people living together</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Vielfalt</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discrimination</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treating someone unfairly because of who they are</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Diskriminierung</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prejudice</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an opinion about someone before you know them</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Vorurteil</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stereotype</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a fixed, simple idea about a whole group</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Klischee</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minority</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a smaller group within a population</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Minderheit</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segregation</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keeping groups apart by law or custom</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Rassentrennung</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civil rights</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the rights every citizen should have</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Bürgerrechte</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equal opportunity</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the same chances for everyone</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Chancengleichheit</a:t>
                      </a:r>
                      <a:endParaRPr lang="en-US" sz="1500" dirty="0">
                        <a:latin typeface="Calibri" charset="0"/>
                        <a:ea typeface="Calibri" charset="0"/>
                        <a:cs typeface="Calibri" charset="0"/>
                      </a:endParaRPr>
                    </a:p>
                  </a:txBody>
                  <a:tcPr marL="0" marR="76200" marT="38100" marB="381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Who lives in the USA?</a:t>
            </a:r>
            <a:endParaRPr lang="en-US" sz="2800" dirty="0"/>
          </a:p>
        </p:txBody>
      </p:sp>
      <p:graphicFrame>
        <p:nvGraphicFramePr>
          <p:cNvPr id="3" name="chart-population-7" descr=""/>
          <p:cNvGraphicFramePr/>
          <p:nvPr/>
        </p:nvGraphicFramePr>
        <p:xfrm>
          <a:off x="365760" y="1097280"/>
          <a:ext cx="4937760" cy="3200400"/>
        </p:xfrm>
        <a:graphic xmlns:a="http://schemas.openxmlformats.org/drawingml/2006/main">
          <a:graphicData uri="http://schemas.openxmlformats.org/drawingml/2006/chart">
            <c:chart xmlns:c="http://schemas.openxmlformats.org/drawingml/2006/chart" r:id="rId1"/>
          </a:graphicData>
        </a:graphic>
      </p:graphicFrame>
      <p:sp>
        <p:nvSpPr>
          <p:cNvPr id="4" name="text-8"/>
          <p:cNvSpPr txBox="1"/>
          <p:nvPr/>
        </p:nvSpPr>
        <p:spPr>
          <a:xfrm>
            <a:off x="5577840" y="1188720"/>
            <a:ext cx="3108960" cy="31089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About 340 million people live in the USA (Austria: about 9 million).</a:t>
            </a:r>
            <a:endParaRPr lang="en-US" sz="1500" dirty="0"/>
          </a:p>
          <a:p>
            <a:pPr marL="203200" indent="-203200">
              <a:spcAft>
                <a:spcPts val="800"/>
              </a:spcAft>
              <a:buSzPct val="100000"/>
              <a:buChar char="•"/>
            </a:pPr>
            <a:r>
              <a:rPr lang="en-US" sz="1500" dirty="0">
                <a:solidFill>
                  <a:schemeClr val="tx1"/>
                </a:solidFill>
              </a:rPr>
              <a:t>About 1 in 5 Americans is Hispanic or Latino, the largest minority.</a:t>
            </a:r>
            <a:endParaRPr lang="en-US" sz="1500" dirty="0"/>
          </a:p>
          <a:p>
            <a:pPr marL="203200" indent="-203200">
              <a:spcAft>
                <a:spcPts val="800"/>
              </a:spcAft>
              <a:buSzPct val="100000"/>
              <a:buChar char="•"/>
            </a:pPr>
            <a:r>
              <a:rPr lang="en-US" sz="1500" dirty="0">
                <a:solidFill>
                  <a:schemeClr val="tx1"/>
                </a:solidFill>
              </a:rPr>
              <a:t>Melting pot or salad bowl? Do cultures mix, or stay different side by side?</a:t>
            </a:r>
            <a:endParaRPr lang="en-US" sz="1500" dirty="0"/>
          </a:p>
        </p:txBody>
      </p:sp>
      <p:sp>
        <p:nvSpPr>
          <p:cNvPr id="5" name="text-9"/>
          <p:cNvSpPr txBox="1"/>
          <p:nvPr/>
        </p:nvSpPr>
        <p:spPr>
          <a:xfrm>
            <a:off x="457200" y="4434840"/>
            <a:ext cx="7589520" cy="274320"/>
          </a:xfrm>
          <a:prstGeom prst="rect">
            <a:avLst/>
          </a:prstGeom>
          <a:noFill/>
          <a:ln/>
        </p:spPr>
        <p:txBody>
          <a:bodyPr wrap="square" lIns="0" tIns="0" rIns="0" bIns="0" rtlCol="0" anchor="t"/>
          <a:lstStyle/>
          <a:p>
            <a:pPr indent="0" marL="0">
              <a:buNone/>
            </a:pPr>
            <a:r>
              <a:rPr lang="en-US" sz="900" dirty="0">
                <a:solidFill>
                  <a:schemeClr val="accent4"/>
                </a:solidFill>
              </a:rPr>
              <a:t>Source: US Census Bureau, 2024 estimates. Hispanic people can be of any race, so the groups overlap.</a:t>
            </a:r>
            <a:endParaRPr lang="en-US" sz="9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long fight for equal rights</a:t>
            </a:r>
            <a:endParaRPr lang="en-US" sz="2800" dirty="0"/>
          </a:p>
        </p:txBody>
      </p:sp>
      <p:graphicFrame>
        <p:nvGraphicFramePr>
          <p:cNvPr id="9" name="table-1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097280"/>
                <a:gridCol w="7132320"/>
              </a:tblGrid>
              <a:tr h="0">
                <a:tc>
                  <a:txBody>
                    <a:bodyPr/>
                    <a:lstStyle/>
                    <a:p>
                      <a:pPr indent="0" marL="0">
                        <a:buNone/>
                      </a:pPr>
                      <a:r>
                        <a:rPr lang="en-US" sz="1500" b="1" dirty="0">
                          <a:solidFill>
                            <a:srgbClr val="1E2761"/>
                          </a:solidFill>
                          <a:latin typeface="Calibri" pitchFamily="34" charset="0"/>
                          <a:ea typeface="Calibri" pitchFamily="34" charset="-122"/>
                          <a:cs typeface="Calibri" pitchFamily="34" charset="-120"/>
                        </a:rPr>
                        <a:t>Year</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c>
                  <a:txBody>
                    <a:bodyPr/>
                    <a:lstStyle/>
                    <a:p>
                      <a:pPr indent="0" marL="0">
                        <a:buNone/>
                      </a:pPr>
                      <a:r>
                        <a:rPr lang="en-US" sz="1500" b="1" dirty="0">
                          <a:solidFill>
                            <a:srgbClr val="1E2761"/>
                          </a:solidFill>
                          <a:latin typeface="Calibri" pitchFamily="34" charset="0"/>
                          <a:ea typeface="Calibri" pitchFamily="34" charset="-122"/>
                          <a:cs typeface="Calibri" pitchFamily="34" charset="-120"/>
                        </a:rPr>
                        <a:t>What happened</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1865</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Slavery ends (13th Amendment).</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1896</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"Separate but equal": segregation becomes legal in the South.</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1954</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Brown v. Board of Education: separate schools are unconstitutional.</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1955</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Rosa Parks will not give up her bus seat to a white man.</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1963</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Martin Luther King Jr. gives his "I Have a Dream" speech.</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1964</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The Civil Rights Act bans discrimination because of race, colour, religion, sex or national origin.</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Ruby Bridges: a 6-year-old makes history</a:t>
            </a:r>
            <a:endParaRPr lang="en-US" sz="2800" dirty="0"/>
          </a:p>
        </p:txBody>
      </p:sp>
      <p:sp>
        <p:nvSpPr>
          <p:cNvPr id="3" name="text-11"/>
          <p:cNvSpPr txBox="1"/>
          <p:nvPr/>
        </p:nvSpPr>
        <p:spPr>
          <a:xfrm>
            <a:off x="457200" y="1188720"/>
            <a:ext cx="8229600" cy="256032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chemeClr val="tx1"/>
                </a:solidFill>
              </a:rPr>
              <a:t>In 1960, in New Orleans, Ruby was the first Black child to go to an all-white elementary school in the US South.</a:t>
            </a:r>
            <a:endParaRPr lang="en-US" sz="1700" dirty="0"/>
          </a:p>
          <a:p>
            <a:pPr marL="203200" indent="-203200">
              <a:spcAft>
                <a:spcPts val="1200"/>
              </a:spcAft>
              <a:buSzPct val="100000"/>
              <a:buChar char="•"/>
            </a:pPr>
            <a:r>
              <a:rPr lang="en-US" sz="1700" dirty="0">
                <a:solidFill>
                  <a:schemeClr val="tx1"/>
                </a:solidFill>
              </a:rPr>
              <a:t>Four federal marshals walked her to school because angry crowds shouted at her.</a:t>
            </a:r>
            <a:endParaRPr lang="en-US" sz="1700" dirty="0"/>
          </a:p>
          <a:p>
            <a:pPr marL="203200" indent="-203200">
              <a:spcAft>
                <a:spcPts val="1200"/>
              </a:spcAft>
              <a:buSzPct val="100000"/>
              <a:buChar char="•"/>
            </a:pPr>
            <a:r>
              <a:rPr lang="en-US" sz="1700" dirty="0">
                <a:solidFill>
                  <a:schemeClr val="tx1"/>
                </a:solidFill>
              </a:rPr>
              <a:t>Many white parents took their children out of the school.</a:t>
            </a:r>
            <a:endParaRPr lang="en-US" sz="1700" dirty="0"/>
          </a:p>
          <a:p>
            <a:pPr marL="203200" indent="-203200">
              <a:spcAft>
                <a:spcPts val="1200"/>
              </a:spcAft>
              <a:buSzPct val="100000"/>
              <a:buChar char="•"/>
            </a:pPr>
            <a:r>
              <a:rPr lang="en-US" sz="1700" dirty="0">
                <a:solidFill>
                  <a:schemeClr val="tx1"/>
                </a:solidFill>
              </a:rPr>
              <a:t>For a whole year, one teacher taught Ruby alone.</a:t>
            </a:r>
            <a:endParaRPr lang="en-US" sz="1700" dirty="0"/>
          </a:p>
        </p:txBody>
      </p:sp>
      <p:sp>
        <p:nvSpPr>
          <p:cNvPr id="4" name="text-12"/>
          <p:cNvSpPr txBox="1"/>
          <p:nvPr/>
        </p:nvSpPr>
        <p:spPr>
          <a:xfrm>
            <a:off x="457200" y="3383280"/>
            <a:ext cx="8229600" cy="411480"/>
          </a:xfrm>
          <a:prstGeom prst="rect">
            <a:avLst/>
          </a:prstGeom>
          <a:noFill/>
          <a:ln/>
        </p:spPr>
        <p:txBody>
          <a:bodyPr wrap="square" lIns="0" tIns="0" rIns="0" bIns="0" rtlCol="0" anchor="t"/>
          <a:lstStyle/>
          <a:p>
            <a:pPr indent="0" marL="0">
              <a:buNone/>
            </a:pPr>
            <a:r>
              <a:rPr lang="en-US" sz="1700" b="1" dirty="0">
                <a:solidFill>
                  <a:schemeClr val="accent1"/>
                </a:solidFill>
              </a:rPr>
              <a:t>Think: How would you feel on your first day of school?</a:t>
            </a:r>
            <a:endParaRPr lang="en-US" sz="17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Is discrimination over?</a:t>
            </a:r>
            <a:endParaRPr lang="en-US" sz="2800" dirty="0"/>
          </a:p>
        </p:txBody>
      </p:sp>
      <p:sp>
        <p:nvSpPr>
          <p:cNvPr id="3" name="text-13"/>
          <p:cNvSpPr txBox="1"/>
          <p:nvPr/>
        </p:nvSpPr>
        <p:spPr>
          <a:xfrm>
            <a:off x="457200" y="1188720"/>
            <a:ext cx="8229600" cy="2743200"/>
          </a:xfrm>
          <a:prstGeom prst="rect">
            <a:avLst/>
          </a:prstGeom>
          <a:noFill/>
          <a:ln/>
        </p:spPr>
        <p:txBody>
          <a:bodyPr wrap="square" lIns="0" tIns="0" rIns="0" bIns="0" rtlCol="0" anchor="t"/>
          <a:lstStyle/>
          <a:p>
            <a:pPr marL="203200" indent="-203200">
              <a:spcAft>
                <a:spcPts val="1000"/>
              </a:spcAft>
              <a:buSzPct val="100000"/>
              <a:buChar char="•"/>
            </a:pPr>
            <a:r>
              <a:rPr lang="en-US" sz="1600" b="1" dirty="0">
                <a:solidFill>
                  <a:schemeClr val="tx1"/>
                </a:solidFill>
              </a:rPr>
              <a:t>Jobs: </a:t>
            </a:r>
            <a:pPr indent="0" marL="0">
              <a:spcAft>
                <a:spcPts val="1000"/>
              </a:spcAft>
              <a:buNone/>
            </a:pPr>
            <a:r>
              <a:rPr lang="en-US" sz="1600" dirty="0">
                <a:solidFill>
                  <a:schemeClr val="tx1"/>
                </a:solidFill>
              </a:rPr>
              <a:t>In experiments with fake job applications, people with "white-sounding" names were often invited to more interviews.</a:t>
            </a:r>
            <a:endParaRPr lang="en-US" sz="1600" dirty="0"/>
          </a:p>
          <a:p>
            <a:pPr marL="203200" indent="-203200">
              <a:spcAft>
                <a:spcPts val="1000"/>
              </a:spcAft>
              <a:buSzPct val="100000"/>
              <a:buChar char="•"/>
            </a:pPr>
            <a:r>
              <a:rPr lang="en-US" sz="1600" b="1" dirty="0">
                <a:solidFill>
                  <a:schemeClr val="tx1"/>
                </a:solidFill>
              </a:rPr>
              <a:t>Housing: </a:t>
            </a:r>
            <a:pPr indent="0" marL="0">
              <a:spcAft>
                <a:spcPts val="1000"/>
              </a:spcAft>
              <a:buNone/>
            </a:pPr>
            <a:r>
              <a:rPr lang="en-US" sz="1600" dirty="0">
                <a:solidFill>
                  <a:schemeClr val="tx1"/>
                </a:solidFill>
              </a:rPr>
              <a:t>In the past, banks refused loans in Black neighbourhoods ("redlining"). Many cities are still divided today.</a:t>
            </a:r>
            <a:endParaRPr lang="en-US" sz="1600" dirty="0"/>
          </a:p>
          <a:p>
            <a:pPr marL="203200" indent="-203200">
              <a:spcAft>
                <a:spcPts val="1000"/>
              </a:spcAft>
              <a:buSzPct val="100000"/>
              <a:buChar char="•"/>
            </a:pPr>
            <a:r>
              <a:rPr lang="en-US" sz="1600" b="1" dirty="0">
                <a:solidFill>
                  <a:schemeClr val="tx1"/>
                </a:solidFill>
              </a:rPr>
              <a:t>School money: </a:t>
            </a:r>
            <a:pPr indent="0" marL="0">
              <a:spcAft>
                <a:spcPts val="1000"/>
              </a:spcAft>
              <a:buNone/>
            </a:pPr>
            <a:r>
              <a:rPr lang="en-US" sz="1600" dirty="0">
                <a:solidFill>
                  <a:schemeClr val="tx1"/>
                </a:solidFill>
              </a:rPr>
              <a:t>Schools in poorer areas often have less money for teachers, books and buildings.</a:t>
            </a:r>
            <a:endParaRPr lang="en-US" sz="1600" dirty="0"/>
          </a:p>
          <a:p>
            <a:pPr marL="203200" indent="-203200">
              <a:spcAft>
                <a:spcPts val="1000"/>
              </a:spcAft>
              <a:buSzPct val="100000"/>
              <a:buChar char="•"/>
            </a:pPr>
            <a:r>
              <a:rPr lang="en-US" sz="1600" b="1" dirty="0">
                <a:solidFill>
                  <a:schemeClr val="tx1"/>
                </a:solidFill>
              </a:rPr>
              <a:t>Police and justice: </a:t>
            </a:r>
            <a:pPr indent="0" marL="0">
              <a:spcAft>
                <a:spcPts val="1000"/>
              </a:spcAft>
              <a:buNone/>
            </a:pPr>
            <a:r>
              <a:rPr lang="en-US" sz="1600" dirty="0">
                <a:solidFill>
                  <a:schemeClr val="tx1"/>
                </a:solidFill>
              </a:rPr>
              <a:t>In 2020, the murder of George Floyd by a police officer led to protests in the US and around the world.</a:t>
            </a:r>
            <a:endParaRPr lang="en-US" sz="1600" dirty="0"/>
          </a:p>
        </p:txBody>
      </p:sp>
      <p:sp>
        <p:nvSpPr>
          <p:cNvPr id="4" name="text-14"/>
          <p:cNvSpPr txBox="1"/>
          <p:nvPr/>
        </p:nvSpPr>
        <p:spPr>
          <a:xfrm>
            <a:off x="457200" y="3657600"/>
            <a:ext cx="8229600" cy="502920"/>
          </a:xfrm>
          <a:prstGeom prst="rect">
            <a:avLst/>
          </a:prstGeom>
          <a:noFill/>
          <a:ln/>
        </p:spPr>
        <p:txBody>
          <a:bodyPr wrap="square" lIns="0" tIns="0" rIns="0" bIns="0" rtlCol="0" anchor="t"/>
          <a:lstStyle/>
          <a:p>
            <a:pPr indent="0" marL="0">
              <a:buNone/>
            </a:pPr>
            <a:r>
              <a:rPr lang="en-US" sz="1500" i="1" dirty="0">
                <a:solidFill>
                  <a:schemeClr val="accent4"/>
                </a:solidFill>
              </a:rPr>
              <a:t>Not only race: people can also face discrimination because of gender, religion, disability, sexuality or where they come from.</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914400"/>
          </a:xfrm>
          <a:prstGeom prst="rect">
            <a:avLst/>
          </a:prstGeom>
          <a:noFill/>
          <a:ln/>
        </p:spPr>
        <p:txBody>
          <a:bodyPr wrap="square" lIns="0" tIns="0" rIns="0" bIns="0" rtlCol="0" anchor="b"/>
          <a:lstStyle/>
          <a:p>
            <a:pPr algn="l" indent="0" marL="0">
              <a:buNone/>
            </a:pPr>
            <a:r>
              <a:rPr lang="en-US" sz="3400" b="1" dirty="0">
                <a:solidFill>
                  <a:schemeClr val="tx2"/>
                </a:solidFill>
              </a:rPr>
              <a:t>Part 2: Going to school in the USA</a:t>
            </a:r>
            <a:endParaRPr lang="en-US" sz="3400" dirty="0"/>
          </a:p>
        </p:txBody>
      </p:sp>
      <p:sp>
        <p:nvSpPr>
          <p:cNvPr id="3" name="Text 0"/>
          <p:cNvSpPr/>
          <p:nvPr>
            <p:ph idx="101" type="body" hasCustomPrompt="1"/>
          </p:nvPr>
        </p:nvSpPr>
        <p:spPr>
          <a:xfrm>
            <a:off x="548640" y="2743200"/>
            <a:ext cx="8046720" cy="457200"/>
          </a:xfrm>
          <a:prstGeom prst="rect">
            <a:avLst/>
          </a:prstGeom>
          <a:noFill/>
          <a:ln/>
        </p:spPr>
        <p:txBody>
          <a:bodyPr wrap="square" lIns="0" tIns="0" rIns="0" bIns="0" rtlCol="0" anchor="t"/>
          <a:lstStyle/>
          <a:p>
            <a:pPr algn="l" indent="0" marL="0">
              <a:buNone/>
            </a:pPr>
            <a:r>
              <a:rPr lang="en-US" sz="1800" dirty="0">
                <a:solidFill>
                  <a:schemeClr val="accent4"/>
                </a:solidFill>
              </a:rPr>
              <a:t>From kindergarten to college</a:t>
            </a: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School in the USA and in Austria</a:t>
            </a:r>
            <a:endParaRPr lang="en-US" sz="2800" dirty="0"/>
          </a:p>
        </p:txBody>
      </p:sp>
      <p:graphicFrame>
        <p:nvGraphicFramePr>
          <p:cNvPr id="13" name="table-15"/>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657600"/>
                <a:gridCol w="914400"/>
                <a:gridCol w="3657600"/>
              </a:tblGrid>
              <a:tr h="0">
                <a:tc>
                  <a:txBody>
                    <a:bodyPr/>
                    <a:lstStyle/>
                    <a:p>
                      <a:pPr indent="0" marL="0">
                        <a:buNone/>
                      </a:pPr>
                      <a:r>
                        <a:rPr lang="en-US" sz="1500" b="1" dirty="0">
                          <a:solidFill>
                            <a:srgbClr val="1E2761"/>
                          </a:solidFill>
                          <a:latin typeface="Calibri" pitchFamily="34" charset="0"/>
                          <a:ea typeface="Calibri" pitchFamily="34" charset="-122"/>
                          <a:cs typeface="Calibri" pitchFamily="34" charset="-120"/>
                        </a:rPr>
                        <a:t>USA</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c>
                  <a:txBody>
                    <a:bodyPr/>
                    <a:lstStyle/>
                    <a:p>
                      <a:pPr indent="0" marL="0">
                        <a:buNone/>
                      </a:pPr>
                      <a:r>
                        <a:rPr lang="en-US" sz="1500" b="1" dirty="0">
                          <a:solidFill>
                            <a:srgbClr val="1E2761"/>
                          </a:solidFill>
                          <a:latin typeface="Calibri" pitchFamily="34" charset="0"/>
                          <a:ea typeface="Calibri" pitchFamily="34" charset="-122"/>
                          <a:cs typeface="Calibri" pitchFamily="34" charset="-120"/>
                        </a:rPr>
                        <a:t>Age</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c>
                  <a:txBody>
                    <a:bodyPr/>
                    <a:lstStyle/>
                    <a:p>
                      <a:pPr indent="0" marL="0">
                        <a:buNone/>
                      </a:pPr>
                      <a:r>
                        <a:rPr lang="en-US" sz="1500" b="1" dirty="0">
                          <a:solidFill>
                            <a:srgbClr val="1E2761"/>
                          </a:solidFill>
                          <a:latin typeface="Calibri" pitchFamily="34" charset="0"/>
                          <a:ea typeface="Calibri" pitchFamily="34" charset="-122"/>
                          <a:cs typeface="Calibri" pitchFamily="34" charset="-120"/>
                        </a:rPr>
                        <a:t>Austria</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Elementary school (kindergarten to grade 5)</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5–11</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Volksschule (age 6–10)</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Middle school (grades 6–8)</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11–14</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Mittelschule / AHS (age 10–14)</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High school (grades 9–12)</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14–18</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HAK, HTL, AHS Oberstufe (age 14–19)</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College / university</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18+</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Universität / FH</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bl>
          </a:graphicData>
        </a:graphic>
      </p:graphicFrame>
      <p:sp>
        <p:nvSpPr>
          <p:cNvPr id="4" name="text-16"/>
          <p:cNvSpPr txBox="1"/>
          <p:nvPr/>
        </p:nvSpPr>
        <p:spPr>
          <a:xfrm>
            <a:off x="457200" y="3429000"/>
            <a:ext cx="8229600" cy="411480"/>
          </a:xfrm>
          <a:prstGeom prst="rect">
            <a:avLst/>
          </a:prstGeom>
          <a:noFill/>
          <a:ln/>
        </p:spPr>
        <p:txBody>
          <a:bodyPr wrap="square" lIns="0" tIns="0" rIns="0" bIns="0" rtlCol="0" anchor="t"/>
          <a:lstStyle/>
          <a:p>
            <a:pPr indent="0" marL="0">
              <a:buNone/>
            </a:pPr>
            <a:r>
              <a:rPr lang="en-US" sz="1500" b="1" dirty="0">
                <a:solidFill>
                  <a:schemeClr val="tx1"/>
                </a:solidFill>
              </a:rPr>
              <a:t>High school years: </a:t>
            </a:r>
            <a:pPr indent="0" marL="0">
              <a:buNone/>
            </a:pPr>
            <a:r>
              <a:rPr lang="en-US" sz="1500" dirty="0">
                <a:solidFill>
                  <a:schemeClr val="tx1"/>
                </a:solidFill>
              </a:rPr>
              <a:t>9th grade = freshman, 10th = sophomore, 11th = junior, 12th = senior</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Life at an American high school</a:t>
            </a:r>
            <a:endParaRPr lang="en-US" sz="2800" dirty="0"/>
          </a:p>
        </p:txBody>
      </p:sp>
      <p:sp>
        <p:nvSpPr>
          <p:cNvPr id="3" name="text-17"/>
          <p:cNvSpPr txBox="1"/>
          <p:nvPr/>
        </p:nvSpPr>
        <p:spPr>
          <a:xfrm>
            <a:off x="457200" y="1188720"/>
            <a:ext cx="4754880" cy="3291840"/>
          </a:xfrm>
          <a:prstGeom prst="rect">
            <a:avLst/>
          </a:prstGeom>
          <a:noFill/>
          <a:ln/>
        </p:spPr>
        <p:txBody>
          <a:bodyPr wrap="square" lIns="0" tIns="0" rIns="0" bIns="0" rtlCol="0" anchor="t"/>
          <a:lstStyle/>
          <a:p>
            <a:pPr marL="203200" indent="-203200">
              <a:spcAft>
                <a:spcPts val="800"/>
              </a:spcAft>
              <a:buSzPct val="100000"/>
              <a:buChar char="•"/>
            </a:pPr>
            <a:r>
              <a:rPr lang="en-US" sz="1600" b="1" dirty="0">
                <a:solidFill>
                  <a:schemeClr val="tx1"/>
                </a:solidFill>
              </a:rPr>
              <a:t>School bus: </a:t>
            </a:r>
            <a:pPr indent="0" marL="0">
              <a:spcAft>
                <a:spcPts val="800"/>
              </a:spcAft>
              <a:buNone/>
            </a:pPr>
            <a:r>
              <a:rPr lang="en-US" sz="1600" dirty="0">
                <a:solidFill>
                  <a:schemeClr val="tx1"/>
                </a:solidFill>
              </a:rPr>
              <a:t>many students ride the yellow bus.</a:t>
            </a:r>
            <a:endParaRPr lang="en-US" sz="1600" dirty="0"/>
          </a:p>
          <a:p>
            <a:pPr marL="203200" indent="-203200">
              <a:spcAft>
                <a:spcPts val="800"/>
              </a:spcAft>
              <a:buSzPct val="100000"/>
              <a:buChar char="•"/>
            </a:pPr>
            <a:r>
              <a:rPr lang="en-US" sz="1600" b="1" dirty="0">
                <a:solidFill>
                  <a:schemeClr val="tx1"/>
                </a:solidFill>
              </a:rPr>
              <a:t>Sports teams: </a:t>
            </a:r>
            <a:pPr indent="0" marL="0">
              <a:spcAft>
                <a:spcPts val="800"/>
              </a:spcAft>
              <a:buNone/>
            </a:pPr>
            <a:r>
              <a:rPr lang="en-US" sz="1600" dirty="0">
                <a:solidFill>
                  <a:schemeClr val="tx1"/>
                </a:solidFill>
              </a:rPr>
              <a:t>football, basketball, track. The whole town watches.</a:t>
            </a:r>
            <a:endParaRPr lang="en-US" sz="1600" dirty="0"/>
          </a:p>
          <a:p>
            <a:pPr marL="203200" indent="-203200">
              <a:spcAft>
                <a:spcPts val="800"/>
              </a:spcAft>
              <a:buSzPct val="100000"/>
              <a:buChar char="•"/>
            </a:pPr>
            <a:r>
              <a:rPr lang="en-US" sz="1600" b="1" dirty="0">
                <a:solidFill>
                  <a:schemeClr val="tx1"/>
                </a:solidFill>
              </a:rPr>
              <a:t>Clubs: </a:t>
            </a:r>
            <a:pPr indent="0" marL="0">
              <a:spcAft>
                <a:spcPts val="800"/>
              </a:spcAft>
              <a:buNone/>
            </a:pPr>
            <a:r>
              <a:rPr lang="en-US" sz="1600" dirty="0">
                <a:solidFill>
                  <a:schemeClr val="tx1"/>
                </a:solidFill>
              </a:rPr>
              <a:t>band, drama, debate, robotics…</a:t>
            </a:r>
            <a:endParaRPr lang="en-US" sz="1600" dirty="0"/>
          </a:p>
          <a:p>
            <a:pPr marL="203200" indent="-203200">
              <a:spcAft>
                <a:spcPts val="800"/>
              </a:spcAft>
              <a:buSzPct val="100000"/>
              <a:buChar char="•"/>
            </a:pPr>
            <a:r>
              <a:rPr lang="en-US" sz="1600" b="1" dirty="0">
                <a:solidFill>
                  <a:schemeClr val="tx1"/>
                </a:solidFill>
              </a:rPr>
              <a:t>Prom: </a:t>
            </a:r>
            <a:pPr indent="0" marL="0">
              <a:spcAft>
                <a:spcPts val="800"/>
              </a:spcAft>
              <a:buNone/>
            </a:pPr>
            <a:r>
              <a:rPr lang="en-US" sz="1600" dirty="0">
                <a:solidFill>
                  <a:schemeClr val="tx1"/>
                </a:solidFill>
              </a:rPr>
              <a:t>a big formal dance at the end of the year.</a:t>
            </a:r>
            <a:endParaRPr lang="en-US" sz="1600" dirty="0"/>
          </a:p>
          <a:p>
            <a:pPr marL="203200" indent="-203200">
              <a:spcAft>
                <a:spcPts val="800"/>
              </a:spcAft>
              <a:buSzPct val="100000"/>
              <a:buChar char="•"/>
            </a:pPr>
            <a:r>
              <a:rPr lang="en-US" sz="1600" b="1" dirty="0">
                <a:solidFill>
                  <a:schemeClr val="tx1"/>
                </a:solidFill>
              </a:rPr>
              <a:t>Grades A–F: </a:t>
            </a:r>
            <a:pPr indent="0" marL="0">
              <a:spcAft>
                <a:spcPts val="800"/>
              </a:spcAft>
              <a:buNone/>
            </a:pPr>
            <a:r>
              <a:rPr lang="en-US" sz="1600" dirty="0">
                <a:solidFill>
                  <a:schemeClr val="tx1"/>
                </a:solidFill>
              </a:rPr>
              <a:t>A is best, F means fail. The average is the GPA.</a:t>
            </a:r>
            <a:endParaRPr lang="en-US" sz="1600" dirty="0"/>
          </a:p>
          <a:p>
            <a:pPr marL="203200" indent="-203200">
              <a:spcAft>
                <a:spcPts val="800"/>
              </a:spcAft>
              <a:buSzPct val="100000"/>
              <a:buChar char="•"/>
            </a:pPr>
            <a:r>
              <a:rPr lang="en-US" sz="1600" b="1" dirty="0">
                <a:solidFill>
                  <a:schemeClr val="tx1"/>
                </a:solidFill>
              </a:rPr>
              <a:t>Diploma: </a:t>
            </a:r>
            <a:pPr indent="0" marL="0">
              <a:spcAft>
                <a:spcPts val="800"/>
              </a:spcAft>
              <a:buNone/>
            </a:pPr>
            <a:r>
              <a:rPr lang="en-US" sz="1600" dirty="0">
                <a:solidFill>
                  <a:schemeClr val="tx1"/>
                </a:solidFill>
              </a:rPr>
              <a:t>there is no Matura. You graduate with a diploma.</a:t>
            </a:r>
            <a:endParaRPr lang="en-US" sz="1600" dirty="0"/>
          </a:p>
        </p:txBody>
      </p:sp>
      <p:sp>
        <p:nvSpPr>
          <p:cNvPr id="4" name="text-18"/>
          <p:cNvSpPr txBox="1"/>
          <p:nvPr/>
        </p:nvSpPr>
        <p:spPr>
          <a:xfrm>
            <a:off x="5577840" y="1234440"/>
            <a:ext cx="3108960" cy="2743200"/>
          </a:xfrm>
          <a:prstGeom prst="rect">
            <a:avLst/>
          </a:prstGeom>
          <a:noFill/>
          <a:ln/>
        </p:spPr>
        <p:txBody>
          <a:bodyPr wrap="square" lIns="0" tIns="0" rIns="0" bIns="0" rtlCol="0" anchor="t"/>
          <a:lstStyle/>
          <a:p>
            <a:pPr indent="0" marL="0">
              <a:buNone/>
            </a:pPr>
            <a:r>
              <a:rPr lang="en-US" sz="1500" dirty="0">
                <a:solidFill>
                  <a:schemeClr val="tx2"/>
                </a:solidFill>
              </a:rPr>
              <a:t>About 9 in 10 students go to public schools, which are free.</a:t>
            </a:r>
            <a:endParaRPr lang="en-US" sz="1500" dirty="0"/>
          </a:p>
          <a:p>
            <a:pPr indent="0" marL="0">
              <a:buNone/>
            </a:pPr>
            <a:r>
              <a:rPr lang="en-US" sz="800" dirty="0">
                <a:solidFill>
                  <a:schemeClr val="tx2"/>
                </a:solidFill>
              </a:rPr>
              <a:t> </a:t>
            </a:r>
            <a:endParaRPr lang="en-US" sz="1500" dirty="0"/>
          </a:p>
          <a:p>
            <a:pPr indent="0" marL="0">
              <a:buNone/>
            </a:pPr>
            <a:r>
              <a:rPr lang="en-US" sz="1500" b="1" dirty="0">
                <a:solidFill>
                  <a:schemeClr val="tx2"/>
                </a:solidFill>
              </a:rPr>
              <a:t>But a big part of the money comes from local property taxes. Rich town, rich school. Poor town, poor school.</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College or university?</a:t>
            </a:r>
            <a:endParaRPr lang="en-US" sz="2800" dirty="0"/>
          </a:p>
        </p:txBody>
      </p:sp>
      <p:sp>
        <p:nvSpPr>
          <p:cNvPr id="3" name="text-19"/>
          <p:cNvSpPr txBox="1"/>
          <p:nvPr/>
        </p:nvSpPr>
        <p:spPr>
          <a:xfrm>
            <a:off x="457200" y="1097280"/>
            <a:ext cx="8229600" cy="365760"/>
          </a:xfrm>
          <a:prstGeom prst="rect">
            <a:avLst/>
          </a:prstGeom>
          <a:noFill/>
          <a:ln/>
        </p:spPr>
        <p:txBody>
          <a:bodyPr wrap="square" lIns="0" tIns="0" rIns="0" bIns="0" rtlCol="0" anchor="t"/>
          <a:lstStyle/>
          <a:p>
            <a:pPr indent="0" marL="0">
              <a:buNone/>
            </a:pPr>
            <a:r>
              <a:rPr lang="en-US" sz="1600" i="1" dirty="0">
                <a:solidFill>
                  <a:schemeClr val="tx1"/>
                </a:solidFill>
              </a:rPr>
              <a:t>Americans say "I'm going to college" for any kind of higher education.</a:t>
            </a:r>
            <a:endParaRPr lang="en-US" sz="1600" dirty="0"/>
          </a:p>
        </p:txBody>
      </p:sp>
      <p:graphicFrame>
        <p:nvGraphicFramePr>
          <p:cNvPr id="15" name="table-20"/>
          <p:cNvGraphicFramePr>
            <a:graphicFrameLocks noGrp="1"/>
          </p:cNvGraphicFramePr>
          <p:nvPr>
            <p:extLst>
              <p:ext uri="{D42A27DB-BD31-4B8C-83A1-F6EECF244321}">
                <p14:modId xmlns:p14="http://schemas.microsoft.com/office/powerpoint/2010/main" val="1579011935"/>
              </p:ext>
            </p:extLst>
          </p:nvPr>
        </p:nvGraphicFramePr>
        <p:xfrm>
          <a:off x="457200" y="1600200"/>
          <a:ext cx="8229600" cy="914400"/>
        </p:xfrm>
        <a:graphic>
          <a:graphicData uri="http://schemas.openxmlformats.org/drawingml/2006/table">
            <a:tbl>
              <a:tblPr/>
              <a:tblGrid>
                <a:gridCol w="2377440"/>
                <a:gridCol w="1645920"/>
                <a:gridCol w="4206240"/>
              </a:tblGrid>
              <a:tr h="0">
                <a:tc>
                  <a:txBody>
                    <a:bodyPr/>
                    <a:lstStyle/>
                    <a:p>
                      <a:pPr indent="0" marL="0">
                        <a:buNone/>
                      </a:pPr>
                      <a:r>
                        <a:rPr lang="en-US" sz="1500" b="1" dirty="0">
                          <a:solidFill>
                            <a:srgbClr val="1E2761"/>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c>
                  <a:txBody>
                    <a:bodyPr/>
                    <a:lstStyle/>
                    <a:p>
                      <a:pPr indent="0" marL="0">
                        <a:buNone/>
                      </a:pPr>
                      <a:r>
                        <a:rPr lang="en-US" sz="1500" b="1" dirty="0">
                          <a:solidFill>
                            <a:srgbClr val="1E2761"/>
                          </a:solidFill>
                          <a:latin typeface="Calibri" pitchFamily="34" charset="0"/>
                          <a:ea typeface="Calibri" pitchFamily="34" charset="-122"/>
                          <a:cs typeface="Calibri" pitchFamily="34" charset="-120"/>
                        </a:rPr>
                        <a:t>Tuition per year</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c>
                  <a:txBody>
                    <a:bodyPr/>
                    <a:lstStyle/>
                    <a:p>
                      <a:pPr indent="0" marL="0">
                        <a:buNone/>
                      </a:pPr>
                      <a:r>
                        <a:rPr lang="en-US" sz="1500" b="1" dirty="0">
                          <a:solidFill>
                            <a:srgbClr val="1E2761"/>
                          </a:solidFill>
                          <a:latin typeface="Calibri" pitchFamily="34" charset="0"/>
                          <a:ea typeface="Calibri" pitchFamily="34" charset="-122"/>
                          <a:cs typeface="Calibri" pitchFamily="34" charset="-120"/>
                        </a:rPr>
                        <a:t>Notes</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15875" cap="flat" cmpd="sng" algn="ctr">
                      <a:solidFill>
                        <a:srgbClr val="1E2761"/>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Community college</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$4,150</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2 years, close to home. Many students change to a university later.</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State university (public)</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$11,950</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Students from other states pay much more (about $31,880).</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r h="0">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Private university</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$45,000</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c>
                  <a:txBody>
                    <a:bodyPr/>
                    <a:lstStyle/>
                    <a:p>
                      <a:pPr indent="0" marL="0">
                        <a:buNone/>
                      </a:pPr>
                      <a:r>
                        <a:rPr lang="en-US" sz="1500" dirty="0">
                          <a:solidFill>
                            <a:srgbClr val="1B1F2E"/>
                          </a:solidFill>
                          <a:latin typeface="Calibri" pitchFamily="34" charset="0"/>
                          <a:ea typeface="Calibri" pitchFamily="34" charset="-122"/>
                          <a:cs typeface="Calibri" pitchFamily="34" charset="-120"/>
                        </a:rPr>
                        <a:t>e.g. Harvard, Yale, Stanford. Many students get scholarships.</a:t>
                      </a:r>
                      <a:endParaRPr lang="en-US" sz="1500" dirty="0">
                        <a:latin typeface="Calibri" charset="0"/>
                        <a:ea typeface="Calibri" charset="0"/>
                        <a:cs typeface="Calibri" charset="0"/>
                      </a:endParaRPr>
                    </a:p>
                  </a:txBody>
                  <a:tcPr marL="0" marR="76200" marT="63500" marB="63500" anchor="ctr">
                    <a:lnL w="0" cap="flat" cmpd="sng" algn="ctr">
                      <a:noFill/>
                    </a:lnL>
                    <a:lnR w="0" cap="flat" cmpd="sng" algn="ctr">
                      <a:noFill/>
                    </a:lnR>
                    <a:lnT w="0" cap="flat" cmpd="sng" algn="ctr">
                      <a:noFill/>
                    </a:lnT>
                    <a:lnB w="9525" cap="flat" cmpd="sng" algn="ctr">
                      <a:solidFill>
                        <a:srgbClr val="C9CCD8"/>
                      </a:solidFill>
                      <a:prstDash val="solid"/>
                      <a:round/>
                      <a:headEnd type="none" w="med" len="med"/>
                      <a:tailEnd type="none" w="med" len="med"/>
                    </a:lnB>
                  </a:tcPr>
                </a:tc>
              </a:tr>
            </a:tbl>
          </a:graphicData>
        </a:graphic>
      </p:graphicFrame>
      <p:sp>
        <p:nvSpPr>
          <p:cNvPr id="5" name="text-21"/>
          <p:cNvSpPr txBox="1"/>
          <p:nvPr/>
        </p:nvSpPr>
        <p:spPr>
          <a:xfrm>
            <a:off x="457200" y="4434840"/>
            <a:ext cx="7589520" cy="274320"/>
          </a:xfrm>
          <a:prstGeom prst="rect">
            <a:avLst/>
          </a:prstGeom>
          <a:noFill/>
          <a:ln/>
        </p:spPr>
        <p:txBody>
          <a:bodyPr wrap="square" lIns="0" tIns="0" rIns="0" bIns="0" rtlCol="0" anchor="t"/>
          <a:lstStyle/>
          <a:p>
            <a:pPr indent="0" marL="0">
              <a:buNone/>
            </a:pPr>
            <a:r>
              <a:rPr lang="en-US" sz="900" dirty="0">
                <a:solidFill>
                  <a:schemeClr val="accent4"/>
                </a:solidFill>
              </a:rPr>
              <a:t>Average published tuition and fees, 2025–26. Source: College Board. Living costs (room, food, books) come on top.</a:t>
            </a:r>
            <a:endParaRPr lang="en-US" sz="9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Getting in and paying for it</a:t>
            </a:r>
            <a:endParaRPr lang="en-US" sz="2800" dirty="0"/>
          </a:p>
        </p:txBody>
      </p:sp>
      <p:sp>
        <p:nvSpPr>
          <p:cNvPr id="3" name="text-22"/>
          <p:cNvSpPr txBox="1"/>
          <p:nvPr/>
        </p:nvSpPr>
        <p:spPr>
          <a:xfrm>
            <a:off x="457200" y="1143000"/>
            <a:ext cx="3840480" cy="365760"/>
          </a:xfrm>
          <a:prstGeom prst="rect">
            <a:avLst/>
          </a:prstGeom>
          <a:noFill/>
          <a:ln/>
        </p:spPr>
        <p:txBody>
          <a:bodyPr wrap="square" lIns="0" tIns="0" rIns="0" bIns="0" rtlCol="0" anchor="t"/>
          <a:lstStyle/>
          <a:p>
            <a:pPr indent="0" marL="0">
              <a:buNone/>
            </a:pPr>
            <a:r>
              <a:rPr lang="en-US" sz="1700" b="1" dirty="0">
                <a:solidFill>
                  <a:schemeClr val="tx2"/>
                </a:solidFill>
              </a:rPr>
              <a:t>How do you get in?</a:t>
            </a:r>
            <a:endParaRPr lang="en-US" sz="1700" dirty="0"/>
          </a:p>
        </p:txBody>
      </p:sp>
      <p:sp>
        <p:nvSpPr>
          <p:cNvPr id="4" name="text-23"/>
          <p:cNvSpPr txBox="1"/>
          <p:nvPr/>
        </p:nvSpPr>
        <p:spPr>
          <a:xfrm>
            <a:off x="457200" y="1600200"/>
            <a:ext cx="384048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Good grades (GPA)</a:t>
            </a:r>
            <a:endParaRPr lang="en-US" sz="1500" dirty="0"/>
          </a:p>
          <a:p>
            <a:pPr marL="203200" indent="-203200">
              <a:spcAft>
                <a:spcPts val="800"/>
              </a:spcAft>
              <a:buSzPct val="100000"/>
              <a:buChar char="•"/>
            </a:pPr>
            <a:r>
              <a:rPr lang="en-US" sz="1500" dirty="0">
                <a:solidFill>
                  <a:schemeClr val="tx1"/>
                </a:solidFill>
              </a:rPr>
              <a:t>A test: the SAT or ACT</a:t>
            </a:r>
            <a:endParaRPr lang="en-US" sz="1500" dirty="0"/>
          </a:p>
          <a:p>
            <a:pPr marL="203200" indent="-203200">
              <a:spcAft>
                <a:spcPts val="800"/>
              </a:spcAft>
              <a:buSzPct val="100000"/>
              <a:buChar char="•"/>
            </a:pPr>
            <a:r>
              <a:rPr lang="en-US" sz="1500" dirty="0">
                <a:solidFill>
                  <a:schemeClr val="tx1"/>
                </a:solidFill>
              </a:rPr>
              <a:t>A personal essay</a:t>
            </a:r>
            <a:endParaRPr lang="en-US" sz="1500" dirty="0"/>
          </a:p>
          <a:p>
            <a:pPr marL="203200" indent="-203200">
              <a:spcAft>
                <a:spcPts val="800"/>
              </a:spcAft>
              <a:buSzPct val="100000"/>
              <a:buChar char="•"/>
            </a:pPr>
            <a:r>
              <a:rPr lang="en-US" sz="1500" dirty="0">
                <a:solidFill>
                  <a:schemeClr val="tx1"/>
                </a:solidFill>
              </a:rPr>
              <a:t>Activities: sports, clubs, volunteering</a:t>
            </a:r>
            <a:endParaRPr lang="en-US" sz="1500" dirty="0"/>
          </a:p>
          <a:p>
            <a:pPr marL="203200" indent="-203200">
              <a:spcAft>
                <a:spcPts val="800"/>
              </a:spcAft>
              <a:buSzPct val="100000"/>
              <a:buChar char="•"/>
            </a:pPr>
            <a:r>
              <a:rPr lang="en-US" sz="1500" dirty="0">
                <a:solidFill>
                  <a:schemeClr val="tx1"/>
                </a:solidFill>
              </a:rPr>
              <a:t>Letters of recommendation</a:t>
            </a:r>
            <a:endParaRPr lang="en-US" sz="1500" dirty="0"/>
          </a:p>
        </p:txBody>
      </p:sp>
      <p:sp>
        <p:nvSpPr>
          <p:cNvPr id="5" name="text-24"/>
          <p:cNvSpPr txBox="1"/>
          <p:nvPr/>
        </p:nvSpPr>
        <p:spPr>
          <a:xfrm>
            <a:off x="4754880" y="1143000"/>
            <a:ext cx="3931920" cy="365760"/>
          </a:xfrm>
          <a:prstGeom prst="rect">
            <a:avLst/>
          </a:prstGeom>
          <a:noFill/>
          <a:ln/>
        </p:spPr>
        <p:txBody>
          <a:bodyPr wrap="square" lIns="0" tIns="0" rIns="0" bIns="0" rtlCol="0" anchor="t"/>
          <a:lstStyle/>
          <a:p>
            <a:pPr indent="0" marL="0">
              <a:buNone/>
            </a:pPr>
            <a:r>
              <a:rPr lang="en-US" sz="1700" b="1" dirty="0">
                <a:solidFill>
                  <a:schemeClr val="tx2"/>
                </a:solidFill>
              </a:rPr>
              <a:t>Paying for it</a:t>
            </a:r>
            <a:endParaRPr lang="en-US" sz="1700" dirty="0"/>
          </a:p>
        </p:txBody>
      </p:sp>
      <p:sp>
        <p:nvSpPr>
          <p:cNvPr id="6" name="text-25"/>
          <p:cNvSpPr txBox="1"/>
          <p:nvPr/>
        </p:nvSpPr>
        <p:spPr>
          <a:xfrm>
            <a:off x="4754880" y="1600200"/>
            <a:ext cx="393192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Americans owe about $1.87 trillion in student loans (2026).</a:t>
            </a:r>
            <a:endParaRPr lang="en-US" sz="1500" dirty="0"/>
          </a:p>
          <a:p>
            <a:pPr marL="203200" indent="-203200">
              <a:spcAft>
                <a:spcPts val="800"/>
              </a:spcAft>
              <a:buSzPct val="100000"/>
              <a:buChar char="•"/>
            </a:pPr>
            <a:r>
              <a:rPr lang="en-US" sz="1500" dirty="0">
                <a:solidFill>
                  <a:schemeClr val="tx1"/>
                </a:solidFill>
              </a:rPr>
              <a:t>About 42.6 million people have federal student loans.</a:t>
            </a:r>
            <a:endParaRPr lang="en-US" sz="1500" dirty="0"/>
          </a:p>
          <a:p>
            <a:pPr marL="203200" indent="-203200">
              <a:spcAft>
                <a:spcPts val="800"/>
              </a:spcAft>
              <a:buSzPct val="100000"/>
              <a:buChar char="•"/>
            </a:pPr>
            <a:r>
              <a:rPr lang="en-US" sz="1500" dirty="0">
                <a:solidFill>
                  <a:schemeClr val="tx1"/>
                </a:solidFill>
              </a:rPr>
              <a:t>In Austria, public universities are mostly free for EU students. You only pay a small ÖH fee.</a:t>
            </a:r>
            <a:endParaRPr lang="en-US" sz="1500" dirty="0"/>
          </a:p>
        </p:txBody>
      </p:sp>
      <p:sp>
        <p:nvSpPr>
          <p:cNvPr id="7" name="text-26"/>
          <p:cNvSpPr txBox="1"/>
          <p:nvPr/>
        </p:nvSpPr>
        <p:spPr>
          <a:xfrm>
            <a:off x="457200" y="4434840"/>
            <a:ext cx="7589520" cy="274320"/>
          </a:xfrm>
          <a:prstGeom prst="rect">
            <a:avLst/>
          </a:prstGeom>
          <a:noFill/>
          <a:ln/>
        </p:spPr>
        <p:txBody>
          <a:bodyPr wrap="square" lIns="0" tIns="0" rIns="0" bIns="0" rtlCol="0" anchor="t"/>
          <a:lstStyle/>
          <a:p>
            <a:pPr indent="0" marL="0">
              <a:buNone/>
            </a:pPr>
            <a:r>
              <a:rPr lang="en-US" sz="900" dirty="0">
                <a:solidFill>
                  <a:schemeClr val="accent4"/>
                </a:solidFill>
              </a:rPr>
              <a:t>Sources: Federal Reserve and Federal Student Aid, Q1 2026.</a:t>
            </a:r>
            <a:endParaRPr lang="en-US" sz="9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Should background matter?</a:t>
            </a:r>
            <a:endParaRPr lang="en-US" sz="2800" dirty="0"/>
          </a:p>
        </p:txBody>
      </p:sp>
      <p:sp>
        <p:nvSpPr>
          <p:cNvPr id="3" name="text-27"/>
          <p:cNvSpPr txBox="1"/>
          <p:nvPr/>
        </p:nvSpPr>
        <p:spPr>
          <a:xfrm>
            <a:off x="457200" y="1097280"/>
            <a:ext cx="8229600" cy="777240"/>
          </a:xfrm>
          <a:prstGeom prst="rect">
            <a:avLst/>
          </a:prstGeom>
          <a:noFill/>
          <a:ln/>
        </p:spPr>
        <p:txBody>
          <a:bodyPr wrap="square" lIns="0" tIns="0" rIns="0" bIns="0" rtlCol="0" anchor="t"/>
          <a:lstStyle/>
          <a:p>
            <a:pPr indent="0" marL="0">
              <a:buNone/>
            </a:pPr>
            <a:r>
              <a:rPr lang="en-US" sz="1500" dirty="0">
                <a:solidFill>
                  <a:schemeClr val="tx1"/>
                </a:solidFill>
              </a:rPr>
              <a:t>For decades, many universities considered race when choosing students, to make campuses more diverse ("affirmative action"). In 2023, the US Supreme Court decided this is no longer allowed.</a:t>
            </a:r>
            <a:endParaRPr lang="en-US" sz="1500" dirty="0"/>
          </a:p>
        </p:txBody>
      </p:sp>
      <p:sp>
        <p:nvSpPr>
          <p:cNvPr id="4" name="text-28"/>
          <p:cNvSpPr txBox="1"/>
          <p:nvPr/>
        </p:nvSpPr>
        <p:spPr>
          <a:xfrm>
            <a:off x="457200" y="2057400"/>
            <a:ext cx="3931920" cy="365760"/>
          </a:xfrm>
          <a:prstGeom prst="rect">
            <a:avLst/>
          </a:prstGeom>
          <a:noFill/>
          <a:ln/>
        </p:spPr>
        <p:txBody>
          <a:bodyPr wrap="square" lIns="0" tIns="0" rIns="0" bIns="0" rtlCol="0" anchor="t"/>
          <a:lstStyle/>
          <a:p>
            <a:pPr indent="0" marL="0">
              <a:buNone/>
            </a:pPr>
            <a:r>
              <a:rPr lang="en-US" sz="1500" b="1" dirty="0">
                <a:solidFill>
                  <a:schemeClr val="tx2"/>
                </a:solidFill>
              </a:rPr>
              <a:t>Supporters of the decision say…</a:t>
            </a:r>
            <a:endParaRPr lang="en-US" sz="1500" dirty="0"/>
          </a:p>
        </p:txBody>
      </p:sp>
      <p:sp>
        <p:nvSpPr>
          <p:cNvPr id="5" name="text-29"/>
          <p:cNvSpPr txBox="1"/>
          <p:nvPr/>
        </p:nvSpPr>
        <p:spPr>
          <a:xfrm>
            <a:off x="457200" y="2468880"/>
            <a:ext cx="3931920" cy="1097280"/>
          </a:xfrm>
          <a:prstGeom prst="rect">
            <a:avLst/>
          </a:prstGeom>
          <a:noFill/>
          <a:ln/>
        </p:spPr>
        <p:txBody>
          <a:bodyPr wrap="square" lIns="0" tIns="0" rIns="0" bIns="0" rtlCol="0" anchor="t"/>
          <a:lstStyle/>
          <a:p>
            <a:pPr indent="0" marL="0">
              <a:buNone/>
            </a:pPr>
            <a:r>
              <a:rPr lang="en-US" sz="1500" dirty="0">
                <a:solidFill>
                  <a:schemeClr val="tx1"/>
                </a:solidFill>
              </a:rPr>
              <a:t>Every student should be judged as an individual, not by skin colour. Choosing by race is unfair to others.</a:t>
            </a:r>
            <a:endParaRPr lang="en-US" sz="1500" dirty="0"/>
          </a:p>
        </p:txBody>
      </p:sp>
      <p:sp>
        <p:nvSpPr>
          <p:cNvPr id="6" name="text-30"/>
          <p:cNvSpPr txBox="1"/>
          <p:nvPr/>
        </p:nvSpPr>
        <p:spPr>
          <a:xfrm>
            <a:off x="4754880" y="2057400"/>
            <a:ext cx="3931920" cy="365760"/>
          </a:xfrm>
          <a:prstGeom prst="rect">
            <a:avLst/>
          </a:prstGeom>
          <a:noFill/>
          <a:ln/>
        </p:spPr>
        <p:txBody>
          <a:bodyPr wrap="square" lIns="0" tIns="0" rIns="0" bIns="0" rtlCol="0" anchor="t"/>
          <a:lstStyle/>
          <a:p>
            <a:pPr indent="0" marL="0">
              <a:buNone/>
            </a:pPr>
            <a:r>
              <a:rPr lang="en-US" sz="1500" b="1" dirty="0">
                <a:solidFill>
                  <a:schemeClr val="tx2"/>
                </a:solidFill>
              </a:rPr>
              <a:t>Critics of the decision say…</a:t>
            </a:r>
            <a:endParaRPr lang="en-US" sz="1500" dirty="0"/>
          </a:p>
        </p:txBody>
      </p:sp>
      <p:sp>
        <p:nvSpPr>
          <p:cNvPr id="7" name="text-31"/>
          <p:cNvSpPr txBox="1"/>
          <p:nvPr/>
        </p:nvSpPr>
        <p:spPr>
          <a:xfrm>
            <a:off x="4754880" y="2468880"/>
            <a:ext cx="3931920" cy="1097280"/>
          </a:xfrm>
          <a:prstGeom prst="rect">
            <a:avLst/>
          </a:prstGeom>
          <a:noFill/>
          <a:ln/>
        </p:spPr>
        <p:txBody>
          <a:bodyPr wrap="square" lIns="0" tIns="0" rIns="0" bIns="0" rtlCol="0" anchor="t"/>
          <a:lstStyle/>
          <a:p>
            <a:pPr indent="0" marL="0">
              <a:buNone/>
            </a:pPr>
            <a:r>
              <a:rPr lang="en-US" sz="1500" dirty="0">
                <a:solidFill>
                  <a:schemeClr val="tx1"/>
                </a:solidFill>
              </a:rPr>
              <a:t>Some groups still have fewer chances (poorer schools, less money). Without it, campuses become less diverse.</a:t>
            </a:r>
            <a:endParaRPr lang="en-US" sz="1500" dirty="0"/>
          </a:p>
        </p:txBody>
      </p:sp>
      <p:sp>
        <p:nvSpPr>
          <p:cNvPr id="8" name="text-32"/>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500" i="1" dirty="0">
                <a:solidFill>
                  <a:schemeClr val="tx1"/>
                </a:solidFill>
              </a:rPr>
              <a:t>And what about "legacy" students? Some universities prefer children of former students. Is that fair?</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914400"/>
          </a:xfrm>
          <a:prstGeom prst="rect">
            <a:avLst/>
          </a:prstGeom>
          <a:noFill/>
          <a:ln/>
        </p:spPr>
        <p:txBody>
          <a:bodyPr wrap="square" lIns="0" tIns="0" rIns="0" bIns="0" rtlCol="0" anchor="b"/>
          <a:lstStyle/>
          <a:p>
            <a:pPr algn="l" indent="0" marL="0">
              <a:buNone/>
            </a:pPr>
            <a:r>
              <a:rPr lang="en-US" sz="3400" b="1" dirty="0">
                <a:solidFill>
                  <a:schemeClr val="tx2"/>
                </a:solidFill>
              </a:rPr>
              <a:t>Your turn</a:t>
            </a:r>
            <a:endParaRPr lang="en-US" sz="3400" dirty="0"/>
          </a:p>
        </p:txBody>
      </p:sp>
      <p:sp>
        <p:nvSpPr>
          <p:cNvPr id="3" name="Text 0"/>
          <p:cNvSpPr/>
          <p:nvPr>
            <p:ph idx="101" type="body" hasCustomPrompt="1"/>
          </p:nvPr>
        </p:nvSpPr>
        <p:spPr>
          <a:xfrm>
            <a:off x="548640" y="2743200"/>
            <a:ext cx="8046720" cy="457200"/>
          </a:xfrm>
          <a:prstGeom prst="rect">
            <a:avLst/>
          </a:prstGeom>
          <a:noFill/>
          <a:ln/>
        </p:spPr>
        <p:txBody>
          <a:bodyPr wrap="square" lIns="0" tIns="0" rIns="0" bIns="0" rtlCol="0" anchor="t"/>
          <a:lstStyle/>
          <a:p>
            <a:pPr algn="l" indent="0" marL="0">
              <a:buNone/>
            </a:pPr>
            <a:r>
              <a:rPr lang="en-US" sz="1800" dirty="0">
                <a:solidFill>
                  <a:schemeClr val="accent4"/>
                </a:solidFill>
              </a:rPr>
              <a:t>Round 1: Team quiz  ·  Round 2: What do you think?</a:t>
            </a:r>
            <a:endParaRPr lang="en-US" sz="18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Team quiz: questions 1–4</a:t>
            </a:r>
            <a:endParaRPr lang="en-US" sz="2800" dirty="0"/>
          </a:p>
        </p:txBody>
      </p:sp>
      <p:sp>
        <p:nvSpPr>
          <p:cNvPr id="3" name="text-33"/>
          <p:cNvSpPr txBox="1"/>
          <p:nvPr/>
        </p:nvSpPr>
        <p:spPr>
          <a:xfrm>
            <a:off x="457200" y="1143000"/>
            <a:ext cx="3977640" cy="169164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1. What did Brown v. Board of Education (1954) decide?</a:t>
            </a:r>
            <a:endParaRPr lang="en-US" sz="1500" dirty="0"/>
          </a:p>
          <a:p>
            <a:pPr indent="0" marL="0">
              <a:spcAft>
                <a:spcPts val="300"/>
              </a:spcAft>
              <a:buNone/>
            </a:pPr>
            <a:r>
              <a:rPr lang="en-US" sz="1500" dirty="0">
                <a:solidFill>
                  <a:schemeClr val="tx1"/>
                </a:solidFill>
              </a:rPr>
              <a:t>A)  Women are allowed to vote.</a:t>
            </a:r>
            <a:endParaRPr lang="en-US" sz="1500" dirty="0"/>
          </a:p>
          <a:p>
            <a:pPr indent="0" marL="0">
              <a:spcAft>
                <a:spcPts val="300"/>
              </a:spcAft>
              <a:buNone/>
            </a:pPr>
            <a:r>
              <a:rPr lang="en-US" sz="1500" dirty="0">
                <a:solidFill>
                  <a:schemeClr val="tx1"/>
                </a:solidFill>
              </a:rPr>
              <a:t>B)  Separate schools for Black and white children are unconstitutional.</a:t>
            </a:r>
            <a:endParaRPr lang="en-US" sz="1500" dirty="0"/>
          </a:p>
          <a:p>
            <a:pPr indent="0" marL="0">
              <a:spcAft>
                <a:spcPts val="300"/>
              </a:spcAft>
              <a:buNone/>
            </a:pPr>
            <a:r>
              <a:rPr lang="en-US" sz="1500" dirty="0">
                <a:solidFill>
                  <a:schemeClr val="tx1"/>
                </a:solidFill>
              </a:rPr>
              <a:t>C)  English is the official language.</a:t>
            </a:r>
            <a:endParaRPr lang="en-US" sz="1500" dirty="0"/>
          </a:p>
        </p:txBody>
      </p:sp>
      <p:sp>
        <p:nvSpPr>
          <p:cNvPr id="4" name="text-34"/>
          <p:cNvSpPr txBox="1"/>
          <p:nvPr/>
        </p:nvSpPr>
        <p:spPr>
          <a:xfrm>
            <a:off x="4709160" y="1143000"/>
            <a:ext cx="3977640" cy="169164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2. Which group makes up about 1 in 5 Americans?</a:t>
            </a:r>
            <a:endParaRPr lang="en-US" sz="1500" dirty="0"/>
          </a:p>
          <a:p>
            <a:pPr indent="0" marL="0">
              <a:spcAft>
                <a:spcPts val="300"/>
              </a:spcAft>
              <a:buNone/>
            </a:pPr>
            <a:r>
              <a:rPr lang="en-US" sz="1500" dirty="0">
                <a:solidFill>
                  <a:schemeClr val="tx1"/>
                </a:solidFill>
              </a:rPr>
              <a:t>A)  Asian Americans</a:t>
            </a:r>
            <a:endParaRPr lang="en-US" sz="1500" dirty="0"/>
          </a:p>
          <a:p>
            <a:pPr indent="0" marL="0">
              <a:spcAft>
                <a:spcPts val="300"/>
              </a:spcAft>
              <a:buNone/>
            </a:pPr>
            <a:r>
              <a:rPr lang="en-US" sz="1500" dirty="0">
                <a:solidFill>
                  <a:schemeClr val="tx1"/>
                </a:solidFill>
              </a:rPr>
              <a:t>B)  Native Americans</a:t>
            </a:r>
            <a:endParaRPr lang="en-US" sz="1500" dirty="0"/>
          </a:p>
          <a:p>
            <a:pPr indent="0" marL="0">
              <a:spcAft>
                <a:spcPts val="300"/>
              </a:spcAft>
              <a:buNone/>
            </a:pPr>
            <a:r>
              <a:rPr lang="en-US" sz="1500" dirty="0">
                <a:solidFill>
                  <a:schemeClr val="tx1"/>
                </a:solidFill>
              </a:rPr>
              <a:t>C)  Hispanic or Latino Americans</a:t>
            </a:r>
            <a:endParaRPr lang="en-US" sz="1500" dirty="0"/>
          </a:p>
        </p:txBody>
      </p:sp>
      <p:sp>
        <p:nvSpPr>
          <p:cNvPr id="5" name="text-35"/>
          <p:cNvSpPr txBox="1"/>
          <p:nvPr/>
        </p:nvSpPr>
        <p:spPr>
          <a:xfrm>
            <a:off x="457200" y="2926080"/>
            <a:ext cx="3977640" cy="169164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3. A student in 11th grade is a…</a:t>
            </a:r>
            <a:endParaRPr lang="en-US" sz="1500" dirty="0"/>
          </a:p>
          <a:p>
            <a:pPr indent="0" marL="0">
              <a:spcAft>
                <a:spcPts val="300"/>
              </a:spcAft>
              <a:buNone/>
            </a:pPr>
            <a:r>
              <a:rPr lang="en-US" sz="1500" dirty="0">
                <a:solidFill>
                  <a:schemeClr val="tx1"/>
                </a:solidFill>
              </a:rPr>
              <a:t>A)  junior</a:t>
            </a:r>
            <a:endParaRPr lang="en-US" sz="1500" dirty="0"/>
          </a:p>
          <a:p>
            <a:pPr indent="0" marL="0">
              <a:spcAft>
                <a:spcPts val="300"/>
              </a:spcAft>
              <a:buNone/>
            </a:pPr>
            <a:r>
              <a:rPr lang="en-US" sz="1500" dirty="0">
                <a:solidFill>
                  <a:schemeClr val="tx1"/>
                </a:solidFill>
              </a:rPr>
              <a:t>B)  freshman</a:t>
            </a:r>
            <a:endParaRPr lang="en-US" sz="1500" dirty="0"/>
          </a:p>
          <a:p>
            <a:pPr indent="0" marL="0">
              <a:spcAft>
                <a:spcPts val="300"/>
              </a:spcAft>
              <a:buNone/>
            </a:pPr>
            <a:r>
              <a:rPr lang="en-US" sz="1500" dirty="0">
                <a:solidFill>
                  <a:schemeClr val="tx1"/>
                </a:solidFill>
              </a:rPr>
              <a:t>C)  senior</a:t>
            </a:r>
            <a:endParaRPr lang="en-US" sz="1500" dirty="0"/>
          </a:p>
        </p:txBody>
      </p:sp>
      <p:sp>
        <p:nvSpPr>
          <p:cNvPr id="6" name="text-36"/>
          <p:cNvSpPr txBox="1"/>
          <p:nvPr/>
        </p:nvSpPr>
        <p:spPr>
          <a:xfrm>
            <a:off x="4709160" y="2926080"/>
            <a:ext cx="3977640" cy="169164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4. What is a community college?</a:t>
            </a:r>
            <a:endParaRPr lang="en-US" sz="1500" dirty="0"/>
          </a:p>
          <a:p>
            <a:pPr indent="0" marL="0">
              <a:spcAft>
                <a:spcPts val="300"/>
              </a:spcAft>
              <a:buNone/>
            </a:pPr>
            <a:r>
              <a:rPr lang="en-US" sz="1500" dirty="0">
                <a:solidFill>
                  <a:schemeClr val="tx1"/>
                </a:solidFill>
              </a:rPr>
              <a:t>A)  A school club for helping the town</a:t>
            </a:r>
            <a:endParaRPr lang="en-US" sz="1500" dirty="0"/>
          </a:p>
          <a:p>
            <a:pPr indent="0" marL="0">
              <a:spcAft>
                <a:spcPts val="300"/>
              </a:spcAft>
              <a:buNone/>
            </a:pPr>
            <a:r>
              <a:rPr lang="en-US" sz="1500" dirty="0">
                <a:solidFill>
                  <a:schemeClr val="tx1"/>
                </a:solidFill>
              </a:rPr>
              <a:t>B)  An elite private university</a:t>
            </a:r>
            <a:endParaRPr lang="en-US" sz="1500" dirty="0"/>
          </a:p>
          <a:p>
            <a:pPr indent="0" marL="0">
              <a:spcAft>
                <a:spcPts val="300"/>
              </a:spcAft>
              <a:buNone/>
            </a:pPr>
            <a:r>
              <a:rPr lang="en-US" sz="1500" dirty="0">
                <a:solidFill>
                  <a:schemeClr val="tx1"/>
                </a:solidFill>
              </a:rPr>
              <a:t>C)  A cheaper 2-year college close to home</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Team quiz: questions 5–8</a:t>
            </a:r>
            <a:endParaRPr lang="en-US" sz="2800" dirty="0"/>
          </a:p>
        </p:txBody>
      </p:sp>
      <p:sp>
        <p:nvSpPr>
          <p:cNvPr id="3" name="text-37"/>
          <p:cNvSpPr txBox="1"/>
          <p:nvPr/>
        </p:nvSpPr>
        <p:spPr>
          <a:xfrm>
            <a:off x="457200" y="1143000"/>
            <a:ext cx="3977640" cy="169164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5. Which law from 1964 bans discrimination because of race, religion or sex?</a:t>
            </a:r>
            <a:endParaRPr lang="en-US" sz="1500" dirty="0"/>
          </a:p>
          <a:p>
            <a:pPr indent="0" marL="0">
              <a:spcAft>
                <a:spcPts val="300"/>
              </a:spcAft>
              <a:buNone/>
            </a:pPr>
            <a:r>
              <a:rPr lang="en-US" sz="1500" dirty="0">
                <a:solidFill>
                  <a:schemeClr val="tx1"/>
                </a:solidFill>
              </a:rPr>
              <a:t>A)  The Bill of Rights</a:t>
            </a:r>
            <a:endParaRPr lang="en-US" sz="1500" dirty="0"/>
          </a:p>
          <a:p>
            <a:pPr indent="0" marL="0">
              <a:spcAft>
                <a:spcPts val="300"/>
              </a:spcAft>
              <a:buNone/>
            </a:pPr>
            <a:r>
              <a:rPr lang="en-US" sz="1500" dirty="0">
                <a:solidFill>
                  <a:schemeClr val="tx1"/>
                </a:solidFill>
              </a:rPr>
              <a:t>B)  The Civil Rights Act</a:t>
            </a:r>
            <a:endParaRPr lang="en-US" sz="1500" dirty="0"/>
          </a:p>
          <a:p>
            <a:pPr indent="0" marL="0">
              <a:spcAft>
                <a:spcPts val="300"/>
              </a:spcAft>
              <a:buNone/>
            </a:pPr>
            <a:r>
              <a:rPr lang="en-US" sz="1500" dirty="0">
                <a:solidFill>
                  <a:schemeClr val="tx1"/>
                </a:solidFill>
              </a:rPr>
              <a:t>C)  The Fair School Act</a:t>
            </a:r>
            <a:endParaRPr lang="en-US" sz="1500" dirty="0"/>
          </a:p>
        </p:txBody>
      </p:sp>
      <p:sp>
        <p:nvSpPr>
          <p:cNvPr id="4" name="text-38"/>
          <p:cNvSpPr txBox="1"/>
          <p:nvPr/>
        </p:nvSpPr>
        <p:spPr>
          <a:xfrm>
            <a:off x="4709160" y="1143000"/>
            <a:ext cx="3977640" cy="169164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6. About how much does one year at a private university cost (tuition only)?</a:t>
            </a:r>
            <a:endParaRPr lang="en-US" sz="1500" dirty="0"/>
          </a:p>
          <a:p>
            <a:pPr indent="0" marL="0">
              <a:spcAft>
                <a:spcPts val="300"/>
              </a:spcAft>
              <a:buNone/>
            </a:pPr>
            <a:r>
              <a:rPr lang="en-US" sz="1500" dirty="0">
                <a:solidFill>
                  <a:schemeClr val="tx1"/>
                </a:solidFill>
              </a:rPr>
              <a:t>A)  $4,000</a:t>
            </a:r>
            <a:endParaRPr lang="en-US" sz="1500" dirty="0"/>
          </a:p>
          <a:p>
            <a:pPr indent="0" marL="0">
              <a:spcAft>
                <a:spcPts val="300"/>
              </a:spcAft>
              <a:buNone/>
            </a:pPr>
            <a:r>
              <a:rPr lang="en-US" sz="1500" dirty="0">
                <a:solidFill>
                  <a:schemeClr val="tx1"/>
                </a:solidFill>
              </a:rPr>
              <a:t>B)  $12,000</a:t>
            </a:r>
            <a:endParaRPr lang="en-US" sz="1500" dirty="0"/>
          </a:p>
          <a:p>
            <a:pPr indent="0" marL="0">
              <a:spcAft>
                <a:spcPts val="300"/>
              </a:spcAft>
              <a:buNone/>
            </a:pPr>
            <a:r>
              <a:rPr lang="en-US" sz="1500" dirty="0">
                <a:solidFill>
                  <a:schemeClr val="tx1"/>
                </a:solidFill>
              </a:rPr>
              <a:t>C)  $45,000</a:t>
            </a:r>
            <a:endParaRPr lang="en-US" sz="1500" dirty="0"/>
          </a:p>
        </p:txBody>
      </p:sp>
      <p:sp>
        <p:nvSpPr>
          <p:cNvPr id="5" name="text-39"/>
          <p:cNvSpPr txBox="1"/>
          <p:nvPr/>
        </p:nvSpPr>
        <p:spPr>
          <a:xfrm>
            <a:off x="457200" y="2926080"/>
            <a:ext cx="3977640" cy="169164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7. Why do schools in rich areas often have more money?</a:t>
            </a:r>
            <a:endParaRPr lang="en-US" sz="1500" dirty="0"/>
          </a:p>
          <a:p>
            <a:pPr indent="0" marL="0">
              <a:spcAft>
                <a:spcPts val="300"/>
              </a:spcAft>
              <a:buNone/>
            </a:pPr>
            <a:r>
              <a:rPr lang="en-US" sz="1500" dirty="0">
                <a:solidFill>
                  <a:schemeClr val="tx1"/>
                </a:solidFill>
              </a:rPr>
              <a:t>A)  Part of the money comes from local property taxes.</a:t>
            </a:r>
            <a:endParaRPr lang="en-US" sz="1500" dirty="0"/>
          </a:p>
          <a:p>
            <a:pPr indent="0" marL="0">
              <a:spcAft>
                <a:spcPts val="300"/>
              </a:spcAft>
              <a:buNone/>
            </a:pPr>
            <a:r>
              <a:rPr lang="en-US" sz="1500" dirty="0">
                <a:solidFill>
                  <a:schemeClr val="tx1"/>
                </a:solidFill>
              </a:rPr>
              <a:t>B)  Rich students pay school fees.</a:t>
            </a:r>
            <a:endParaRPr lang="en-US" sz="1500" dirty="0"/>
          </a:p>
          <a:p>
            <a:pPr indent="0" marL="0">
              <a:spcAft>
                <a:spcPts val="300"/>
              </a:spcAft>
              <a:buNone/>
            </a:pPr>
            <a:r>
              <a:rPr lang="en-US" sz="1500" dirty="0">
                <a:solidFill>
                  <a:schemeClr val="tx1"/>
                </a:solidFill>
              </a:rPr>
              <a:t>C)  The President chooses the best schools.</a:t>
            </a:r>
            <a:endParaRPr lang="en-US" sz="1500" dirty="0"/>
          </a:p>
        </p:txBody>
      </p:sp>
      <p:sp>
        <p:nvSpPr>
          <p:cNvPr id="6" name="text-40"/>
          <p:cNvSpPr txBox="1"/>
          <p:nvPr/>
        </p:nvSpPr>
        <p:spPr>
          <a:xfrm>
            <a:off x="4709160" y="2926080"/>
            <a:ext cx="3977640" cy="169164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8. A stereotype is…</a:t>
            </a:r>
            <a:endParaRPr lang="en-US" sz="1500" dirty="0"/>
          </a:p>
          <a:p>
            <a:pPr indent="0" marL="0">
              <a:spcAft>
                <a:spcPts val="300"/>
              </a:spcAft>
              <a:buNone/>
            </a:pPr>
            <a:r>
              <a:rPr lang="en-US" sz="1500" dirty="0">
                <a:solidFill>
                  <a:schemeClr val="tx1"/>
                </a:solidFill>
              </a:rPr>
              <a:t>A)  a law against discrimination</a:t>
            </a:r>
            <a:endParaRPr lang="en-US" sz="1500" dirty="0"/>
          </a:p>
          <a:p>
            <a:pPr indent="0" marL="0">
              <a:spcAft>
                <a:spcPts val="300"/>
              </a:spcAft>
              <a:buNone/>
            </a:pPr>
            <a:r>
              <a:rPr lang="en-US" sz="1500" dirty="0">
                <a:solidFill>
                  <a:schemeClr val="tx1"/>
                </a:solidFill>
              </a:rPr>
              <a:t>B)  a fixed, simple idea about a whole group</a:t>
            </a:r>
            <a:endParaRPr lang="en-US" sz="1500" dirty="0"/>
          </a:p>
          <a:p>
            <a:pPr indent="0" marL="0">
              <a:spcAft>
                <a:spcPts val="300"/>
              </a:spcAft>
              <a:buNone/>
            </a:pPr>
            <a:r>
              <a:rPr lang="en-US" sz="1500" dirty="0">
                <a:solidFill>
                  <a:schemeClr val="tx1"/>
                </a:solidFill>
              </a:rPr>
              <a:t>C)  a type of American music</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Quiz answers</a:t>
            </a:r>
            <a:endParaRPr lang="en-US" sz="2800" dirty="0"/>
          </a:p>
        </p:txBody>
      </p:sp>
      <p:sp>
        <p:nvSpPr>
          <p:cNvPr id="3" name="text-41"/>
          <p:cNvSpPr txBox="1"/>
          <p:nvPr/>
        </p:nvSpPr>
        <p:spPr>
          <a:xfrm>
            <a:off x="457200" y="1188720"/>
            <a:ext cx="4023360" cy="2743200"/>
          </a:xfrm>
          <a:prstGeom prst="rect">
            <a:avLst/>
          </a:prstGeom>
          <a:noFill/>
          <a:ln/>
        </p:spPr>
        <p:txBody>
          <a:bodyPr wrap="square" lIns="0" tIns="0" rIns="0" bIns="0" rtlCol="0" anchor="t"/>
          <a:lstStyle/>
          <a:p>
            <a:pPr indent="0" marL="0">
              <a:spcAft>
                <a:spcPts val="1200"/>
              </a:spcAft>
              <a:buNone/>
            </a:pPr>
            <a:r>
              <a:rPr lang="en-US" sz="1500" dirty="0">
                <a:solidFill>
                  <a:schemeClr val="tx1"/>
                </a:solidFill>
              </a:rPr>
              <a:t>1. B: Brown v. Board (1954) made separate schools illegal.</a:t>
            </a:r>
            <a:endParaRPr lang="en-US" sz="1500" dirty="0"/>
          </a:p>
          <a:p>
            <a:pPr indent="0" marL="0">
              <a:spcAft>
                <a:spcPts val="1200"/>
              </a:spcAft>
              <a:buNone/>
            </a:pPr>
            <a:r>
              <a:rPr lang="en-US" sz="1500" dirty="0">
                <a:solidFill>
                  <a:schemeClr val="tx1"/>
                </a:solidFill>
              </a:rPr>
              <a:t>2. C: about 20% of Americans are Hispanic or Latino.</a:t>
            </a:r>
            <a:endParaRPr lang="en-US" sz="1500" dirty="0"/>
          </a:p>
          <a:p>
            <a:pPr indent="0" marL="0">
              <a:spcAft>
                <a:spcPts val="1200"/>
              </a:spcAft>
              <a:buNone/>
            </a:pPr>
            <a:r>
              <a:rPr lang="en-US" sz="1500" dirty="0">
                <a:solidFill>
                  <a:schemeClr val="tx1"/>
                </a:solidFill>
              </a:rPr>
              <a:t>3. A: 11th grade = junior.</a:t>
            </a:r>
            <a:endParaRPr lang="en-US" sz="1500" dirty="0"/>
          </a:p>
          <a:p>
            <a:pPr indent="0" marL="0">
              <a:spcAft>
                <a:spcPts val="1200"/>
              </a:spcAft>
              <a:buNone/>
            </a:pPr>
            <a:r>
              <a:rPr lang="en-US" sz="1500" dirty="0">
                <a:solidFill>
                  <a:schemeClr val="tx1"/>
                </a:solidFill>
              </a:rPr>
              <a:t>4. C: 2 years, about $4,150 a year.</a:t>
            </a:r>
            <a:endParaRPr lang="en-US" sz="1500" dirty="0"/>
          </a:p>
        </p:txBody>
      </p:sp>
      <p:sp>
        <p:nvSpPr>
          <p:cNvPr id="4" name="text-42"/>
          <p:cNvSpPr txBox="1"/>
          <p:nvPr/>
        </p:nvSpPr>
        <p:spPr>
          <a:xfrm>
            <a:off x="4663440" y="1188720"/>
            <a:ext cx="4023360" cy="2743200"/>
          </a:xfrm>
          <a:prstGeom prst="rect">
            <a:avLst/>
          </a:prstGeom>
          <a:noFill/>
          <a:ln/>
        </p:spPr>
        <p:txBody>
          <a:bodyPr wrap="square" lIns="0" tIns="0" rIns="0" bIns="0" rtlCol="0" anchor="t"/>
          <a:lstStyle/>
          <a:p>
            <a:pPr indent="0" marL="0">
              <a:spcAft>
                <a:spcPts val="1200"/>
              </a:spcAft>
              <a:buNone/>
            </a:pPr>
            <a:r>
              <a:rPr lang="en-US" sz="1500" dirty="0">
                <a:solidFill>
                  <a:schemeClr val="tx1"/>
                </a:solidFill>
              </a:rPr>
              <a:t>5. B: the Civil Rights Act (1964).</a:t>
            </a:r>
            <a:endParaRPr lang="en-US" sz="1500" dirty="0"/>
          </a:p>
          <a:p>
            <a:pPr indent="0" marL="0">
              <a:spcAft>
                <a:spcPts val="1200"/>
              </a:spcAft>
              <a:buNone/>
            </a:pPr>
            <a:r>
              <a:rPr lang="en-US" sz="1500" dirty="0">
                <a:solidFill>
                  <a:schemeClr val="tx1"/>
                </a:solidFill>
              </a:rPr>
              <a:t>6. C: about $45,000 a year.</a:t>
            </a:r>
            <a:endParaRPr lang="en-US" sz="1500" dirty="0"/>
          </a:p>
          <a:p>
            <a:pPr indent="0" marL="0">
              <a:spcAft>
                <a:spcPts val="1200"/>
              </a:spcAft>
              <a:buNone/>
            </a:pPr>
            <a:r>
              <a:rPr lang="en-US" sz="1500" dirty="0">
                <a:solidFill>
                  <a:schemeClr val="tx1"/>
                </a:solidFill>
              </a:rPr>
              <a:t>7. A: local property taxes, so rich town = rich school.</a:t>
            </a:r>
            <a:endParaRPr lang="en-US" sz="1500" dirty="0"/>
          </a:p>
          <a:p>
            <a:pPr indent="0" marL="0">
              <a:spcAft>
                <a:spcPts val="1200"/>
              </a:spcAft>
              <a:buNone/>
            </a:pPr>
            <a:r>
              <a:rPr lang="en-US" sz="1500" dirty="0">
                <a:solidFill>
                  <a:schemeClr val="tx1"/>
                </a:solidFill>
              </a:rPr>
              <a:t>8. B: e.g. "All Austrians ski."</a:t>
            </a:r>
            <a:endParaRPr lang="en-US" sz="1500" dirty="0"/>
          </a:p>
        </p:txBody>
      </p:sp>
      <p:sp>
        <p:nvSpPr>
          <p:cNvPr id="5" name="text-43"/>
          <p:cNvSpPr txBox="1"/>
          <p:nvPr/>
        </p:nvSpPr>
        <p:spPr>
          <a:xfrm>
            <a:off x="457200" y="3383280"/>
            <a:ext cx="8229600" cy="365760"/>
          </a:xfrm>
          <a:prstGeom prst="rect">
            <a:avLst/>
          </a:prstGeom>
          <a:noFill/>
          <a:ln/>
        </p:spPr>
        <p:txBody>
          <a:bodyPr wrap="square" lIns="0" tIns="0" rIns="0" bIns="0" rtlCol="0" anchor="t"/>
          <a:lstStyle/>
          <a:p>
            <a:pPr indent="0" marL="0">
              <a:buNone/>
            </a:pPr>
            <a:r>
              <a:rPr lang="en-US" sz="1500" b="1" dirty="0">
                <a:solidFill>
                  <a:schemeClr val="tx1"/>
                </a:solidFill>
              </a:rPr>
              <a:t>Which team has the most points?</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Round 2: What do you think?</a:t>
            </a:r>
            <a:endParaRPr lang="en-US" sz="2800" dirty="0"/>
          </a:p>
        </p:txBody>
      </p:sp>
      <p:sp>
        <p:nvSpPr>
          <p:cNvPr id="3" name="text-44"/>
          <p:cNvSpPr txBox="1"/>
          <p:nvPr/>
        </p:nvSpPr>
        <p:spPr>
          <a:xfrm>
            <a:off x="457200" y="1097280"/>
            <a:ext cx="8229600" cy="548640"/>
          </a:xfrm>
          <a:prstGeom prst="rect">
            <a:avLst/>
          </a:prstGeom>
          <a:noFill/>
          <a:ln/>
        </p:spPr>
        <p:txBody>
          <a:bodyPr wrap="square" lIns="0" tIns="0" rIns="0" bIns="0" rtlCol="0" anchor="t"/>
          <a:lstStyle/>
          <a:p>
            <a:pPr indent="0" marL="0">
              <a:buNone/>
            </a:pPr>
            <a:r>
              <a:rPr lang="en-US" sz="1500" i="1" dirty="0">
                <a:solidFill>
                  <a:schemeClr val="tx1"/>
                </a:solidFill>
              </a:rPr>
              <a:t>Each team gets one statement. Agree or disagree? Find 3 reasons. Then present your opinion in 1 minute.</a:t>
            </a:r>
            <a:endParaRPr lang="en-US" sz="1500" dirty="0"/>
          </a:p>
        </p:txBody>
      </p:sp>
      <p:sp>
        <p:nvSpPr>
          <p:cNvPr id="4" name="text-45"/>
          <p:cNvSpPr txBox="1"/>
          <p:nvPr/>
        </p:nvSpPr>
        <p:spPr>
          <a:xfrm>
            <a:off x="457200" y="1737360"/>
            <a:ext cx="8229600" cy="2743200"/>
          </a:xfrm>
          <a:prstGeom prst="rect">
            <a:avLst/>
          </a:prstGeom>
          <a:noFill/>
          <a:ln/>
        </p:spPr>
        <p:txBody>
          <a:bodyPr wrap="square" lIns="0" tIns="0" rIns="0" bIns="0" rtlCol="0" anchor="t"/>
          <a:lstStyle/>
          <a:p>
            <a:pPr marL="228600" indent="-228600">
              <a:spcAft>
                <a:spcPts val="600"/>
              </a:spcAft>
              <a:buSzPct val="100000"/>
              <a:buFont typeface="+mj-lt"/>
              <a:buAutoNum type="arabicPeriod" startAt="1"/>
            </a:pPr>
            <a:r>
              <a:rPr lang="en-US" sz="1500" dirty="0">
                <a:solidFill>
                  <a:schemeClr val="tx1"/>
                </a:solidFill>
              </a:rPr>
              <a:t>University should be free for everyone, like in Austria.</a:t>
            </a:r>
            <a:endParaRPr lang="en-US" sz="1500" dirty="0"/>
          </a:p>
          <a:p>
            <a:pPr marL="228600" indent="-228600">
              <a:spcAft>
                <a:spcPts val="600"/>
              </a:spcAft>
              <a:buSzPct val="100000"/>
              <a:buFont typeface="+mj-lt"/>
              <a:buAutoNum type="arabicPeriod" startAt="1"/>
            </a:pPr>
            <a:r>
              <a:rPr lang="en-US" sz="1500" dirty="0">
                <a:solidFill>
                  <a:schemeClr val="tx1"/>
                </a:solidFill>
              </a:rPr>
              <a:t>All schools should get the same money, no matter where they are.</a:t>
            </a:r>
            <a:endParaRPr lang="en-US" sz="1500" dirty="0"/>
          </a:p>
          <a:p>
            <a:pPr marL="228600" indent="-228600">
              <a:spcAft>
                <a:spcPts val="600"/>
              </a:spcAft>
              <a:buSzPct val="100000"/>
              <a:buFont typeface="+mj-lt"/>
              <a:buAutoNum type="arabicPeriod" startAt="1"/>
            </a:pPr>
            <a:r>
              <a:rPr lang="en-US" sz="1500" dirty="0">
                <a:solidFill>
                  <a:schemeClr val="tx1"/>
                </a:solidFill>
              </a:rPr>
              <a:t>School sports and clubs are as important as good grades.</a:t>
            </a:r>
            <a:endParaRPr lang="en-US" sz="1500" dirty="0"/>
          </a:p>
          <a:p>
            <a:pPr marL="228600" indent="-228600">
              <a:spcAft>
                <a:spcPts val="600"/>
              </a:spcAft>
              <a:buSzPct val="100000"/>
              <a:buFont typeface="+mj-lt"/>
              <a:buAutoNum type="arabicPeriod" startAt="1"/>
            </a:pPr>
            <a:r>
              <a:rPr lang="en-US" sz="1500" dirty="0">
                <a:solidFill>
                  <a:schemeClr val="tx1"/>
                </a:solidFill>
              </a:rPr>
              <a:t>Universities should consider students' backgrounds when they choose who gets in.</a:t>
            </a:r>
            <a:endParaRPr lang="en-US" sz="1500" dirty="0"/>
          </a:p>
          <a:p>
            <a:pPr marL="228600" indent="-228600">
              <a:spcAft>
                <a:spcPts val="600"/>
              </a:spcAft>
              <a:buSzPct val="100000"/>
              <a:buFont typeface="+mj-lt"/>
              <a:buAutoNum type="arabicPeriod" startAt="1"/>
            </a:pPr>
            <a:r>
              <a:rPr lang="en-US" sz="1500" dirty="0">
                <a:solidFill>
                  <a:schemeClr val="tx1"/>
                </a:solidFill>
              </a:rPr>
              <a:t>Austrian schools should have a prom, school teams and a school bus, like in the US.</a:t>
            </a:r>
            <a:endParaRPr lang="en-US" sz="1500" dirty="0"/>
          </a:p>
          <a:p>
            <a:pPr marL="228600" indent="-228600">
              <a:spcAft>
                <a:spcPts val="600"/>
              </a:spcAft>
              <a:buSzPct val="100000"/>
              <a:buFont typeface="+mj-lt"/>
              <a:buAutoNum type="arabicPeriod" startAt="1"/>
            </a:pPr>
            <a:r>
              <a:rPr lang="en-US" sz="1500" dirty="0">
                <a:solidFill>
                  <a:schemeClr val="tx1"/>
                </a:solidFill>
              </a:rPr>
              <a:t>Every student should spend a year at a school in another country.</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Useful phrases</a:t>
            </a:r>
            <a:endParaRPr lang="en-US" sz="2800" dirty="0"/>
          </a:p>
        </p:txBody>
      </p:sp>
      <p:sp>
        <p:nvSpPr>
          <p:cNvPr id="3" name="text-46"/>
          <p:cNvSpPr txBox="1"/>
          <p:nvPr/>
        </p:nvSpPr>
        <p:spPr>
          <a:xfrm>
            <a:off x="457200" y="1143000"/>
            <a:ext cx="3977640" cy="365760"/>
          </a:xfrm>
          <a:prstGeom prst="rect">
            <a:avLst/>
          </a:prstGeom>
          <a:noFill/>
          <a:ln/>
        </p:spPr>
        <p:txBody>
          <a:bodyPr wrap="square" lIns="0" tIns="0" rIns="0" bIns="0" rtlCol="0" anchor="t"/>
          <a:lstStyle/>
          <a:p>
            <a:pPr indent="0" marL="0">
              <a:buNone/>
            </a:pPr>
            <a:r>
              <a:rPr lang="en-US" sz="1600" b="1" dirty="0">
                <a:solidFill>
                  <a:schemeClr val="tx2"/>
                </a:solidFill>
              </a:rPr>
              <a:t>Giving your opinion</a:t>
            </a:r>
            <a:endParaRPr lang="en-US" sz="1600" dirty="0"/>
          </a:p>
        </p:txBody>
      </p:sp>
      <p:sp>
        <p:nvSpPr>
          <p:cNvPr id="4" name="text-47"/>
          <p:cNvSpPr txBox="1"/>
          <p:nvPr/>
        </p:nvSpPr>
        <p:spPr>
          <a:xfrm>
            <a:off x="457200" y="1554480"/>
            <a:ext cx="3977640" cy="1188720"/>
          </a:xfrm>
          <a:prstGeom prst="rect">
            <a:avLst/>
          </a:prstGeom>
          <a:noFill/>
          <a:ln/>
        </p:spPr>
        <p:txBody>
          <a:bodyPr wrap="square" lIns="0" tIns="0" rIns="0" bIns="0" rtlCol="0" anchor="t"/>
          <a:lstStyle/>
          <a:p>
            <a:pPr marL="203200" indent="-203200">
              <a:spcAft>
                <a:spcPts val="300"/>
              </a:spcAft>
              <a:buSzPct val="100000"/>
              <a:buChar char="•"/>
            </a:pPr>
            <a:r>
              <a:rPr lang="en-US" sz="1500" dirty="0">
                <a:solidFill>
                  <a:schemeClr val="tx1"/>
                </a:solidFill>
              </a:rPr>
              <a:t>In my opinion, …</a:t>
            </a:r>
            <a:endParaRPr lang="en-US" sz="1500" dirty="0"/>
          </a:p>
          <a:p>
            <a:pPr marL="203200" indent="-203200">
              <a:spcAft>
                <a:spcPts val="300"/>
              </a:spcAft>
              <a:buSzPct val="100000"/>
              <a:buChar char="•"/>
            </a:pPr>
            <a:r>
              <a:rPr lang="en-US" sz="1500" dirty="0">
                <a:solidFill>
                  <a:schemeClr val="tx1"/>
                </a:solidFill>
              </a:rPr>
              <a:t>I think / I believe that …</a:t>
            </a:r>
            <a:endParaRPr lang="en-US" sz="1500" dirty="0"/>
          </a:p>
          <a:p>
            <a:pPr marL="203200" indent="-203200">
              <a:spcAft>
                <a:spcPts val="300"/>
              </a:spcAft>
              <a:buSzPct val="100000"/>
              <a:buChar char="•"/>
            </a:pPr>
            <a:r>
              <a:rPr lang="en-US" sz="1500" dirty="0">
                <a:solidFill>
                  <a:schemeClr val="tx1"/>
                </a:solidFill>
              </a:rPr>
              <a:t>From my point of view, …</a:t>
            </a:r>
            <a:endParaRPr lang="en-US" sz="1500" dirty="0"/>
          </a:p>
        </p:txBody>
      </p:sp>
      <p:sp>
        <p:nvSpPr>
          <p:cNvPr id="5" name="text-48"/>
          <p:cNvSpPr txBox="1"/>
          <p:nvPr/>
        </p:nvSpPr>
        <p:spPr>
          <a:xfrm>
            <a:off x="4709160" y="1143000"/>
            <a:ext cx="3977640" cy="365760"/>
          </a:xfrm>
          <a:prstGeom prst="rect">
            <a:avLst/>
          </a:prstGeom>
          <a:noFill/>
          <a:ln/>
        </p:spPr>
        <p:txBody>
          <a:bodyPr wrap="square" lIns="0" tIns="0" rIns="0" bIns="0" rtlCol="0" anchor="t"/>
          <a:lstStyle/>
          <a:p>
            <a:pPr indent="0" marL="0">
              <a:buNone/>
            </a:pPr>
            <a:r>
              <a:rPr lang="en-US" sz="1600" b="1" dirty="0">
                <a:solidFill>
                  <a:schemeClr val="tx2"/>
                </a:solidFill>
              </a:rPr>
              <a:t>Agreeing and disagreeing</a:t>
            </a:r>
            <a:endParaRPr lang="en-US" sz="1600" dirty="0"/>
          </a:p>
        </p:txBody>
      </p:sp>
      <p:sp>
        <p:nvSpPr>
          <p:cNvPr id="6" name="text-49"/>
          <p:cNvSpPr txBox="1"/>
          <p:nvPr/>
        </p:nvSpPr>
        <p:spPr>
          <a:xfrm>
            <a:off x="4709160" y="1554480"/>
            <a:ext cx="3977640" cy="1188720"/>
          </a:xfrm>
          <a:prstGeom prst="rect">
            <a:avLst/>
          </a:prstGeom>
          <a:noFill/>
          <a:ln/>
        </p:spPr>
        <p:txBody>
          <a:bodyPr wrap="square" lIns="0" tIns="0" rIns="0" bIns="0" rtlCol="0" anchor="t"/>
          <a:lstStyle/>
          <a:p>
            <a:pPr marL="203200" indent="-203200">
              <a:spcAft>
                <a:spcPts val="300"/>
              </a:spcAft>
              <a:buSzPct val="100000"/>
              <a:buChar char="•"/>
            </a:pPr>
            <a:r>
              <a:rPr lang="en-US" sz="1500" dirty="0">
                <a:solidFill>
                  <a:schemeClr val="tx1"/>
                </a:solidFill>
              </a:rPr>
              <a:t>I (totally) agree because …</a:t>
            </a:r>
            <a:endParaRPr lang="en-US" sz="1500" dirty="0"/>
          </a:p>
          <a:p>
            <a:pPr marL="203200" indent="-203200">
              <a:spcAft>
                <a:spcPts val="300"/>
              </a:spcAft>
              <a:buSzPct val="100000"/>
              <a:buChar char="•"/>
            </a:pPr>
            <a:r>
              <a:rPr lang="en-US" sz="1500" dirty="0">
                <a:solidFill>
                  <a:schemeClr val="tx1"/>
                </a:solidFill>
              </a:rPr>
              <a:t>I don't agree because …</a:t>
            </a:r>
            <a:endParaRPr lang="en-US" sz="1500" dirty="0"/>
          </a:p>
          <a:p>
            <a:pPr marL="203200" indent="-203200">
              <a:spcAft>
                <a:spcPts val="300"/>
              </a:spcAft>
              <a:buSzPct val="100000"/>
              <a:buChar char="•"/>
            </a:pPr>
            <a:r>
              <a:rPr lang="en-US" sz="1500" dirty="0">
                <a:solidFill>
                  <a:schemeClr val="tx1"/>
                </a:solidFill>
              </a:rPr>
              <a:t>That's true, but …</a:t>
            </a:r>
            <a:endParaRPr lang="en-US" sz="1500" dirty="0"/>
          </a:p>
        </p:txBody>
      </p:sp>
      <p:sp>
        <p:nvSpPr>
          <p:cNvPr id="7" name="text-50"/>
          <p:cNvSpPr txBox="1"/>
          <p:nvPr/>
        </p:nvSpPr>
        <p:spPr>
          <a:xfrm>
            <a:off x="457200" y="2880360"/>
            <a:ext cx="3977640" cy="365760"/>
          </a:xfrm>
          <a:prstGeom prst="rect">
            <a:avLst/>
          </a:prstGeom>
          <a:noFill/>
          <a:ln/>
        </p:spPr>
        <p:txBody>
          <a:bodyPr wrap="square" lIns="0" tIns="0" rIns="0" bIns="0" rtlCol="0" anchor="t"/>
          <a:lstStyle/>
          <a:p>
            <a:pPr indent="0" marL="0">
              <a:buNone/>
            </a:pPr>
            <a:r>
              <a:rPr lang="en-US" sz="1600" b="1" dirty="0">
                <a:solidFill>
                  <a:schemeClr val="tx2"/>
                </a:solidFill>
              </a:rPr>
              <a:t>Giving reasons</a:t>
            </a:r>
            <a:endParaRPr lang="en-US" sz="1600" dirty="0"/>
          </a:p>
        </p:txBody>
      </p:sp>
      <p:sp>
        <p:nvSpPr>
          <p:cNvPr id="8" name="text-51"/>
          <p:cNvSpPr txBox="1"/>
          <p:nvPr/>
        </p:nvSpPr>
        <p:spPr>
          <a:xfrm>
            <a:off x="457200" y="3291840"/>
            <a:ext cx="3977640" cy="1188720"/>
          </a:xfrm>
          <a:prstGeom prst="rect">
            <a:avLst/>
          </a:prstGeom>
          <a:noFill/>
          <a:ln/>
        </p:spPr>
        <p:txBody>
          <a:bodyPr wrap="square" lIns="0" tIns="0" rIns="0" bIns="0" rtlCol="0" anchor="t"/>
          <a:lstStyle/>
          <a:p>
            <a:pPr marL="203200" indent="-203200">
              <a:spcAft>
                <a:spcPts val="300"/>
              </a:spcAft>
              <a:buSzPct val="100000"/>
              <a:buChar char="•"/>
            </a:pPr>
            <a:r>
              <a:rPr lang="en-US" sz="1500" dirty="0">
                <a:solidFill>
                  <a:schemeClr val="tx1"/>
                </a:solidFill>
              </a:rPr>
              <a:t>First, … Second, … Finally, …</a:t>
            </a:r>
            <a:endParaRPr lang="en-US" sz="1500" dirty="0"/>
          </a:p>
          <a:p>
            <a:pPr marL="203200" indent="-203200">
              <a:spcAft>
                <a:spcPts val="300"/>
              </a:spcAft>
              <a:buSzPct val="100000"/>
              <a:buChar char="•"/>
            </a:pPr>
            <a:r>
              <a:rPr lang="en-US" sz="1500" dirty="0">
                <a:solidFill>
                  <a:schemeClr val="tx1"/>
                </a:solidFill>
              </a:rPr>
              <a:t>One reason is that …</a:t>
            </a:r>
            <a:endParaRPr lang="en-US" sz="1500" dirty="0"/>
          </a:p>
          <a:p>
            <a:pPr marL="203200" indent="-203200">
              <a:spcAft>
                <a:spcPts val="300"/>
              </a:spcAft>
              <a:buSzPct val="100000"/>
              <a:buChar char="•"/>
            </a:pPr>
            <a:r>
              <a:rPr lang="en-US" sz="1500" dirty="0">
                <a:solidFill>
                  <a:schemeClr val="tx1"/>
                </a:solidFill>
              </a:rPr>
              <a:t>For example, …</a:t>
            </a:r>
            <a:endParaRPr lang="en-US" sz="1500" dirty="0"/>
          </a:p>
        </p:txBody>
      </p:sp>
      <p:sp>
        <p:nvSpPr>
          <p:cNvPr id="9" name="text-52"/>
          <p:cNvSpPr txBox="1"/>
          <p:nvPr/>
        </p:nvSpPr>
        <p:spPr>
          <a:xfrm>
            <a:off x="4709160" y="2880360"/>
            <a:ext cx="3977640" cy="365760"/>
          </a:xfrm>
          <a:prstGeom prst="rect">
            <a:avLst/>
          </a:prstGeom>
          <a:noFill/>
          <a:ln/>
        </p:spPr>
        <p:txBody>
          <a:bodyPr wrap="square" lIns="0" tIns="0" rIns="0" bIns="0" rtlCol="0" anchor="t"/>
          <a:lstStyle/>
          <a:p>
            <a:pPr indent="0" marL="0">
              <a:buNone/>
            </a:pPr>
            <a:r>
              <a:rPr lang="en-US" sz="1600" b="1" dirty="0">
                <a:solidFill>
                  <a:schemeClr val="tx2"/>
                </a:solidFill>
              </a:rPr>
              <a:t>Comparing the USA and Austria</a:t>
            </a:r>
            <a:endParaRPr lang="en-US" sz="1600" dirty="0"/>
          </a:p>
        </p:txBody>
      </p:sp>
      <p:sp>
        <p:nvSpPr>
          <p:cNvPr id="10" name="text-53"/>
          <p:cNvSpPr txBox="1"/>
          <p:nvPr/>
        </p:nvSpPr>
        <p:spPr>
          <a:xfrm>
            <a:off x="4709160" y="3291840"/>
            <a:ext cx="3977640" cy="1188720"/>
          </a:xfrm>
          <a:prstGeom prst="rect">
            <a:avLst/>
          </a:prstGeom>
          <a:noFill/>
          <a:ln/>
        </p:spPr>
        <p:txBody>
          <a:bodyPr wrap="square" lIns="0" tIns="0" rIns="0" bIns="0" rtlCol="0" anchor="t"/>
          <a:lstStyle/>
          <a:p>
            <a:pPr marL="203200" indent="-203200">
              <a:spcAft>
                <a:spcPts val="300"/>
              </a:spcAft>
              <a:buSzPct val="100000"/>
              <a:buChar char="•"/>
            </a:pPr>
            <a:r>
              <a:rPr lang="en-US" sz="1500" dirty="0">
                <a:solidFill>
                  <a:schemeClr val="tx1"/>
                </a:solidFill>
              </a:rPr>
              <a:t>In the USA …, whereas in Austria …</a:t>
            </a:r>
            <a:endParaRPr lang="en-US" sz="1500" dirty="0"/>
          </a:p>
          <a:p>
            <a:pPr marL="203200" indent="-203200">
              <a:spcAft>
                <a:spcPts val="300"/>
              </a:spcAft>
              <a:buSzPct val="100000"/>
              <a:buChar char="•"/>
            </a:pPr>
            <a:r>
              <a:rPr lang="en-US" sz="1500" dirty="0">
                <a:solidFill>
                  <a:schemeClr val="tx1"/>
                </a:solidFill>
              </a:rPr>
              <a:t>Compared to Austria, …</a:t>
            </a:r>
            <a:endParaRPr lang="en-US" sz="1500" dirty="0"/>
          </a:p>
          <a:p>
            <a:pPr marL="203200" indent="-203200">
              <a:spcAft>
                <a:spcPts val="300"/>
              </a:spcAft>
              <a:buSzPct val="100000"/>
              <a:buChar char="•"/>
            </a:pPr>
            <a:r>
              <a:rPr lang="en-US" sz="1500" dirty="0">
                <a:solidFill>
                  <a:schemeClr val="tx1"/>
                </a:solidFill>
              </a:rPr>
              <a:t>Both countries …</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Before you go</a:t>
            </a:r>
            <a:endParaRPr lang="en-US" sz="2800" dirty="0"/>
          </a:p>
        </p:txBody>
      </p:sp>
      <p:sp>
        <p:nvSpPr>
          <p:cNvPr id="3" name="text-54"/>
          <p:cNvSpPr txBox="1"/>
          <p:nvPr/>
        </p:nvSpPr>
        <p:spPr>
          <a:xfrm>
            <a:off x="457200" y="1188720"/>
            <a:ext cx="8229600" cy="365760"/>
          </a:xfrm>
          <a:prstGeom prst="rect">
            <a:avLst/>
          </a:prstGeom>
          <a:noFill/>
          <a:ln/>
        </p:spPr>
        <p:txBody>
          <a:bodyPr wrap="square" lIns="0" tIns="0" rIns="0" bIns="0" rtlCol="0" anchor="t"/>
          <a:lstStyle/>
          <a:p>
            <a:pPr indent="0" marL="0">
              <a:buNone/>
            </a:pPr>
            <a:r>
              <a:rPr lang="en-US" sz="1700" b="1" dirty="0">
                <a:solidFill>
                  <a:schemeClr val="tx2"/>
                </a:solidFill>
              </a:rPr>
              <a:t>Tell your neighbour:</a:t>
            </a:r>
            <a:endParaRPr lang="en-US" sz="1700" dirty="0"/>
          </a:p>
        </p:txBody>
      </p:sp>
      <p:sp>
        <p:nvSpPr>
          <p:cNvPr id="4" name="text-55"/>
          <p:cNvSpPr txBox="1"/>
          <p:nvPr/>
        </p:nvSpPr>
        <p:spPr>
          <a:xfrm>
            <a:off x="457200" y="1645920"/>
            <a:ext cx="8229600" cy="164592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chemeClr val="tx1"/>
                </a:solidFill>
              </a:rPr>
              <a:t>one new thing you learned today</a:t>
            </a:r>
            <a:endParaRPr lang="en-US" sz="1700" dirty="0"/>
          </a:p>
          <a:p>
            <a:pPr marL="203200" indent="-203200">
              <a:spcAft>
                <a:spcPts val="800"/>
              </a:spcAft>
              <a:buSzPct val="100000"/>
              <a:buChar char="•"/>
            </a:pPr>
            <a:r>
              <a:rPr lang="en-US" sz="1700" dirty="0">
                <a:solidFill>
                  <a:schemeClr val="tx1"/>
                </a:solidFill>
              </a:rPr>
              <a:t>one thing that surprised you about the USA</a:t>
            </a:r>
            <a:endParaRPr lang="en-US" sz="1700" dirty="0"/>
          </a:p>
          <a:p>
            <a:pPr marL="203200" indent="-203200">
              <a:spcAft>
                <a:spcPts val="800"/>
              </a:spcAft>
              <a:buSzPct val="100000"/>
              <a:buChar char="•"/>
            </a:pPr>
            <a:r>
              <a:rPr lang="en-US" sz="1700" dirty="0">
                <a:solidFill>
                  <a:schemeClr val="tx1"/>
                </a:solidFill>
              </a:rPr>
              <a:t>one question you still have about American schools</a:t>
            </a:r>
            <a:endParaRPr lang="en-US" sz="1700" dirty="0"/>
          </a:p>
        </p:txBody>
      </p:sp>
      <p:sp>
        <p:nvSpPr>
          <p:cNvPr id="5" name="text-56"/>
          <p:cNvSpPr txBox="1"/>
          <p:nvPr/>
        </p:nvSpPr>
        <p:spPr>
          <a:xfrm>
            <a:off x="457200" y="3108960"/>
            <a:ext cx="8229600" cy="640080"/>
          </a:xfrm>
          <a:prstGeom prst="rect">
            <a:avLst/>
          </a:prstGeom>
          <a:noFill/>
          <a:ln/>
        </p:spPr>
        <p:txBody>
          <a:bodyPr wrap="square" lIns="0" tIns="0" rIns="0" bIns="0" rtlCol="0" anchor="t"/>
          <a:lstStyle/>
          <a:p>
            <a:pPr indent="0" marL="0">
              <a:buNone/>
            </a:pPr>
            <a:r>
              <a:rPr lang="en-US" sz="1600" b="1" dirty="0">
                <a:solidFill>
                  <a:schemeClr val="tx1"/>
                </a:solidFill>
              </a:rPr>
              <a:t>Homework (optional): </a:t>
            </a:r>
            <a:pPr indent="0" marL="0">
              <a:buNone/>
            </a:pPr>
            <a:r>
              <a:rPr lang="en-US" sz="1600" dirty="0">
                <a:solidFill>
                  <a:schemeClr val="tx1"/>
                </a:solidFill>
              </a:rPr>
              <a:t>Write 150–200 words: "Would you rather go to school in the USA or in Austria? Why?"</a:t>
            </a:r>
            <a:endParaRPr lang="en-US" sz="16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Adapting this lesson (hide before class)</a:t>
            </a:r>
            <a:endParaRPr lang="en-US" sz="2800" dirty="0"/>
          </a:p>
        </p:txBody>
      </p:sp>
      <p:sp>
        <p:nvSpPr>
          <p:cNvPr id="3" name="text-57"/>
          <p:cNvSpPr txBox="1"/>
          <p:nvPr/>
        </p:nvSpPr>
        <p:spPr>
          <a:xfrm>
            <a:off x="457200" y="1188720"/>
            <a:ext cx="2606040" cy="365760"/>
          </a:xfrm>
          <a:prstGeom prst="rect">
            <a:avLst/>
          </a:prstGeom>
          <a:noFill/>
          <a:ln/>
        </p:spPr>
        <p:txBody>
          <a:bodyPr wrap="square" lIns="0" tIns="0" rIns="0" bIns="0" rtlCol="0" anchor="t"/>
          <a:lstStyle/>
          <a:p>
            <a:pPr indent="0" marL="0">
              <a:buNone/>
            </a:pPr>
            <a:r>
              <a:rPr lang="en-US" sz="1600" b="1" dirty="0">
                <a:solidFill>
                  <a:schemeClr val="tx2"/>
                </a:solidFill>
              </a:rPr>
              <a:t>1st and 2nd forms</a:t>
            </a:r>
            <a:endParaRPr lang="en-US" sz="1600" dirty="0"/>
          </a:p>
        </p:txBody>
      </p:sp>
      <p:sp>
        <p:nvSpPr>
          <p:cNvPr id="4" name="text-58"/>
          <p:cNvSpPr txBox="1"/>
          <p:nvPr/>
        </p:nvSpPr>
        <p:spPr>
          <a:xfrm>
            <a:off x="457200" y="1645920"/>
            <a:ext cx="2606040" cy="27432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More time on the key words</a:t>
            </a:r>
            <a:endParaRPr lang="en-US" sz="1400" dirty="0"/>
          </a:p>
          <a:p>
            <a:pPr marL="203200" indent="-203200">
              <a:spcAft>
                <a:spcPts val="600"/>
              </a:spcAft>
              <a:buSzPct val="100000"/>
              <a:buChar char="•"/>
            </a:pPr>
            <a:r>
              <a:rPr lang="en-US" sz="1400" dirty="0">
                <a:solidFill>
                  <a:schemeClr val="tx1"/>
                </a:solidFill>
              </a:rPr>
              <a:t>Use only the first quiz slide</a:t>
            </a:r>
            <a:endParaRPr lang="en-US" sz="1400" dirty="0"/>
          </a:p>
          <a:p>
            <a:pPr marL="203200" indent="-203200">
              <a:spcAft>
                <a:spcPts val="600"/>
              </a:spcAft>
              <a:buSzPct val="100000"/>
              <a:buChar char="•"/>
            </a:pPr>
            <a:r>
              <a:rPr lang="en-US" sz="1400" dirty="0">
                <a:solidFill>
                  <a:schemeClr val="tx1"/>
                </a:solidFill>
              </a:rPr>
              <a:t>Round 2: statements 3, 5 and 6</a:t>
            </a:r>
            <a:endParaRPr lang="en-US" sz="1400" dirty="0"/>
          </a:p>
          <a:p>
            <a:pPr marL="203200" indent="-203200">
              <a:spcAft>
                <a:spcPts val="600"/>
              </a:spcAft>
              <a:buSzPct val="100000"/>
              <a:buChar char="•"/>
            </a:pPr>
            <a:r>
              <a:rPr lang="en-US" sz="1400" dirty="0">
                <a:solidFill>
                  <a:schemeClr val="tx1"/>
                </a:solidFill>
              </a:rPr>
              <a:t>Skip slide 16</a:t>
            </a:r>
            <a:endParaRPr lang="en-US" sz="1400" dirty="0"/>
          </a:p>
        </p:txBody>
      </p:sp>
      <p:sp>
        <p:nvSpPr>
          <p:cNvPr id="5" name="text-59"/>
          <p:cNvSpPr txBox="1"/>
          <p:nvPr/>
        </p:nvSpPr>
        <p:spPr>
          <a:xfrm>
            <a:off x="3291840" y="1188720"/>
            <a:ext cx="2606040" cy="365760"/>
          </a:xfrm>
          <a:prstGeom prst="rect">
            <a:avLst/>
          </a:prstGeom>
          <a:noFill/>
          <a:ln/>
        </p:spPr>
        <p:txBody>
          <a:bodyPr wrap="square" lIns="0" tIns="0" rIns="0" bIns="0" rtlCol="0" anchor="t"/>
          <a:lstStyle/>
          <a:p>
            <a:pPr indent="0" marL="0">
              <a:buNone/>
            </a:pPr>
            <a:r>
              <a:rPr lang="en-US" sz="1600" b="1" dirty="0">
                <a:solidFill>
                  <a:schemeClr val="tx2"/>
                </a:solidFill>
              </a:rPr>
              <a:t>3rd form</a:t>
            </a:r>
            <a:endParaRPr lang="en-US" sz="1600" dirty="0"/>
          </a:p>
        </p:txBody>
      </p:sp>
      <p:sp>
        <p:nvSpPr>
          <p:cNvPr id="6" name="text-60"/>
          <p:cNvSpPr txBox="1"/>
          <p:nvPr/>
        </p:nvSpPr>
        <p:spPr>
          <a:xfrm>
            <a:off x="3291840" y="1645920"/>
            <a:ext cx="2606040" cy="27432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Use the lesson as it is</a:t>
            </a:r>
            <a:endParaRPr lang="en-US" sz="1400" dirty="0"/>
          </a:p>
          <a:p>
            <a:pPr marL="203200" indent="-203200">
              <a:spcAft>
                <a:spcPts val="600"/>
              </a:spcAft>
              <a:buSzPct val="100000"/>
              <a:buChar char="•"/>
            </a:pPr>
            <a:r>
              <a:rPr lang="en-US" sz="1400" dirty="0">
                <a:solidFill>
                  <a:schemeClr val="tx1"/>
                </a:solidFill>
              </a:rPr>
              <a:t>Slides 9 and 16 are optional if time is short</a:t>
            </a:r>
            <a:endParaRPr lang="en-US" sz="1400" dirty="0"/>
          </a:p>
          <a:p>
            <a:pPr marL="203200" indent="-203200">
              <a:spcAft>
                <a:spcPts val="600"/>
              </a:spcAft>
              <a:buSzPct val="100000"/>
              <a:buChar char="•"/>
            </a:pPr>
            <a:r>
              <a:rPr lang="en-US" sz="1400" dirty="0">
                <a:solidFill>
                  <a:schemeClr val="tx1"/>
                </a:solidFill>
              </a:rPr>
              <a:t>Everyone says at least one sentence in Round 2</a:t>
            </a:r>
            <a:endParaRPr lang="en-US" sz="1400" dirty="0"/>
          </a:p>
        </p:txBody>
      </p:sp>
      <p:sp>
        <p:nvSpPr>
          <p:cNvPr id="7" name="text-61"/>
          <p:cNvSpPr txBox="1"/>
          <p:nvPr/>
        </p:nvSpPr>
        <p:spPr>
          <a:xfrm>
            <a:off x="6126480" y="1188720"/>
            <a:ext cx="2606040" cy="365760"/>
          </a:xfrm>
          <a:prstGeom prst="rect">
            <a:avLst/>
          </a:prstGeom>
          <a:noFill/>
          <a:ln/>
        </p:spPr>
        <p:txBody>
          <a:bodyPr wrap="square" lIns="0" tIns="0" rIns="0" bIns="0" rtlCol="0" anchor="t"/>
          <a:lstStyle/>
          <a:p>
            <a:pPr indent="0" marL="0">
              <a:buNone/>
            </a:pPr>
            <a:r>
              <a:rPr lang="en-US" sz="1600" b="1" dirty="0">
                <a:solidFill>
                  <a:schemeClr val="tx2"/>
                </a:solidFill>
              </a:rPr>
              <a:t>4th and 5th forms</a:t>
            </a:r>
            <a:endParaRPr lang="en-US" sz="1600" dirty="0"/>
          </a:p>
        </p:txBody>
      </p:sp>
      <p:sp>
        <p:nvSpPr>
          <p:cNvPr id="8" name="text-62"/>
          <p:cNvSpPr txBox="1"/>
          <p:nvPr/>
        </p:nvSpPr>
        <p:spPr>
          <a:xfrm>
            <a:off x="6126480" y="1645920"/>
            <a:ext cx="2606040" cy="274320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Students define the key words themselves</a:t>
            </a:r>
            <a:endParaRPr lang="en-US" sz="1400" dirty="0"/>
          </a:p>
          <a:p>
            <a:pPr marL="203200" indent="-203200">
              <a:spcAft>
                <a:spcPts val="600"/>
              </a:spcAft>
              <a:buSzPct val="100000"/>
              <a:buChar char="•"/>
            </a:pPr>
            <a:r>
              <a:rPr lang="en-US" sz="1400" dirty="0">
                <a:solidFill>
                  <a:schemeClr val="tx1"/>
                </a:solidFill>
              </a:rPr>
              <a:t>Turn Round 2 into a real debate</a:t>
            </a:r>
            <a:endParaRPr lang="en-US" sz="1400" dirty="0"/>
          </a:p>
          <a:p>
            <a:pPr marL="203200" indent="-203200">
              <a:spcAft>
                <a:spcPts val="600"/>
              </a:spcAft>
              <a:buSzPct val="100000"/>
              <a:buChar char="•"/>
            </a:pPr>
            <a:r>
              <a:rPr lang="en-US" sz="1400" dirty="0">
                <a:solidFill>
                  <a:schemeClr val="tx1"/>
                </a:solidFill>
              </a:rPr>
              <a:t>Link to Matura topics: education, society</a:t>
            </a:r>
            <a:endParaRPr lang="en-US" sz="1400" dirty="0"/>
          </a:p>
          <a:p>
            <a:pPr marL="203200" indent="-203200">
              <a:spcAft>
                <a:spcPts val="600"/>
              </a:spcAft>
              <a:buSzPct val="100000"/>
              <a:buChar char="•"/>
            </a:pPr>
            <a:r>
              <a:rPr lang="en-US" sz="1400" dirty="0">
                <a:solidFill>
                  <a:schemeClr val="tx1"/>
                </a:solidFill>
              </a:rPr>
              <a:t>Opinion essay as homework</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USA Lesson Plain">
  <a:themeElements>
    <a:clrScheme name="USA Lesson Plain">
      <a:dk1>
        <a:srgbClr val="1B1F2E"/>
      </a:dk1>
      <a:lt1>
        <a:srgbClr val="FFFFFF"/>
      </a:lt1>
      <a:dk2>
        <a:srgbClr val="1E2761"/>
      </a:dk2>
      <a:lt2>
        <a:srgbClr val="F2F3F8"/>
      </a:lt2>
      <a:accent1>
        <a:srgbClr val="B3122E"/>
      </a:accent1>
      <a:accent2>
        <a:srgbClr val="1E2761"/>
      </a:accent2>
      <a:accent3>
        <a:srgbClr val="4F6FA8"/>
      </a:accent3>
      <a:accent4>
        <a:srgbClr val="6B7189"/>
      </a:accent4>
      <a:accent5>
        <a:srgbClr val="8A90A6"/>
      </a:accent5>
      <a:accent6>
        <a:srgbClr val="2E7D5B"/>
      </a:accent6>
      <a:hlink>
        <a:srgbClr val="4F6FA8"/>
      </a:hlink>
      <a:folHlink>
        <a:srgbClr val="6B7189"/>
      </a:folHlink>
    </a:clrScheme>
    <a:fontScheme name="USA Lesson Plai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Diversity, Discrimination and School in the USA</dc:title>
  <dc:subject>PptxGenJS Presentation</dc:subject>
  <dc:creator>English lesson</dc:creator>
  <cp:lastModifiedBy>English lesson</cp:lastModifiedBy>
  <cp:revision>1</cp:revision>
  <dcterms:created xsi:type="dcterms:W3CDTF">2026-10-13T04:29:07Z</dcterms:created>
  <dcterms:modified xsi:type="dcterms:W3CDTF">2026-10-13T04:29:07Z</dcterms:modified>
</cp:coreProperties>
</file>